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76" r:id="rId14"/>
    <p:sldId id="275" r:id="rId15"/>
    <p:sldId id="277" r:id="rId16"/>
    <p:sldId id="269" r:id="rId17"/>
    <p:sldId id="270" r:id="rId18"/>
    <p:sldId id="271" r:id="rId19"/>
    <p:sldId id="272" r:id="rId20"/>
    <p:sldId id="274"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81" d="100"/>
          <a:sy n="81" d="100"/>
        </p:scale>
        <p:origin x="727" y="-14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A544DD1-68DF-4AAA-8B2C-0D3EFE879209}" type="datetimeFigureOut">
              <a:rPr lang="en-GB" smtClean="0"/>
              <a:t>31/08/2026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9127B62-CA4D-4E50-9B36-04D0244E98E3}" type="slidenum">
              <a:rPr lang="en-GB" smtClean="0"/>
              <a:t>‹#›</a:t>
            </a:fld>
            <a:endParaRPr lang="en-GB"/>
          </a:p>
        </p:txBody>
      </p:sp>
    </p:spTree>
    <p:extLst>
      <p:ext uri="{BB962C8B-B14F-4D97-AF65-F5344CB8AC3E}">
        <p14:creationId xmlns:p14="http://schemas.microsoft.com/office/powerpoint/2010/main" val="9159020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is our full-stack Library System: an Angular single-page application backed by a .NET Web API and SQL Server. On the right is the real application - a live catalog with search, sorting and availability filtering. Everything shown today is implemented and working, not mockups.</a:t>
            </a:r>
            <a:endParaRPr lang="en-GB" dirty="0"/>
          </a:p>
        </p:txBody>
      </p:sp>
      <p:sp>
        <p:nvSpPr>
          <p:cNvPr id="4" name="Slide Number Placeholder 3"/>
          <p:cNvSpPr>
            <a:spLocks noGrp="1"/>
          </p:cNvSpPr>
          <p:nvPr>
            <p:ph type="sldNum" sz="quarter" idx="5"/>
          </p:nvPr>
        </p:nvSpPr>
        <p:spPr/>
        <p:txBody>
          <a:bodyPr/>
          <a:lstStyle/>
          <a:p>
            <a:fld id="{A9127B62-CA4D-4E50-9B36-04D0244E98E3}" type="slidenum">
              <a:rPr lang="en-GB" smtClean="0"/>
              <a:t>1</a:t>
            </a:fld>
            <a:endParaRPr lang="en-GB"/>
          </a:p>
        </p:txBody>
      </p:sp>
    </p:spTree>
    <p:extLst>
      <p:ext uri="{BB962C8B-B14F-4D97-AF65-F5344CB8AC3E}">
        <p14:creationId xmlns:p14="http://schemas.microsoft.com/office/powerpoint/2010/main" val="5725624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Quick roadmap: we start with the problem and objectives, look at roles and features, then the technology stack and the architecture of all three tiers, followed by security, integration, real screens, the challenges we solved, and finally testing and future work.</a:t>
            </a:r>
            <a:endParaRPr lang="en-GB"/>
          </a:p>
        </p:txBody>
      </p:sp>
      <p:sp>
        <p:nvSpPr>
          <p:cNvPr id="4" name="Slide Number Placeholder 3"/>
          <p:cNvSpPr>
            <a:spLocks noGrp="1"/>
          </p:cNvSpPr>
          <p:nvPr>
            <p:ph type="sldNum" sz="quarter" idx="5"/>
          </p:nvPr>
        </p:nvSpPr>
        <p:spPr/>
        <p:txBody>
          <a:bodyPr/>
          <a:lstStyle/>
          <a:p>
            <a:fld id="{A9127B62-CA4D-4E50-9B36-04D0244E98E3}" type="slidenum">
              <a:rPr lang="en-GB" smtClean="0"/>
              <a:t>2</a:t>
            </a:fld>
            <a:endParaRPr lang="en-GB"/>
          </a:p>
        </p:txBody>
      </p:sp>
    </p:spTree>
    <p:extLst>
      <p:ext uri="{BB962C8B-B14F-4D97-AF65-F5344CB8AC3E}">
        <p14:creationId xmlns:p14="http://schemas.microsoft.com/office/powerpoint/2010/main" val="464119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problem: manual borrowing workflows are slow, easy to lose track of, and give librarians no live view. Our objectives map one-to-one to features: digitalize the lifecycle with an audit trail, enforce rules on both tiers, decouple processing through a message queue, and notify people in real time.</a:t>
            </a:r>
            <a:endParaRPr lang="en-GB"/>
          </a:p>
        </p:txBody>
      </p:sp>
      <p:sp>
        <p:nvSpPr>
          <p:cNvPr id="4" name="Slide Number Placeholder 3"/>
          <p:cNvSpPr>
            <a:spLocks noGrp="1"/>
          </p:cNvSpPr>
          <p:nvPr>
            <p:ph type="sldNum" sz="quarter" idx="5"/>
          </p:nvPr>
        </p:nvSpPr>
        <p:spPr/>
        <p:txBody>
          <a:bodyPr/>
          <a:lstStyle/>
          <a:p>
            <a:fld id="{A9127B62-CA4D-4E50-9B36-04D0244E98E3}" type="slidenum">
              <a:rPr lang="en-GB" smtClean="0"/>
              <a:t>3</a:t>
            </a:fld>
            <a:endParaRPr lang="en-GB"/>
          </a:p>
        </p:txBody>
      </p:sp>
    </p:spTree>
    <p:extLst>
      <p:ext uri="{BB962C8B-B14F-4D97-AF65-F5344CB8AC3E}">
        <p14:creationId xmlns:p14="http://schemas.microsoft.com/office/powerpoint/2010/main" val="18006794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Two roles only - deliberately simple. A User browses and borrows; an Admin reviews and decides. The key point: roles are not UI cosmetics. They are stored in the database, embedded in the JWT, enforced with Authorize attributes on the API, and mirrored by Angular route guards for UX.</a:t>
            </a:r>
            <a:endParaRPr lang="en-GB"/>
          </a:p>
        </p:txBody>
      </p:sp>
      <p:sp>
        <p:nvSpPr>
          <p:cNvPr id="4" name="Slide Number Placeholder 3"/>
          <p:cNvSpPr>
            <a:spLocks noGrp="1"/>
          </p:cNvSpPr>
          <p:nvPr>
            <p:ph type="sldNum" sz="quarter" idx="5"/>
          </p:nvPr>
        </p:nvSpPr>
        <p:spPr/>
        <p:txBody>
          <a:bodyPr/>
          <a:lstStyle/>
          <a:p>
            <a:fld id="{A9127B62-CA4D-4E50-9B36-04D0244E98E3}" type="slidenum">
              <a:rPr lang="en-GB" smtClean="0"/>
              <a:t>4</a:t>
            </a:fld>
            <a:endParaRPr lang="en-GB"/>
          </a:p>
        </p:txBody>
      </p:sp>
    </p:spTree>
    <p:extLst>
      <p:ext uri="{BB962C8B-B14F-4D97-AF65-F5344CB8AC3E}">
        <p14:creationId xmlns:p14="http://schemas.microsoft.com/office/powerpoint/2010/main" val="5567441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Every feature listed is implemented and verified. Highlight the engineering depth: password reset with single-use hashed tokens, borrow requests flowing through RabbitMQ, notifications merged from two sources (REST history plus real-time pushes), and password-confirmed account deletion that cleans up all user data transactionally.</a:t>
            </a:r>
            <a:endParaRPr lang="en-GB"/>
          </a:p>
        </p:txBody>
      </p:sp>
      <p:sp>
        <p:nvSpPr>
          <p:cNvPr id="4" name="Slide Number Placeholder 3"/>
          <p:cNvSpPr>
            <a:spLocks noGrp="1"/>
          </p:cNvSpPr>
          <p:nvPr>
            <p:ph type="sldNum" sz="quarter" idx="5"/>
          </p:nvPr>
        </p:nvSpPr>
        <p:spPr/>
        <p:txBody>
          <a:bodyPr/>
          <a:lstStyle/>
          <a:p>
            <a:fld id="{A9127B62-CA4D-4E50-9B36-04D0244E98E3}" type="slidenum">
              <a:rPr lang="en-GB" smtClean="0"/>
              <a:t>5</a:t>
            </a:fld>
            <a:endParaRPr lang="en-GB"/>
          </a:p>
        </p:txBody>
      </p:sp>
    </p:spTree>
    <p:extLst>
      <p:ext uri="{BB962C8B-B14F-4D97-AF65-F5344CB8AC3E}">
        <p14:creationId xmlns:p14="http://schemas.microsoft.com/office/powerpoint/2010/main" val="19242697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Stack choices: Angular 21 with standalone components and signals for state; .NET 10 with EF Core and JWT; SQL Server code-first; RabbitMQ for async; SignalR for real-time. The frontend never touches the database directly - everything goes through the REST API contract.</a:t>
            </a:r>
            <a:endParaRPr lang="en-GB"/>
          </a:p>
        </p:txBody>
      </p:sp>
      <p:sp>
        <p:nvSpPr>
          <p:cNvPr id="4" name="Slide Number Placeholder 3"/>
          <p:cNvSpPr>
            <a:spLocks noGrp="1"/>
          </p:cNvSpPr>
          <p:nvPr>
            <p:ph type="sldNum" sz="quarter" idx="5"/>
          </p:nvPr>
        </p:nvSpPr>
        <p:spPr/>
        <p:txBody>
          <a:bodyPr/>
          <a:lstStyle/>
          <a:p>
            <a:fld id="{A9127B62-CA4D-4E50-9B36-04D0244E98E3}" type="slidenum">
              <a:rPr lang="en-GB" smtClean="0"/>
              <a:t>6</a:t>
            </a:fld>
            <a:endParaRPr lang="en-GB"/>
          </a:p>
        </p:txBody>
      </p:sp>
    </p:spTree>
    <p:extLst>
      <p:ext uri="{BB962C8B-B14F-4D97-AF65-F5344CB8AC3E}">
        <p14:creationId xmlns:p14="http://schemas.microsoft.com/office/powerpoint/2010/main" val="21226843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big picture. Top row: browser, Angular SPA, .NET API, SQL Server. Below: two supporting systems. RabbitMQ decouples submission from processing - the API acknowledges immediately and a consumer persists the request. The expiration job and the SignalR hub handle reminders and real-time delivery.</a:t>
            </a:r>
            <a:endParaRPr lang="en-GB"/>
          </a:p>
        </p:txBody>
      </p:sp>
      <p:sp>
        <p:nvSpPr>
          <p:cNvPr id="4" name="Slide Number Placeholder 3"/>
          <p:cNvSpPr>
            <a:spLocks noGrp="1"/>
          </p:cNvSpPr>
          <p:nvPr>
            <p:ph type="sldNum" sz="quarter" idx="5"/>
          </p:nvPr>
        </p:nvSpPr>
        <p:spPr/>
        <p:txBody>
          <a:bodyPr/>
          <a:lstStyle/>
          <a:p>
            <a:fld id="{A9127B62-CA4D-4E50-9B36-04D0244E98E3}" type="slidenum">
              <a:rPr lang="en-GB" smtClean="0"/>
              <a:t>7</a:t>
            </a:fld>
            <a:endParaRPr lang="en-GB"/>
          </a:p>
        </p:txBody>
      </p:sp>
    </p:spTree>
    <p:extLst>
      <p:ext uri="{BB962C8B-B14F-4D97-AF65-F5344CB8AC3E}">
        <p14:creationId xmlns:p14="http://schemas.microsoft.com/office/powerpoint/2010/main" val="6091789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Frontend architecture: Core contains singletons (auth store, interceptors, SignalR client, layout). Shared contains stateless reusable pieces - the UI kit, pipes, validators. Features are lazy-loaded domains, each owning its data stores, API services and pages. State is signals-based; the retry interceptor only ever retries GETs, so a borrow or an approval can never be duplicated by a network blip.</a:t>
            </a:r>
            <a:endParaRPr lang="en-GB"/>
          </a:p>
        </p:txBody>
      </p:sp>
      <p:sp>
        <p:nvSpPr>
          <p:cNvPr id="4" name="Slide Number Placeholder 3"/>
          <p:cNvSpPr>
            <a:spLocks noGrp="1"/>
          </p:cNvSpPr>
          <p:nvPr>
            <p:ph type="sldNum" sz="quarter" idx="5"/>
          </p:nvPr>
        </p:nvSpPr>
        <p:spPr/>
        <p:txBody>
          <a:bodyPr/>
          <a:lstStyle/>
          <a:p>
            <a:fld id="{A9127B62-CA4D-4E50-9B36-04D0244E98E3}" type="slidenum">
              <a:rPr lang="en-GB" smtClean="0"/>
              <a:t>8</a:t>
            </a:fld>
            <a:endParaRPr lang="en-GB"/>
          </a:p>
        </p:txBody>
      </p:sp>
    </p:spTree>
    <p:extLst>
      <p:ext uri="{BB962C8B-B14F-4D97-AF65-F5344CB8AC3E}">
        <p14:creationId xmlns:p14="http://schemas.microsoft.com/office/powerpoint/2010/main" val="10208572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Backend: a strict N-tier. Controllers receive DTOs and return the Result pattern; business services contain the rules; the unit of work coordinates generic repositories; EF Core talks to SQL Server. Cross-cutting: exception middleware returns one uniform error envelope, and the messaging, notification and job services sit beside the layers without polluting them.</a:t>
            </a:r>
            <a:endParaRPr lang="en-GB"/>
          </a:p>
        </p:txBody>
      </p:sp>
      <p:sp>
        <p:nvSpPr>
          <p:cNvPr id="4" name="Slide Number Placeholder 3"/>
          <p:cNvSpPr>
            <a:spLocks noGrp="1"/>
          </p:cNvSpPr>
          <p:nvPr>
            <p:ph type="sldNum" sz="quarter" idx="5"/>
          </p:nvPr>
        </p:nvSpPr>
        <p:spPr/>
        <p:txBody>
          <a:bodyPr/>
          <a:lstStyle/>
          <a:p>
            <a:fld id="{A9127B62-CA4D-4E50-9B36-04D0244E98E3}" type="slidenum">
              <a:rPr lang="en-GB" smtClean="0"/>
              <a:t>9</a:t>
            </a:fld>
            <a:endParaRPr lang="en-GB"/>
          </a:p>
        </p:txBody>
      </p:sp>
    </p:spTree>
    <p:extLst>
      <p:ext uri="{BB962C8B-B14F-4D97-AF65-F5344CB8AC3E}">
        <p14:creationId xmlns:p14="http://schemas.microsoft.com/office/powerpoint/2010/main" val="24160540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Database: five entities. User and Book both have Restrict FKs to borrowing requests - history cannot be orphaned. Reset tokens cascade with their user. The status lifecycle is enforced by an enum, and the Expired transition is driven by the background job. Note the unique indexes on email and reset-token hash, and composite indexes for inbox queries.</a:t>
            </a:r>
            <a:endParaRPr lang="en-GB"/>
          </a:p>
        </p:txBody>
      </p:sp>
      <p:sp>
        <p:nvSpPr>
          <p:cNvPr id="4" name="Slide Number Placeholder 3"/>
          <p:cNvSpPr>
            <a:spLocks noGrp="1"/>
          </p:cNvSpPr>
          <p:nvPr>
            <p:ph type="sldNum" sz="quarter" idx="5"/>
          </p:nvPr>
        </p:nvSpPr>
        <p:spPr/>
        <p:txBody>
          <a:bodyPr/>
          <a:lstStyle/>
          <a:p>
            <a:fld id="{A9127B62-CA4D-4E50-9B36-04D0244E98E3}" type="slidenum">
              <a:rPr lang="en-GB" smtClean="0"/>
              <a:t>10</a:t>
            </a:fld>
            <a:endParaRPr lang="en-GB"/>
          </a:p>
        </p:txBody>
      </p:sp>
    </p:spTree>
    <p:extLst>
      <p:ext uri="{BB962C8B-B14F-4D97-AF65-F5344CB8AC3E}">
        <p14:creationId xmlns:p14="http://schemas.microsoft.com/office/powerpoint/2010/main" val="32571803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Security flow. Left: sign-in verifies the password against its PBKDF2 hash and issues a signed 120-minute JWT containing the role claim; unknown users and wrong passwords get the same message so attackers cannot enumerate accounts. Right: every request carries the Bearer token; the API validates it and checks role attributes. SignalR accepts the same token via the access_token handshake.</a:t>
            </a:r>
            <a:endParaRPr lang="en-GB"/>
          </a:p>
        </p:txBody>
      </p:sp>
      <p:sp>
        <p:nvSpPr>
          <p:cNvPr id="4" name="Slide Number Placeholder 3"/>
          <p:cNvSpPr>
            <a:spLocks noGrp="1"/>
          </p:cNvSpPr>
          <p:nvPr>
            <p:ph type="sldNum" sz="quarter" idx="5"/>
          </p:nvPr>
        </p:nvSpPr>
        <p:spPr/>
        <p:txBody>
          <a:bodyPr/>
          <a:lstStyle/>
          <a:p>
            <a:fld id="{A9127B62-CA4D-4E50-9B36-04D0244E98E3}" type="slidenum">
              <a:rPr lang="en-GB" smtClean="0"/>
              <a:t>11</a:t>
            </a:fld>
            <a:endParaRPr lang="en-GB"/>
          </a:p>
        </p:txBody>
      </p:sp>
    </p:spTree>
    <p:extLst>
      <p:ext uri="{BB962C8B-B14F-4D97-AF65-F5344CB8AC3E}">
        <p14:creationId xmlns:p14="http://schemas.microsoft.com/office/powerpoint/2010/main" val="29388844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Integration trace of one real request - the borrow. Down the left: form validation, API service, interceptors, proxy, controller, RabbitMQ publisher. Up the right: the consumer persists the request as Pending, admins get a live push, the decision endpoints update the row, and the user is notified. All endpoints shown are the real ones from the API contract.</a:t>
            </a:r>
            <a:endParaRPr lang="en-GB"/>
          </a:p>
        </p:txBody>
      </p:sp>
      <p:sp>
        <p:nvSpPr>
          <p:cNvPr id="4" name="Slide Number Placeholder 3"/>
          <p:cNvSpPr>
            <a:spLocks noGrp="1"/>
          </p:cNvSpPr>
          <p:nvPr>
            <p:ph type="sldNum" sz="quarter" idx="5"/>
          </p:nvPr>
        </p:nvSpPr>
        <p:spPr/>
        <p:txBody>
          <a:bodyPr/>
          <a:lstStyle/>
          <a:p>
            <a:fld id="{A9127B62-CA4D-4E50-9B36-04D0244E98E3}" type="slidenum">
              <a:rPr lang="en-GB" smtClean="0"/>
              <a:t>12</a:t>
            </a:fld>
            <a:endParaRPr lang="en-GB"/>
          </a:p>
        </p:txBody>
      </p:sp>
    </p:spTree>
    <p:extLst>
      <p:ext uri="{BB962C8B-B14F-4D97-AF65-F5344CB8AC3E}">
        <p14:creationId xmlns:p14="http://schemas.microsoft.com/office/powerpoint/2010/main" val="18253603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All traffic now flows through one secured entry point: the Angular app calls the ngrok domain, which tunnels to WSO2 API Manager, which fronts the .NET API. Walk through the base URL and token endpoint; mention OAuth2-secured resources, the CORS allow-list and the user-header swap policy. Stress that the backend is never called directly.</a:t>
            </a:r>
            <a:endParaRPr lang="en-GB"/>
          </a:p>
        </p:txBody>
      </p:sp>
      <p:sp>
        <p:nvSpPr>
          <p:cNvPr id="4" name="Slide Number Placeholder 3"/>
          <p:cNvSpPr>
            <a:spLocks noGrp="1"/>
          </p:cNvSpPr>
          <p:nvPr>
            <p:ph type="sldNum" sz="quarter" idx="5"/>
          </p:nvPr>
        </p:nvSpPr>
        <p:spPr/>
        <p:txBody>
          <a:bodyPr/>
          <a:lstStyle/>
          <a:p>
            <a:fld id="{A9127B62-CA4D-4E50-9B36-04D0244E98E3}" type="slidenum">
              <a:rPr lang="en-GB" smtClean="0"/>
              <a:t>13</a:t>
            </a:fld>
            <a:endParaRPr lang="en-GB"/>
          </a:p>
        </p:txBody>
      </p:sp>
    </p:spTree>
    <p:extLst>
      <p:ext uri="{BB962C8B-B14F-4D97-AF65-F5344CB8AC3E}">
        <p14:creationId xmlns:p14="http://schemas.microsoft.com/office/powerpoint/2010/main" val="18253603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Explain the dual-token scheme: WSO2 consumes the Authorization header for its own OAuth2 check, so the backend JWT travels in the user header; a WSO2 mediation policy rewrites it into Authorization on the way to the API. Mention in-memory token caching with pre-expiry refresh and the single environment config. Close with the verified end-to-end results: login, register and role checks all pass through the gateway.</a:t>
            </a:r>
            <a:endParaRPr lang="en-GB"/>
          </a:p>
        </p:txBody>
      </p:sp>
      <p:sp>
        <p:nvSpPr>
          <p:cNvPr id="4" name="Slide Number Placeholder 3"/>
          <p:cNvSpPr>
            <a:spLocks noGrp="1"/>
          </p:cNvSpPr>
          <p:nvPr>
            <p:ph type="sldNum" sz="quarter" idx="5"/>
          </p:nvPr>
        </p:nvSpPr>
        <p:spPr/>
        <p:txBody>
          <a:bodyPr/>
          <a:lstStyle/>
          <a:p>
            <a:fld id="{A9127B62-CA4D-4E50-9B36-04D0244E98E3}" type="slidenum">
              <a:rPr lang="en-GB" smtClean="0"/>
              <a:t>14</a:t>
            </a:fld>
            <a:endParaRPr lang="en-GB"/>
          </a:p>
        </p:txBody>
      </p:sp>
    </p:spTree>
    <p:extLst>
      <p:ext uri="{BB962C8B-B14F-4D97-AF65-F5344CB8AC3E}">
        <p14:creationId xmlns:p14="http://schemas.microsoft.com/office/powerpoint/2010/main" val="18253603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Created the REST resources in WSO2 API Manager from the backend contract - each pairing an HTTP method and URI (GET /api/books, POST /api/borrow, PUT approval/denial) - so all functionality is exposed through one managed gateway: authentication, books, borrowing requests, admin actions and notifications. Then the token policy: the integration token controls client access through WSO2, while the backend token secures communication toward the API. Policies apply these rules and standardize request/response handling without changing backend code.</a:t>
            </a:r>
            <a:endParaRPr lang="en-GB"/>
          </a:p>
        </p:txBody>
      </p:sp>
      <p:sp>
        <p:nvSpPr>
          <p:cNvPr id="4" name="Slide Number Placeholder 3"/>
          <p:cNvSpPr>
            <a:spLocks noGrp="1"/>
          </p:cNvSpPr>
          <p:nvPr>
            <p:ph type="sldNum" sz="quarter" idx="5"/>
          </p:nvPr>
        </p:nvSpPr>
        <p:spPr/>
        <p:txBody>
          <a:bodyPr/>
          <a:lstStyle/>
          <a:p>
            <a:fld id="{A9127B62-CA4D-4E50-9B36-04D0244E98E3}" type="slidenum">
              <a:rPr lang="en-GB" smtClean="0"/>
              <a:t>15</a:t>
            </a:fld>
            <a:endParaRPr lang="en-GB"/>
          </a:p>
        </p:txBody>
      </p:sp>
    </p:spTree>
    <p:extLst>
      <p:ext uri="{BB962C8B-B14F-4D97-AF65-F5344CB8AC3E}">
        <p14:creationId xmlns:p14="http://schemas.microsoft.com/office/powerpoint/2010/main" val="182536031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end-to-end user journey with the enforced rules summarized at the bottom: period validated 1-30 on both tiers, five statuses, two notification channels, and every decision audited with reviewer, timestamp and denial reason.</a:t>
            </a:r>
            <a:endParaRPr lang="en-GB"/>
          </a:p>
        </p:txBody>
      </p:sp>
      <p:sp>
        <p:nvSpPr>
          <p:cNvPr id="4" name="Slide Number Placeholder 3"/>
          <p:cNvSpPr>
            <a:spLocks noGrp="1"/>
          </p:cNvSpPr>
          <p:nvPr>
            <p:ph type="sldNum" sz="quarter" idx="5"/>
          </p:nvPr>
        </p:nvSpPr>
        <p:spPr/>
        <p:txBody>
          <a:bodyPr/>
          <a:lstStyle/>
          <a:p>
            <a:fld id="{A9127B62-CA4D-4E50-9B36-04D0244E98E3}" type="slidenum">
              <a:rPr lang="en-GB" smtClean="0"/>
              <a:t>16</a:t>
            </a:fld>
            <a:endParaRPr lang="en-GB"/>
          </a:p>
        </p:txBody>
      </p:sp>
    </p:spTree>
    <p:extLst>
      <p:ext uri="{BB962C8B-B14F-4D97-AF65-F5344CB8AC3E}">
        <p14:creationId xmlns:p14="http://schemas.microsoft.com/office/powerpoint/2010/main" val="144350272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User journey screens - real captures from the running app. The catalog supports deep-linkable filters (they survive refresh and sharing), the detail page exposes the borrow form with inline validation, and My Requests shows each status with a color-plus-icon badge and Cairo-local timestamps.</a:t>
            </a:r>
            <a:endParaRPr lang="en-GB"/>
          </a:p>
        </p:txBody>
      </p:sp>
      <p:sp>
        <p:nvSpPr>
          <p:cNvPr id="4" name="Slide Number Placeholder 3"/>
          <p:cNvSpPr>
            <a:spLocks noGrp="1"/>
          </p:cNvSpPr>
          <p:nvPr>
            <p:ph type="sldNum" sz="quarter" idx="5"/>
          </p:nvPr>
        </p:nvSpPr>
        <p:spPr/>
        <p:txBody>
          <a:bodyPr/>
          <a:lstStyle/>
          <a:p>
            <a:fld id="{A9127B62-CA4D-4E50-9B36-04D0244E98E3}" type="slidenum">
              <a:rPr lang="en-GB" smtClean="0"/>
              <a:t>17</a:t>
            </a:fld>
            <a:endParaRPr lang="en-GB"/>
          </a:p>
        </p:txBody>
      </p:sp>
    </p:spTree>
    <p:extLst>
      <p:ext uri="{BB962C8B-B14F-4D97-AF65-F5344CB8AC3E}">
        <p14:creationId xmlns:p14="http://schemas.microsoft.com/office/powerpoint/2010/main" val="18990586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Admin side: the review queue with status filtering, approve with an optional audit note, deny with a mandatory written reason that the user later sees. The notifications inbox merges live SignalR pushes with the REST history and keeps the unread badge in sync. Conflicts - for example two admins deciding simultaneously - surface a 409 and the list refreshes to authoritative state.</a:t>
            </a:r>
            <a:endParaRPr lang="en-GB"/>
          </a:p>
        </p:txBody>
      </p:sp>
      <p:sp>
        <p:nvSpPr>
          <p:cNvPr id="4" name="Slide Number Placeholder 3"/>
          <p:cNvSpPr>
            <a:spLocks noGrp="1"/>
          </p:cNvSpPr>
          <p:nvPr>
            <p:ph type="sldNum" sz="quarter" idx="5"/>
          </p:nvPr>
        </p:nvSpPr>
        <p:spPr/>
        <p:txBody>
          <a:bodyPr/>
          <a:lstStyle/>
          <a:p>
            <a:fld id="{A9127B62-CA4D-4E50-9B36-04D0244E98E3}" type="slidenum">
              <a:rPr lang="en-GB" smtClean="0"/>
              <a:t>18</a:t>
            </a:fld>
            <a:endParaRPr lang="en-GB"/>
          </a:p>
        </p:txBody>
      </p:sp>
    </p:spTree>
    <p:extLst>
      <p:ext uri="{BB962C8B-B14F-4D97-AF65-F5344CB8AC3E}">
        <p14:creationId xmlns:p14="http://schemas.microsoft.com/office/powerpoint/2010/main" val="184308357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Security and validation form defense in depth. Server-side: PBKDF2 hashing, signed JWTs, role attributes, DTO validation gates and business rules. Client-side: the same rules mirrored in reactive forms for fast feedback, and a normalized error model so users only ever see friendly messages. The uniform error envelope keeps the contract consistent.</a:t>
            </a:r>
            <a:endParaRPr lang="en-GB"/>
          </a:p>
        </p:txBody>
      </p:sp>
      <p:sp>
        <p:nvSpPr>
          <p:cNvPr id="4" name="Slide Number Placeholder 3"/>
          <p:cNvSpPr>
            <a:spLocks noGrp="1"/>
          </p:cNvSpPr>
          <p:nvPr>
            <p:ph type="sldNum" sz="quarter" idx="5"/>
          </p:nvPr>
        </p:nvSpPr>
        <p:spPr/>
        <p:txBody>
          <a:bodyPr/>
          <a:lstStyle/>
          <a:p>
            <a:fld id="{A9127B62-CA4D-4E50-9B36-04D0244E98E3}" type="slidenum">
              <a:rPr lang="en-GB" smtClean="0"/>
              <a:t>19</a:t>
            </a:fld>
            <a:endParaRPr lang="en-GB"/>
          </a:p>
        </p:txBody>
      </p:sp>
    </p:spTree>
    <p:extLst>
      <p:ext uri="{BB962C8B-B14F-4D97-AF65-F5344CB8AC3E}">
        <p14:creationId xmlns:p14="http://schemas.microsoft.com/office/powerpoint/2010/main" val="142300255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Testing: unit tests cover the borrowing create rules, the approve/deny decisions and notification behavior on the backend; the frontend has component tests; all major flows were verified end-to-end in automated browser sessions. Future work is scoping, not missing foundations. Close by inviting questions and offering a live demo.</a:t>
            </a:r>
            <a:endParaRPr lang="en-GB"/>
          </a:p>
        </p:txBody>
      </p:sp>
      <p:sp>
        <p:nvSpPr>
          <p:cNvPr id="4" name="Slide Number Placeholder 3"/>
          <p:cNvSpPr>
            <a:spLocks noGrp="1"/>
          </p:cNvSpPr>
          <p:nvPr>
            <p:ph type="sldNum" sz="quarter" idx="5"/>
          </p:nvPr>
        </p:nvSpPr>
        <p:spPr/>
        <p:txBody>
          <a:bodyPr/>
          <a:lstStyle/>
          <a:p>
            <a:fld id="{A9127B62-CA4D-4E50-9B36-04D0244E98E3}" type="slidenum">
              <a:rPr lang="en-GB" smtClean="0"/>
              <a:t>20</a:t>
            </a:fld>
            <a:endParaRPr lang="en-GB"/>
          </a:p>
        </p:txBody>
      </p:sp>
    </p:spTree>
    <p:extLst>
      <p:ext uri="{BB962C8B-B14F-4D97-AF65-F5344CB8AC3E}">
        <p14:creationId xmlns:p14="http://schemas.microsoft.com/office/powerpoint/2010/main" val="28532257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F85F88-D65D-4885-9E3B-2BDC24686DD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44ABE4D8-A32C-3247-B9AF-FFEEF512FBF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7EF0FB3B-259C-4E86-B693-25A802D83322}"/>
              </a:ext>
            </a:extLst>
          </p:cNvPr>
          <p:cNvSpPr>
            <a:spLocks noGrp="1"/>
          </p:cNvSpPr>
          <p:nvPr>
            <p:ph type="dt" sz="half" idx="10"/>
          </p:nvPr>
        </p:nvSpPr>
        <p:spPr/>
        <p:txBody>
          <a:bodyPr/>
          <a:lstStyle/>
          <a:p>
            <a:fld id="{B0183986-F5CD-4661-980E-49BA054161E1}" type="datetimeFigureOut">
              <a:rPr lang="en-GB" smtClean="0"/>
              <a:t>31/08/2026</a:t>
            </a:fld>
            <a:endParaRPr lang="en-GB"/>
          </a:p>
        </p:txBody>
      </p:sp>
      <p:sp>
        <p:nvSpPr>
          <p:cNvPr id="5" name="Footer Placeholder 4">
            <a:extLst>
              <a:ext uri="{FF2B5EF4-FFF2-40B4-BE49-F238E27FC236}">
                <a16:creationId xmlns:a16="http://schemas.microsoft.com/office/drawing/2014/main" id="{779810F1-ED6D-368C-2CF1-C61CF731E63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7A9EA28-463A-7F18-2070-495BC1A0AFA0}"/>
              </a:ext>
            </a:extLst>
          </p:cNvPr>
          <p:cNvSpPr>
            <a:spLocks noGrp="1"/>
          </p:cNvSpPr>
          <p:nvPr>
            <p:ph type="sldNum" sz="quarter" idx="12"/>
          </p:nvPr>
        </p:nvSpPr>
        <p:spPr/>
        <p:txBody>
          <a:bodyPr/>
          <a:lstStyle/>
          <a:p>
            <a:fld id="{9238348F-62EB-401A-AF59-C4D7FD8B691E}" type="slidenum">
              <a:rPr lang="en-GB" smtClean="0"/>
              <a:t>‹#›</a:t>
            </a:fld>
            <a:endParaRPr lang="en-GB"/>
          </a:p>
        </p:txBody>
      </p:sp>
    </p:spTree>
    <p:extLst>
      <p:ext uri="{BB962C8B-B14F-4D97-AF65-F5344CB8AC3E}">
        <p14:creationId xmlns:p14="http://schemas.microsoft.com/office/powerpoint/2010/main" val="33843970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45495-C55D-CD95-FD96-8A1031DA61CC}"/>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B0C6C2E-795A-F10E-FA74-43DC7D7BB9C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B5D24BDA-8BF6-91C5-F4F5-54D886CA4FF5}"/>
              </a:ext>
            </a:extLst>
          </p:cNvPr>
          <p:cNvSpPr>
            <a:spLocks noGrp="1"/>
          </p:cNvSpPr>
          <p:nvPr>
            <p:ph type="dt" sz="half" idx="10"/>
          </p:nvPr>
        </p:nvSpPr>
        <p:spPr/>
        <p:txBody>
          <a:bodyPr/>
          <a:lstStyle/>
          <a:p>
            <a:fld id="{B0183986-F5CD-4661-980E-49BA054161E1}" type="datetimeFigureOut">
              <a:rPr lang="en-GB" smtClean="0"/>
              <a:t>31/08/2026</a:t>
            </a:fld>
            <a:endParaRPr lang="en-GB"/>
          </a:p>
        </p:txBody>
      </p:sp>
      <p:sp>
        <p:nvSpPr>
          <p:cNvPr id="5" name="Footer Placeholder 4">
            <a:extLst>
              <a:ext uri="{FF2B5EF4-FFF2-40B4-BE49-F238E27FC236}">
                <a16:creationId xmlns:a16="http://schemas.microsoft.com/office/drawing/2014/main" id="{C5835675-199D-8217-01C5-958FBD8726C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3D945BC-F476-E415-FA1B-0E55C46A2BC0}"/>
              </a:ext>
            </a:extLst>
          </p:cNvPr>
          <p:cNvSpPr>
            <a:spLocks noGrp="1"/>
          </p:cNvSpPr>
          <p:nvPr>
            <p:ph type="sldNum" sz="quarter" idx="12"/>
          </p:nvPr>
        </p:nvSpPr>
        <p:spPr/>
        <p:txBody>
          <a:bodyPr/>
          <a:lstStyle/>
          <a:p>
            <a:fld id="{9238348F-62EB-401A-AF59-C4D7FD8B691E}" type="slidenum">
              <a:rPr lang="en-GB" smtClean="0"/>
              <a:t>‹#›</a:t>
            </a:fld>
            <a:endParaRPr lang="en-GB"/>
          </a:p>
        </p:txBody>
      </p:sp>
    </p:spTree>
    <p:extLst>
      <p:ext uri="{BB962C8B-B14F-4D97-AF65-F5344CB8AC3E}">
        <p14:creationId xmlns:p14="http://schemas.microsoft.com/office/powerpoint/2010/main" val="204816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BCFF4F-EC51-DF74-30DE-775AD802153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0F8558FD-6C1D-C9DF-ED95-AB15444F55E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A20CE9A-B99A-1D2D-31A0-388958961995}"/>
              </a:ext>
            </a:extLst>
          </p:cNvPr>
          <p:cNvSpPr>
            <a:spLocks noGrp="1"/>
          </p:cNvSpPr>
          <p:nvPr>
            <p:ph type="dt" sz="half" idx="10"/>
          </p:nvPr>
        </p:nvSpPr>
        <p:spPr/>
        <p:txBody>
          <a:bodyPr/>
          <a:lstStyle/>
          <a:p>
            <a:fld id="{B0183986-F5CD-4661-980E-49BA054161E1}" type="datetimeFigureOut">
              <a:rPr lang="en-GB" smtClean="0"/>
              <a:t>31/08/2026</a:t>
            </a:fld>
            <a:endParaRPr lang="en-GB"/>
          </a:p>
        </p:txBody>
      </p:sp>
      <p:sp>
        <p:nvSpPr>
          <p:cNvPr id="5" name="Footer Placeholder 4">
            <a:extLst>
              <a:ext uri="{FF2B5EF4-FFF2-40B4-BE49-F238E27FC236}">
                <a16:creationId xmlns:a16="http://schemas.microsoft.com/office/drawing/2014/main" id="{C051FF5D-8E84-5FC9-21B1-3F71EFF6C5C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AB86445-750D-2769-14FE-9451E030DFA8}"/>
              </a:ext>
            </a:extLst>
          </p:cNvPr>
          <p:cNvSpPr>
            <a:spLocks noGrp="1"/>
          </p:cNvSpPr>
          <p:nvPr>
            <p:ph type="sldNum" sz="quarter" idx="12"/>
          </p:nvPr>
        </p:nvSpPr>
        <p:spPr/>
        <p:txBody>
          <a:bodyPr/>
          <a:lstStyle/>
          <a:p>
            <a:fld id="{9238348F-62EB-401A-AF59-C4D7FD8B691E}" type="slidenum">
              <a:rPr lang="en-GB" smtClean="0"/>
              <a:t>‹#›</a:t>
            </a:fld>
            <a:endParaRPr lang="en-GB"/>
          </a:p>
        </p:txBody>
      </p:sp>
    </p:spTree>
    <p:extLst>
      <p:ext uri="{BB962C8B-B14F-4D97-AF65-F5344CB8AC3E}">
        <p14:creationId xmlns:p14="http://schemas.microsoft.com/office/powerpoint/2010/main" val="21477780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9BE35-D1B8-EB42-5E25-319AF4FFD8B1}"/>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3CB6D679-887F-52D6-0E2D-3A66409D648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5BA31B82-0483-3CA4-E792-4147B268E16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31930C9D-75B6-BCF4-8A80-C34EE089D096}"/>
              </a:ext>
            </a:extLst>
          </p:cNvPr>
          <p:cNvSpPr>
            <a:spLocks noGrp="1"/>
          </p:cNvSpPr>
          <p:nvPr>
            <p:ph type="dt" sz="half" idx="10"/>
          </p:nvPr>
        </p:nvSpPr>
        <p:spPr/>
        <p:txBody>
          <a:bodyPr/>
          <a:lstStyle/>
          <a:p>
            <a:fld id="{B0183986-F5CD-4661-980E-49BA054161E1}" type="datetimeFigureOut">
              <a:rPr lang="en-GB" smtClean="0"/>
              <a:t>31/08/2026</a:t>
            </a:fld>
            <a:endParaRPr lang="en-GB"/>
          </a:p>
        </p:txBody>
      </p:sp>
      <p:sp>
        <p:nvSpPr>
          <p:cNvPr id="6" name="Footer Placeholder 5">
            <a:extLst>
              <a:ext uri="{FF2B5EF4-FFF2-40B4-BE49-F238E27FC236}">
                <a16:creationId xmlns:a16="http://schemas.microsoft.com/office/drawing/2014/main" id="{60752075-EFE6-357B-6689-F6216A636780}"/>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0367597-7D94-8885-9AE7-B5AE9D19F9BC}"/>
              </a:ext>
            </a:extLst>
          </p:cNvPr>
          <p:cNvSpPr>
            <a:spLocks noGrp="1"/>
          </p:cNvSpPr>
          <p:nvPr>
            <p:ph type="sldNum" sz="quarter" idx="12"/>
          </p:nvPr>
        </p:nvSpPr>
        <p:spPr/>
        <p:txBody>
          <a:bodyPr/>
          <a:lstStyle/>
          <a:p>
            <a:fld id="{9238348F-62EB-401A-AF59-C4D7FD8B691E}" type="slidenum">
              <a:rPr lang="en-GB" smtClean="0"/>
              <a:t>‹#›</a:t>
            </a:fld>
            <a:endParaRPr lang="en-GB"/>
          </a:p>
        </p:txBody>
      </p:sp>
    </p:spTree>
    <p:extLst>
      <p:ext uri="{BB962C8B-B14F-4D97-AF65-F5344CB8AC3E}">
        <p14:creationId xmlns:p14="http://schemas.microsoft.com/office/powerpoint/2010/main" val="39619398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B4F504-1D1D-43AB-FF1E-3D914E9A15DD}"/>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FF4A526E-8816-3806-2FB0-1BEA8168F1E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238DFA1-A5B3-499F-AE71-DA61B77F0B2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1CEC36AE-93DC-6167-8C16-8CAAC06F9BD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E85BE50-2B20-13B5-8845-F7DF56D9AE7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C919BF41-2B2C-ADA5-0CBB-6001AF7B56F1}"/>
              </a:ext>
            </a:extLst>
          </p:cNvPr>
          <p:cNvSpPr>
            <a:spLocks noGrp="1"/>
          </p:cNvSpPr>
          <p:nvPr>
            <p:ph type="dt" sz="half" idx="10"/>
          </p:nvPr>
        </p:nvSpPr>
        <p:spPr/>
        <p:txBody>
          <a:bodyPr/>
          <a:lstStyle/>
          <a:p>
            <a:fld id="{B0183986-F5CD-4661-980E-49BA054161E1}" type="datetimeFigureOut">
              <a:rPr lang="en-GB" smtClean="0"/>
              <a:t>31/08/2026</a:t>
            </a:fld>
            <a:endParaRPr lang="en-GB"/>
          </a:p>
        </p:txBody>
      </p:sp>
      <p:sp>
        <p:nvSpPr>
          <p:cNvPr id="8" name="Footer Placeholder 7">
            <a:extLst>
              <a:ext uri="{FF2B5EF4-FFF2-40B4-BE49-F238E27FC236}">
                <a16:creationId xmlns:a16="http://schemas.microsoft.com/office/drawing/2014/main" id="{C89870C5-2FF3-C76B-1824-65836FDE8A23}"/>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6390B552-1831-A98E-AB1B-4D005F0FF74C}"/>
              </a:ext>
            </a:extLst>
          </p:cNvPr>
          <p:cNvSpPr>
            <a:spLocks noGrp="1"/>
          </p:cNvSpPr>
          <p:nvPr>
            <p:ph type="sldNum" sz="quarter" idx="12"/>
          </p:nvPr>
        </p:nvSpPr>
        <p:spPr/>
        <p:txBody>
          <a:bodyPr/>
          <a:lstStyle/>
          <a:p>
            <a:fld id="{9238348F-62EB-401A-AF59-C4D7FD8B691E}" type="slidenum">
              <a:rPr lang="en-GB" smtClean="0"/>
              <a:t>‹#›</a:t>
            </a:fld>
            <a:endParaRPr lang="en-GB"/>
          </a:p>
        </p:txBody>
      </p:sp>
    </p:spTree>
    <p:extLst>
      <p:ext uri="{BB962C8B-B14F-4D97-AF65-F5344CB8AC3E}">
        <p14:creationId xmlns:p14="http://schemas.microsoft.com/office/powerpoint/2010/main" val="7430828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78F295-015B-BC3E-6FFF-3C710F64A2A5}"/>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FB74DC1E-76E5-D86C-8F58-F44F4D076658}"/>
              </a:ext>
            </a:extLst>
          </p:cNvPr>
          <p:cNvSpPr>
            <a:spLocks noGrp="1"/>
          </p:cNvSpPr>
          <p:nvPr>
            <p:ph type="dt" sz="half" idx="10"/>
          </p:nvPr>
        </p:nvSpPr>
        <p:spPr/>
        <p:txBody>
          <a:bodyPr/>
          <a:lstStyle/>
          <a:p>
            <a:fld id="{B0183986-F5CD-4661-980E-49BA054161E1}" type="datetimeFigureOut">
              <a:rPr lang="en-GB" smtClean="0"/>
              <a:t>31/08/2026</a:t>
            </a:fld>
            <a:endParaRPr lang="en-GB"/>
          </a:p>
        </p:txBody>
      </p:sp>
      <p:sp>
        <p:nvSpPr>
          <p:cNvPr id="4" name="Footer Placeholder 3">
            <a:extLst>
              <a:ext uri="{FF2B5EF4-FFF2-40B4-BE49-F238E27FC236}">
                <a16:creationId xmlns:a16="http://schemas.microsoft.com/office/drawing/2014/main" id="{2FA15FF2-1130-292B-0CA1-51C2E2ECD152}"/>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E6234D4C-C089-AF85-5086-0F2652FDE4F5}"/>
              </a:ext>
            </a:extLst>
          </p:cNvPr>
          <p:cNvSpPr>
            <a:spLocks noGrp="1"/>
          </p:cNvSpPr>
          <p:nvPr>
            <p:ph type="sldNum" sz="quarter" idx="12"/>
          </p:nvPr>
        </p:nvSpPr>
        <p:spPr/>
        <p:txBody>
          <a:bodyPr/>
          <a:lstStyle/>
          <a:p>
            <a:fld id="{9238348F-62EB-401A-AF59-C4D7FD8B691E}" type="slidenum">
              <a:rPr lang="en-GB" smtClean="0"/>
              <a:t>‹#›</a:t>
            </a:fld>
            <a:endParaRPr lang="en-GB"/>
          </a:p>
        </p:txBody>
      </p:sp>
    </p:spTree>
    <p:extLst>
      <p:ext uri="{BB962C8B-B14F-4D97-AF65-F5344CB8AC3E}">
        <p14:creationId xmlns:p14="http://schemas.microsoft.com/office/powerpoint/2010/main" val="3818476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7752905-605F-EFA3-B996-CA6AF80F945E}"/>
              </a:ext>
            </a:extLst>
          </p:cNvPr>
          <p:cNvSpPr>
            <a:spLocks noGrp="1"/>
          </p:cNvSpPr>
          <p:nvPr>
            <p:ph type="dt" sz="half" idx="10"/>
          </p:nvPr>
        </p:nvSpPr>
        <p:spPr/>
        <p:txBody>
          <a:bodyPr/>
          <a:lstStyle/>
          <a:p>
            <a:fld id="{B0183986-F5CD-4661-980E-49BA054161E1}" type="datetimeFigureOut">
              <a:rPr lang="en-GB" smtClean="0"/>
              <a:t>31/08/2026</a:t>
            </a:fld>
            <a:endParaRPr lang="en-GB"/>
          </a:p>
        </p:txBody>
      </p:sp>
      <p:sp>
        <p:nvSpPr>
          <p:cNvPr id="3" name="Footer Placeholder 2">
            <a:extLst>
              <a:ext uri="{FF2B5EF4-FFF2-40B4-BE49-F238E27FC236}">
                <a16:creationId xmlns:a16="http://schemas.microsoft.com/office/drawing/2014/main" id="{A6E7FB23-B8C2-F888-19B6-860CD1415118}"/>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C2532AF4-DAD6-5F65-BDE5-B46269220CC9}"/>
              </a:ext>
            </a:extLst>
          </p:cNvPr>
          <p:cNvSpPr>
            <a:spLocks noGrp="1"/>
          </p:cNvSpPr>
          <p:nvPr>
            <p:ph type="sldNum" sz="quarter" idx="12"/>
          </p:nvPr>
        </p:nvSpPr>
        <p:spPr/>
        <p:txBody>
          <a:bodyPr/>
          <a:lstStyle/>
          <a:p>
            <a:fld id="{9238348F-62EB-401A-AF59-C4D7FD8B691E}" type="slidenum">
              <a:rPr lang="en-GB" smtClean="0"/>
              <a:t>‹#›</a:t>
            </a:fld>
            <a:endParaRPr lang="en-GB"/>
          </a:p>
        </p:txBody>
      </p:sp>
    </p:spTree>
    <p:extLst>
      <p:ext uri="{BB962C8B-B14F-4D97-AF65-F5344CB8AC3E}">
        <p14:creationId xmlns:p14="http://schemas.microsoft.com/office/powerpoint/2010/main" val="7380155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6DD749-513D-9FEC-B1F6-445C3E134E6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39E4C46A-5721-C4E1-2CE9-F07E82546EC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2606A75A-74D8-E015-827D-DD116B2F73A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87BE430-0E74-5D91-64A2-8081BBFA1B7E}"/>
              </a:ext>
            </a:extLst>
          </p:cNvPr>
          <p:cNvSpPr>
            <a:spLocks noGrp="1"/>
          </p:cNvSpPr>
          <p:nvPr>
            <p:ph type="dt" sz="half" idx="10"/>
          </p:nvPr>
        </p:nvSpPr>
        <p:spPr/>
        <p:txBody>
          <a:bodyPr/>
          <a:lstStyle/>
          <a:p>
            <a:fld id="{B0183986-F5CD-4661-980E-49BA054161E1}" type="datetimeFigureOut">
              <a:rPr lang="en-GB" smtClean="0"/>
              <a:t>31/08/2026</a:t>
            </a:fld>
            <a:endParaRPr lang="en-GB"/>
          </a:p>
        </p:txBody>
      </p:sp>
      <p:sp>
        <p:nvSpPr>
          <p:cNvPr id="6" name="Footer Placeholder 5">
            <a:extLst>
              <a:ext uri="{FF2B5EF4-FFF2-40B4-BE49-F238E27FC236}">
                <a16:creationId xmlns:a16="http://schemas.microsoft.com/office/drawing/2014/main" id="{702635FE-3691-CEC1-9041-979565C11828}"/>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434287EE-5C6C-76AC-6651-0F7243F48B7D}"/>
              </a:ext>
            </a:extLst>
          </p:cNvPr>
          <p:cNvSpPr>
            <a:spLocks noGrp="1"/>
          </p:cNvSpPr>
          <p:nvPr>
            <p:ph type="sldNum" sz="quarter" idx="12"/>
          </p:nvPr>
        </p:nvSpPr>
        <p:spPr/>
        <p:txBody>
          <a:bodyPr/>
          <a:lstStyle/>
          <a:p>
            <a:fld id="{9238348F-62EB-401A-AF59-C4D7FD8B691E}" type="slidenum">
              <a:rPr lang="en-GB" smtClean="0"/>
              <a:t>‹#›</a:t>
            </a:fld>
            <a:endParaRPr lang="en-GB"/>
          </a:p>
        </p:txBody>
      </p:sp>
    </p:spTree>
    <p:extLst>
      <p:ext uri="{BB962C8B-B14F-4D97-AF65-F5344CB8AC3E}">
        <p14:creationId xmlns:p14="http://schemas.microsoft.com/office/powerpoint/2010/main" val="32423808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01CE0D-228E-2F92-39F0-EDC70DFA5F7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FE939370-BB02-E8C3-D156-C91320F969E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C2FEFD36-EC3F-5A7E-F2F5-65735D7D864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37B13A0-1ECA-FCCB-BFB2-AEE586283D88}"/>
              </a:ext>
            </a:extLst>
          </p:cNvPr>
          <p:cNvSpPr>
            <a:spLocks noGrp="1"/>
          </p:cNvSpPr>
          <p:nvPr>
            <p:ph type="dt" sz="half" idx="10"/>
          </p:nvPr>
        </p:nvSpPr>
        <p:spPr/>
        <p:txBody>
          <a:bodyPr/>
          <a:lstStyle/>
          <a:p>
            <a:fld id="{B0183986-F5CD-4661-980E-49BA054161E1}" type="datetimeFigureOut">
              <a:rPr lang="en-GB" smtClean="0"/>
              <a:t>31/08/2026</a:t>
            </a:fld>
            <a:endParaRPr lang="en-GB"/>
          </a:p>
        </p:txBody>
      </p:sp>
      <p:sp>
        <p:nvSpPr>
          <p:cNvPr id="6" name="Footer Placeholder 5">
            <a:extLst>
              <a:ext uri="{FF2B5EF4-FFF2-40B4-BE49-F238E27FC236}">
                <a16:creationId xmlns:a16="http://schemas.microsoft.com/office/drawing/2014/main" id="{FA8A4FC2-72B0-C3AD-2CCB-7D284C7EB63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38392856-DA3A-34C3-1B8A-87B0339F42A2}"/>
              </a:ext>
            </a:extLst>
          </p:cNvPr>
          <p:cNvSpPr>
            <a:spLocks noGrp="1"/>
          </p:cNvSpPr>
          <p:nvPr>
            <p:ph type="sldNum" sz="quarter" idx="12"/>
          </p:nvPr>
        </p:nvSpPr>
        <p:spPr/>
        <p:txBody>
          <a:bodyPr/>
          <a:lstStyle/>
          <a:p>
            <a:fld id="{9238348F-62EB-401A-AF59-C4D7FD8B691E}" type="slidenum">
              <a:rPr lang="en-GB" smtClean="0"/>
              <a:t>‹#›</a:t>
            </a:fld>
            <a:endParaRPr lang="en-GB"/>
          </a:p>
        </p:txBody>
      </p:sp>
    </p:spTree>
    <p:extLst>
      <p:ext uri="{BB962C8B-B14F-4D97-AF65-F5344CB8AC3E}">
        <p14:creationId xmlns:p14="http://schemas.microsoft.com/office/powerpoint/2010/main" val="10524149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F6669D-575F-4F25-8919-2D887F479565}"/>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DF6FB51E-0BC9-B652-FDAD-4E548C63FF4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BF213E6-872A-D154-DEAD-3D5631955598}"/>
              </a:ext>
            </a:extLst>
          </p:cNvPr>
          <p:cNvSpPr>
            <a:spLocks noGrp="1"/>
          </p:cNvSpPr>
          <p:nvPr>
            <p:ph type="dt" sz="half" idx="10"/>
          </p:nvPr>
        </p:nvSpPr>
        <p:spPr/>
        <p:txBody>
          <a:bodyPr/>
          <a:lstStyle/>
          <a:p>
            <a:fld id="{B0183986-F5CD-4661-980E-49BA054161E1}" type="datetimeFigureOut">
              <a:rPr lang="en-GB" smtClean="0"/>
              <a:t>31/08/2026</a:t>
            </a:fld>
            <a:endParaRPr lang="en-GB"/>
          </a:p>
        </p:txBody>
      </p:sp>
      <p:sp>
        <p:nvSpPr>
          <p:cNvPr id="5" name="Footer Placeholder 4">
            <a:extLst>
              <a:ext uri="{FF2B5EF4-FFF2-40B4-BE49-F238E27FC236}">
                <a16:creationId xmlns:a16="http://schemas.microsoft.com/office/drawing/2014/main" id="{8E502A7F-92E6-F647-5274-95BC23986E1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5DFD3F2-F2D7-B935-9ED2-DDBDCF11EF97}"/>
              </a:ext>
            </a:extLst>
          </p:cNvPr>
          <p:cNvSpPr>
            <a:spLocks noGrp="1"/>
          </p:cNvSpPr>
          <p:nvPr>
            <p:ph type="sldNum" sz="quarter" idx="12"/>
          </p:nvPr>
        </p:nvSpPr>
        <p:spPr/>
        <p:txBody>
          <a:bodyPr/>
          <a:lstStyle/>
          <a:p>
            <a:fld id="{9238348F-62EB-401A-AF59-C4D7FD8B691E}" type="slidenum">
              <a:rPr lang="en-GB" smtClean="0"/>
              <a:t>‹#›</a:t>
            </a:fld>
            <a:endParaRPr lang="en-GB"/>
          </a:p>
        </p:txBody>
      </p:sp>
    </p:spTree>
    <p:extLst>
      <p:ext uri="{BB962C8B-B14F-4D97-AF65-F5344CB8AC3E}">
        <p14:creationId xmlns:p14="http://schemas.microsoft.com/office/powerpoint/2010/main" val="3877157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F7ECDCF-6322-B42F-B28E-17AB9F64C8A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2FC6952C-FE68-B747-F614-ADADE70BEEE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576EF16-C36E-8CA3-FAF2-3867454EE092}"/>
              </a:ext>
            </a:extLst>
          </p:cNvPr>
          <p:cNvSpPr>
            <a:spLocks noGrp="1"/>
          </p:cNvSpPr>
          <p:nvPr>
            <p:ph type="dt" sz="half" idx="10"/>
          </p:nvPr>
        </p:nvSpPr>
        <p:spPr/>
        <p:txBody>
          <a:bodyPr/>
          <a:lstStyle/>
          <a:p>
            <a:fld id="{B0183986-F5CD-4661-980E-49BA054161E1}" type="datetimeFigureOut">
              <a:rPr lang="en-GB" smtClean="0"/>
              <a:t>31/08/2026</a:t>
            </a:fld>
            <a:endParaRPr lang="en-GB"/>
          </a:p>
        </p:txBody>
      </p:sp>
      <p:sp>
        <p:nvSpPr>
          <p:cNvPr id="5" name="Footer Placeholder 4">
            <a:extLst>
              <a:ext uri="{FF2B5EF4-FFF2-40B4-BE49-F238E27FC236}">
                <a16:creationId xmlns:a16="http://schemas.microsoft.com/office/drawing/2014/main" id="{FEDF5837-EB6E-DF99-2828-85CB2544A56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0585BC7-F9AB-2905-347D-F301BEC8357E}"/>
              </a:ext>
            </a:extLst>
          </p:cNvPr>
          <p:cNvSpPr>
            <a:spLocks noGrp="1"/>
          </p:cNvSpPr>
          <p:nvPr>
            <p:ph type="sldNum" sz="quarter" idx="12"/>
          </p:nvPr>
        </p:nvSpPr>
        <p:spPr/>
        <p:txBody>
          <a:bodyPr/>
          <a:lstStyle/>
          <a:p>
            <a:fld id="{9238348F-62EB-401A-AF59-C4D7FD8B691E}" type="slidenum">
              <a:rPr lang="en-GB" smtClean="0"/>
              <a:t>‹#›</a:t>
            </a:fld>
            <a:endParaRPr lang="en-GB"/>
          </a:p>
        </p:txBody>
      </p:sp>
    </p:spTree>
    <p:extLst>
      <p:ext uri="{BB962C8B-B14F-4D97-AF65-F5344CB8AC3E}">
        <p14:creationId xmlns:p14="http://schemas.microsoft.com/office/powerpoint/2010/main" val="31025609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84DF742-58B0-461A-9E4F-2A29F45295E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305BDE6E-52C7-1B10-325B-60A359B7075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7609987-1734-9951-F7A7-92049F6A891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0183986-F5CD-4661-980E-49BA054161E1}" type="datetimeFigureOut">
              <a:rPr lang="en-GB" smtClean="0"/>
              <a:t>31/08/2026</a:t>
            </a:fld>
            <a:endParaRPr lang="en-GB"/>
          </a:p>
        </p:txBody>
      </p:sp>
      <p:sp>
        <p:nvSpPr>
          <p:cNvPr id="5" name="Footer Placeholder 4">
            <a:extLst>
              <a:ext uri="{FF2B5EF4-FFF2-40B4-BE49-F238E27FC236}">
                <a16:creationId xmlns:a16="http://schemas.microsoft.com/office/drawing/2014/main" id="{BF73730A-3361-46D2-819C-62E81F282C6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6BEB6C63-030A-3E39-DA3D-259A8B5D7B7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238348F-62EB-401A-AF59-C4D7FD8B691E}" type="slidenum">
              <a:rPr lang="en-GB" smtClean="0"/>
              <a:t>‹#›</a:t>
            </a:fld>
            <a:endParaRPr lang="en-GB"/>
          </a:p>
        </p:txBody>
      </p:sp>
    </p:spTree>
    <p:extLst>
      <p:ext uri="{BB962C8B-B14F-4D97-AF65-F5344CB8AC3E}">
        <p14:creationId xmlns:p14="http://schemas.microsoft.com/office/powerpoint/2010/main" val="2807504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9CB9EED-2B3B-B25F-C26F-002EF1797E04}"/>
              </a:ext>
            </a:extLst>
          </p:cNvPr>
          <p:cNvSpPr/>
          <p:nvPr/>
        </p:nvSpPr>
        <p:spPr>
          <a:xfrm>
            <a:off x="0" y="0"/>
            <a:ext cx="4826000" cy="6858000"/>
          </a:xfrm>
          <a:prstGeom prst="rect">
            <a:avLst/>
          </a:prstGeom>
          <a:solidFill>
            <a:srgbClr val="4F46E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TextBox 3">
            <a:extLst>
              <a:ext uri="{FF2B5EF4-FFF2-40B4-BE49-F238E27FC236}">
                <a16:creationId xmlns:a16="http://schemas.microsoft.com/office/drawing/2014/main" id="{DA7DFCBA-571B-2BAE-1190-CDF674138BE0}"/>
              </a:ext>
            </a:extLst>
          </p:cNvPr>
          <p:cNvSpPr txBox="1"/>
          <p:nvPr/>
        </p:nvSpPr>
        <p:spPr>
          <a:xfrm>
            <a:off x="558800" y="1625600"/>
            <a:ext cx="3810000" cy="707886"/>
          </a:xfrm>
          <a:prstGeom prst="rect">
            <a:avLst/>
          </a:prstGeom>
          <a:noFill/>
        </p:spPr>
        <p:txBody>
          <a:bodyPr vert="horz" rtlCol="0">
            <a:spAutoFit/>
          </a:bodyPr>
          <a:lstStyle/>
          <a:p>
            <a:r>
              <a:rPr lang="en-GB" sz="4000" b="1">
                <a:solidFill>
                  <a:srgbClr val="FFFFFF"/>
                </a:solidFill>
                <a:latin typeface="Segoe UI" panose="020B0502040204020203" pitchFamily="34" charset="0"/>
              </a:rPr>
              <a:t>Library System</a:t>
            </a:r>
          </a:p>
        </p:txBody>
      </p:sp>
      <p:sp>
        <p:nvSpPr>
          <p:cNvPr id="5" name="TextBox 4">
            <a:extLst>
              <a:ext uri="{FF2B5EF4-FFF2-40B4-BE49-F238E27FC236}">
                <a16:creationId xmlns:a16="http://schemas.microsoft.com/office/drawing/2014/main" id="{38F3B488-0CF0-250E-E5E6-EDE6C88A5E64}"/>
              </a:ext>
            </a:extLst>
          </p:cNvPr>
          <p:cNvSpPr txBox="1"/>
          <p:nvPr/>
        </p:nvSpPr>
        <p:spPr>
          <a:xfrm>
            <a:off x="558800" y="3200400"/>
            <a:ext cx="3810000" cy="338554"/>
          </a:xfrm>
          <a:prstGeom prst="rect">
            <a:avLst/>
          </a:prstGeom>
          <a:noFill/>
        </p:spPr>
        <p:txBody>
          <a:bodyPr vert="horz" rtlCol="0">
            <a:spAutoFit/>
          </a:bodyPr>
          <a:lstStyle/>
          <a:p>
            <a:r>
              <a:rPr lang="en-GB" sz="1600">
                <a:solidFill>
                  <a:srgbClr val="E0E7FF"/>
                </a:solidFill>
                <a:latin typeface="Segoe UI" panose="020B0502040204020203" pitchFamily="34" charset="0"/>
              </a:rPr>
              <a:t>Full-Stack Library Management Platform</a:t>
            </a:r>
          </a:p>
        </p:txBody>
      </p:sp>
      <p:sp>
        <p:nvSpPr>
          <p:cNvPr id="6" name="Rectangle 5">
            <a:extLst>
              <a:ext uri="{FF2B5EF4-FFF2-40B4-BE49-F238E27FC236}">
                <a16:creationId xmlns:a16="http://schemas.microsoft.com/office/drawing/2014/main" id="{E1B4CE2C-C571-405A-4148-293885161250}"/>
              </a:ext>
            </a:extLst>
          </p:cNvPr>
          <p:cNvSpPr/>
          <p:nvPr/>
        </p:nvSpPr>
        <p:spPr>
          <a:xfrm>
            <a:off x="558800" y="4089400"/>
            <a:ext cx="762000" cy="38100"/>
          </a:xfrm>
          <a:prstGeom prst="rect">
            <a:avLst/>
          </a:prstGeom>
          <a:solidFill>
            <a:srgbClr val="C7D2F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Box 6">
            <a:extLst>
              <a:ext uri="{FF2B5EF4-FFF2-40B4-BE49-F238E27FC236}">
                <a16:creationId xmlns:a16="http://schemas.microsoft.com/office/drawing/2014/main" id="{19614CC2-608A-12C7-5527-0E71ADC67410}"/>
              </a:ext>
            </a:extLst>
          </p:cNvPr>
          <p:cNvSpPr txBox="1"/>
          <p:nvPr/>
        </p:nvSpPr>
        <p:spPr>
          <a:xfrm>
            <a:off x="558800" y="4368800"/>
            <a:ext cx="4064000" cy="477054"/>
          </a:xfrm>
          <a:prstGeom prst="rect">
            <a:avLst/>
          </a:prstGeom>
          <a:noFill/>
        </p:spPr>
        <p:txBody>
          <a:bodyPr vert="horz" rtlCol="0">
            <a:spAutoFit/>
          </a:bodyPr>
          <a:lstStyle/>
          <a:p>
            <a:r>
              <a:rPr lang="en-GB" sz="1250">
                <a:solidFill>
                  <a:srgbClr val="C7D2FE"/>
                </a:solidFill>
                <a:latin typeface="Segoe UI" panose="020B0502040204020203" pitchFamily="34" charset="0"/>
              </a:rPr>
              <a:t>Angular 21  ·  .NET 10  ·  SQL Server
RabbitMQ  ·  SignalR  ·  JWT Security</a:t>
            </a:r>
          </a:p>
        </p:txBody>
      </p:sp>
      <p:pic>
        <p:nvPicPr>
          <p:cNvPr id="10" name="Picture 9">
            <a:extLst>
              <a:ext uri="{FF2B5EF4-FFF2-40B4-BE49-F238E27FC236}">
                <a16:creationId xmlns:a16="http://schemas.microsoft.com/office/drawing/2014/main" id="{EC906986-6871-A17F-234B-A5333B827D2F}"/>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435600" y="1117600"/>
            <a:ext cx="6248400" cy="3517900"/>
          </a:xfrm>
          <a:prstGeom prst="rect">
            <a:avLst/>
          </a:prstGeom>
        </p:spPr>
      </p:pic>
      <p:sp>
        <p:nvSpPr>
          <p:cNvPr id="11" name="TextBox 10">
            <a:extLst>
              <a:ext uri="{FF2B5EF4-FFF2-40B4-BE49-F238E27FC236}">
                <a16:creationId xmlns:a16="http://schemas.microsoft.com/office/drawing/2014/main" id="{EC370A6F-9AB2-DAA9-F603-EA9BAE1461C1}"/>
              </a:ext>
            </a:extLst>
          </p:cNvPr>
          <p:cNvSpPr txBox="1"/>
          <p:nvPr/>
        </p:nvSpPr>
        <p:spPr>
          <a:xfrm>
            <a:off x="5435600" y="4775200"/>
            <a:ext cx="6248400" cy="253916"/>
          </a:xfrm>
          <a:prstGeom prst="rect">
            <a:avLst/>
          </a:prstGeom>
          <a:noFill/>
        </p:spPr>
        <p:txBody>
          <a:bodyPr vert="horz" rtlCol="0">
            <a:spAutoFit/>
          </a:bodyPr>
          <a:lstStyle/>
          <a:p>
            <a:pPr algn="ctr"/>
            <a:r>
              <a:rPr lang="en-US" sz="1050">
                <a:solidFill>
                  <a:srgbClr val="64748B"/>
                </a:solidFill>
                <a:latin typeface="Segoe UI" panose="020B0502040204020203" pitchFamily="34" charset="0"/>
              </a:rPr>
              <a:t>The actual application - live catalog with search, filters and pagination</a:t>
            </a:r>
            <a:endParaRPr lang="en-GB" sz="1050">
              <a:solidFill>
                <a:srgbClr val="64748B"/>
              </a:solidFill>
              <a:latin typeface="Segoe UI" panose="020B0502040204020203" pitchFamily="34" charset="0"/>
            </a:endParaRPr>
          </a:p>
        </p:txBody>
      </p:sp>
      <p:sp>
        <p:nvSpPr>
          <p:cNvPr id="14" name="TextBox 13">
            <a:extLst>
              <a:ext uri="{FF2B5EF4-FFF2-40B4-BE49-F238E27FC236}">
                <a16:creationId xmlns:a16="http://schemas.microsoft.com/office/drawing/2014/main" id="{4C363D31-6607-EA91-89FA-627FC59D1643}"/>
              </a:ext>
            </a:extLst>
          </p:cNvPr>
          <p:cNvSpPr txBox="1"/>
          <p:nvPr/>
        </p:nvSpPr>
        <p:spPr>
          <a:xfrm>
            <a:off x="10312400" y="6527800"/>
            <a:ext cx="1270000" cy="230832"/>
          </a:xfrm>
          <a:prstGeom prst="rect">
            <a:avLst/>
          </a:prstGeom>
          <a:noFill/>
        </p:spPr>
        <p:txBody>
          <a:bodyPr vert="horz" rtlCol="0">
            <a:spAutoFit/>
          </a:bodyPr>
          <a:lstStyle/>
          <a:p>
            <a:pPr algn="r"/>
            <a:r>
              <a:rPr lang="en-GB" sz="900">
                <a:solidFill>
                  <a:srgbClr val="94A3B8"/>
                </a:solidFill>
                <a:latin typeface="Segoe UI" panose="020B0502040204020203" pitchFamily="34" charset="0"/>
              </a:rPr>
              <a:t>1 / 20</a:t>
            </a:r>
          </a:p>
        </p:txBody>
      </p:sp>
    </p:spTree>
    <p:extLst>
      <p:ext uri="{BB962C8B-B14F-4D97-AF65-F5344CB8AC3E}">
        <p14:creationId xmlns:p14="http://schemas.microsoft.com/office/powerpoint/2010/main" val="8422380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C57A69B-8725-BA96-7AA4-8CB0367FCE68}"/>
              </a:ext>
            </a:extLst>
          </p:cNvPr>
          <p:cNvSpPr/>
          <p:nvPr/>
        </p:nvSpPr>
        <p:spPr>
          <a:xfrm>
            <a:off x="609600" y="584200"/>
            <a:ext cx="88900" cy="635000"/>
          </a:xfrm>
          <a:prstGeom prst="rect">
            <a:avLst/>
          </a:prstGeom>
          <a:solidFill>
            <a:srgbClr val="4F46E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extBox 2">
            <a:extLst>
              <a:ext uri="{FF2B5EF4-FFF2-40B4-BE49-F238E27FC236}">
                <a16:creationId xmlns:a16="http://schemas.microsoft.com/office/drawing/2014/main" id="{1DE0DF69-AF34-1D48-E149-502319FBEEC3}"/>
              </a:ext>
            </a:extLst>
          </p:cNvPr>
          <p:cNvSpPr txBox="1"/>
          <p:nvPr/>
        </p:nvSpPr>
        <p:spPr>
          <a:xfrm>
            <a:off x="863600" y="558800"/>
            <a:ext cx="9652000" cy="261610"/>
          </a:xfrm>
          <a:prstGeom prst="rect">
            <a:avLst/>
          </a:prstGeom>
          <a:noFill/>
        </p:spPr>
        <p:txBody>
          <a:bodyPr vert="horz" rtlCol="0">
            <a:spAutoFit/>
          </a:bodyPr>
          <a:lstStyle/>
          <a:p>
            <a:r>
              <a:rPr lang="en-GB" sz="1100" b="1">
                <a:solidFill>
                  <a:srgbClr val="4F46E5"/>
                </a:solidFill>
                <a:latin typeface="Segoe UI" panose="020B0502040204020203" pitchFamily="34" charset="0"/>
              </a:rPr>
              <a:t>AGENDA</a:t>
            </a:r>
          </a:p>
        </p:txBody>
      </p:sp>
      <p:sp>
        <p:nvSpPr>
          <p:cNvPr id="4" name="TextBox 3">
            <a:extLst>
              <a:ext uri="{FF2B5EF4-FFF2-40B4-BE49-F238E27FC236}">
                <a16:creationId xmlns:a16="http://schemas.microsoft.com/office/drawing/2014/main" id="{E74135A2-3170-836E-323E-01D7EA165A20}"/>
              </a:ext>
            </a:extLst>
          </p:cNvPr>
          <p:cNvSpPr txBox="1"/>
          <p:nvPr/>
        </p:nvSpPr>
        <p:spPr>
          <a:xfrm>
            <a:off x="863600" y="800100"/>
            <a:ext cx="10414000" cy="507831"/>
          </a:xfrm>
          <a:prstGeom prst="rect">
            <a:avLst/>
          </a:prstGeom>
          <a:noFill/>
        </p:spPr>
        <p:txBody>
          <a:bodyPr vert="horz" rtlCol="0">
            <a:spAutoFit/>
          </a:bodyPr>
          <a:lstStyle/>
          <a:p>
            <a:r>
              <a:rPr lang="en-GB" sz="2700" b="1">
                <a:solidFill>
                  <a:srgbClr val="0F172A"/>
                </a:solidFill>
                <a:latin typeface="Segoe UI" panose="020B0502040204020203" pitchFamily="34" charset="0"/>
              </a:rPr>
              <a:t>What We Will Cover</a:t>
            </a:r>
          </a:p>
        </p:txBody>
      </p:sp>
      <p:sp>
        <p:nvSpPr>
          <p:cNvPr id="5" name="Rectangle 4">
            <a:extLst>
              <a:ext uri="{FF2B5EF4-FFF2-40B4-BE49-F238E27FC236}">
                <a16:creationId xmlns:a16="http://schemas.microsoft.com/office/drawing/2014/main" id="{500E63F7-7DAF-4198-331C-46EF81C0F216}"/>
              </a:ext>
            </a:extLst>
          </p:cNvPr>
          <p:cNvSpPr/>
          <p:nvPr/>
        </p:nvSpPr>
        <p:spPr>
          <a:xfrm>
            <a:off x="609600" y="1549400"/>
            <a:ext cx="10972800" cy="19050"/>
          </a:xfrm>
          <a:prstGeom prst="rect">
            <a:avLst/>
          </a:prstGeom>
          <a:solidFill>
            <a:srgbClr val="E2E8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9A9BA154-36F5-EB68-CF7F-9A74C509BB64}"/>
              </a:ext>
            </a:extLst>
          </p:cNvPr>
          <p:cNvSpPr/>
          <p:nvPr/>
        </p:nvSpPr>
        <p:spPr>
          <a:xfrm>
            <a:off x="609600" y="2032000"/>
            <a:ext cx="5334000" cy="1168400"/>
          </a:xfrm>
          <a:prstGeom prst="rect">
            <a:avLst/>
          </a:prstGeom>
          <a:solidFill>
            <a:srgbClr val="FFFFFF"/>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CC7B316A-C394-41DB-D1BA-59608C2174FF}"/>
              </a:ext>
            </a:extLst>
          </p:cNvPr>
          <p:cNvSpPr/>
          <p:nvPr/>
        </p:nvSpPr>
        <p:spPr>
          <a:xfrm>
            <a:off x="609600" y="2032000"/>
            <a:ext cx="76200" cy="1168400"/>
          </a:xfrm>
          <a:prstGeom prst="rect">
            <a:avLst/>
          </a:prstGeom>
          <a:solidFill>
            <a:srgbClr val="4F46E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Box 7">
            <a:extLst>
              <a:ext uri="{FF2B5EF4-FFF2-40B4-BE49-F238E27FC236}">
                <a16:creationId xmlns:a16="http://schemas.microsoft.com/office/drawing/2014/main" id="{6A75838A-8085-FF52-025D-FBF17044DD32}"/>
              </a:ext>
            </a:extLst>
          </p:cNvPr>
          <p:cNvSpPr txBox="1"/>
          <p:nvPr/>
        </p:nvSpPr>
        <p:spPr>
          <a:xfrm>
            <a:off x="914400" y="2209800"/>
            <a:ext cx="762000" cy="461665"/>
          </a:xfrm>
          <a:prstGeom prst="rect">
            <a:avLst/>
          </a:prstGeom>
          <a:noFill/>
        </p:spPr>
        <p:txBody>
          <a:bodyPr vert="horz" rtlCol="0">
            <a:spAutoFit/>
          </a:bodyPr>
          <a:lstStyle/>
          <a:p>
            <a:r>
              <a:rPr lang="en-GB" sz="2400" b="1">
                <a:solidFill>
                  <a:srgbClr val="C7D2FE"/>
                </a:solidFill>
                <a:latin typeface="Segoe UI" panose="020B0502040204020203" pitchFamily="34" charset="0"/>
              </a:rPr>
              <a:t>01</a:t>
            </a:r>
          </a:p>
        </p:txBody>
      </p:sp>
      <p:sp>
        <p:nvSpPr>
          <p:cNvPr id="9" name="TextBox 8">
            <a:extLst>
              <a:ext uri="{FF2B5EF4-FFF2-40B4-BE49-F238E27FC236}">
                <a16:creationId xmlns:a16="http://schemas.microsoft.com/office/drawing/2014/main" id="{EFF0158B-1CC5-9ADC-AF98-8582BDBAF2E3}"/>
              </a:ext>
            </a:extLst>
          </p:cNvPr>
          <p:cNvSpPr txBox="1"/>
          <p:nvPr/>
        </p:nvSpPr>
        <p:spPr>
          <a:xfrm>
            <a:off x="1778000" y="2235200"/>
            <a:ext cx="3937000" cy="323165"/>
          </a:xfrm>
          <a:prstGeom prst="rect">
            <a:avLst/>
          </a:prstGeom>
          <a:noFill/>
        </p:spPr>
        <p:txBody>
          <a:bodyPr vert="horz" rtlCol="0">
            <a:spAutoFit/>
          </a:bodyPr>
          <a:lstStyle/>
          <a:p>
            <a:r>
              <a:rPr lang="en-GB" sz="1500" b="1">
                <a:solidFill>
                  <a:srgbClr val="0F172A"/>
                </a:solidFill>
                <a:latin typeface="Segoe UI" panose="020B0502040204020203" pitchFamily="34" charset="0"/>
              </a:rPr>
              <a:t>Project Overview</a:t>
            </a:r>
          </a:p>
        </p:txBody>
      </p:sp>
      <p:sp>
        <p:nvSpPr>
          <p:cNvPr id="10" name="TextBox 9">
            <a:extLst>
              <a:ext uri="{FF2B5EF4-FFF2-40B4-BE49-F238E27FC236}">
                <a16:creationId xmlns:a16="http://schemas.microsoft.com/office/drawing/2014/main" id="{8CDFCDDF-8AC5-529A-7B21-2EAE51B9B21F}"/>
              </a:ext>
            </a:extLst>
          </p:cNvPr>
          <p:cNvSpPr txBox="1"/>
          <p:nvPr/>
        </p:nvSpPr>
        <p:spPr>
          <a:xfrm>
            <a:off x="1778000" y="2590800"/>
            <a:ext cx="3937000" cy="261610"/>
          </a:xfrm>
          <a:prstGeom prst="rect">
            <a:avLst/>
          </a:prstGeom>
          <a:noFill/>
        </p:spPr>
        <p:txBody>
          <a:bodyPr vert="horz" rtlCol="0">
            <a:spAutoFit/>
          </a:bodyPr>
          <a:lstStyle/>
          <a:p>
            <a:r>
              <a:rPr lang="en-GB" sz="1100">
                <a:solidFill>
                  <a:srgbClr val="64748B"/>
                </a:solidFill>
                <a:latin typeface="Segoe UI" panose="020B0502040204020203" pitchFamily="34" charset="0"/>
              </a:rPr>
              <a:t>Problem, objectives and user roles</a:t>
            </a:r>
          </a:p>
        </p:txBody>
      </p:sp>
      <p:sp>
        <p:nvSpPr>
          <p:cNvPr id="11" name="Rectangle 10">
            <a:extLst>
              <a:ext uri="{FF2B5EF4-FFF2-40B4-BE49-F238E27FC236}">
                <a16:creationId xmlns:a16="http://schemas.microsoft.com/office/drawing/2014/main" id="{1792B1BE-C9ED-129D-985B-62CAD0991305}"/>
              </a:ext>
            </a:extLst>
          </p:cNvPr>
          <p:cNvSpPr/>
          <p:nvPr/>
        </p:nvSpPr>
        <p:spPr>
          <a:xfrm>
            <a:off x="609600" y="3505200"/>
            <a:ext cx="5334000" cy="1168400"/>
          </a:xfrm>
          <a:prstGeom prst="rect">
            <a:avLst/>
          </a:prstGeom>
          <a:solidFill>
            <a:srgbClr val="FFFFFF"/>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Rectangle 11">
            <a:extLst>
              <a:ext uri="{FF2B5EF4-FFF2-40B4-BE49-F238E27FC236}">
                <a16:creationId xmlns:a16="http://schemas.microsoft.com/office/drawing/2014/main" id="{531913AB-81BB-DD33-3176-5558A2577215}"/>
              </a:ext>
            </a:extLst>
          </p:cNvPr>
          <p:cNvSpPr/>
          <p:nvPr/>
        </p:nvSpPr>
        <p:spPr>
          <a:xfrm>
            <a:off x="609600" y="3505200"/>
            <a:ext cx="76200" cy="1168400"/>
          </a:xfrm>
          <a:prstGeom prst="rect">
            <a:avLst/>
          </a:prstGeom>
          <a:solidFill>
            <a:srgbClr val="4F46E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Box 12">
            <a:extLst>
              <a:ext uri="{FF2B5EF4-FFF2-40B4-BE49-F238E27FC236}">
                <a16:creationId xmlns:a16="http://schemas.microsoft.com/office/drawing/2014/main" id="{2A8547D1-5361-B870-FF06-8F3B501FA62A}"/>
              </a:ext>
            </a:extLst>
          </p:cNvPr>
          <p:cNvSpPr txBox="1"/>
          <p:nvPr/>
        </p:nvSpPr>
        <p:spPr>
          <a:xfrm>
            <a:off x="914400" y="3683000"/>
            <a:ext cx="762000" cy="461665"/>
          </a:xfrm>
          <a:prstGeom prst="rect">
            <a:avLst/>
          </a:prstGeom>
          <a:noFill/>
        </p:spPr>
        <p:txBody>
          <a:bodyPr vert="horz" rtlCol="0">
            <a:spAutoFit/>
          </a:bodyPr>
          <a:lstStyle/>
          <a:p>
            <a:r>
              <a:rPr lang="en-GB" sz="2400" b="1">
                <a:solidFill>
                  <a:srgbClr val="C7D2FE"/>
                </a:solidFill>
                <a:latin typeface="Segoe UI" panose="020B0502040204020203" pitchFamily="34" charset="0"/>
              </a:rPr>
              <a:t>02</a:t>
            </a:r>
          </a:p>
        </p:txBody>
      </p:sp>
      <p:sp>
        <p:nvSpPr>
          <p:cNvPr id="14" name="TextBox 13">
            <a:extLst>
              <a:ext uri="{FF2B5EF4-FFF2-40B4-BE49-F238E27FC236}">
                <a16:creationId xmlns:a16="http://schemas.microsoft.com/office/drawing/2014/main" id="{C1F456E0-5184-D573-AB64-E23827C9B79E}"/>
              </a:ext>
            </a:extLst>
          </p:cNvPr>
          <p:cNvSpPr txBox="1"/>
          <p:nvPr/>
        </p:nvSpPr>
        <p:spPr>
          <a:xfrm>
            <a:off x="1778000" y="3708400"/>
            <a:ext cx="3937000" cy="323165"/>
          </a:xfrm>
          <a:prstGeom prst="rect">
            <a:avLst/>
          </a:prstGeom>
          <a:noFill/>
        </p:spPr>
        <p:txBody>
          <a:bodyPr vert="horz" rtlCol="0">
            <a:spAutoFit/>
          </a:bodyPr>
          <a:lstStyle/>
          <a:p>
            <a:r>
              <a:rPr lang="en-GB" sz="1500" b="1">
                <a:solidFill>
                  <a:srgbClr val="0F172A"/>
                </a:solidFill>
                <a:latin typeface="Segoe UI" panose="020B0502040204020203" pitchFamily="34" charset="0"/>
              </a:rPr>
              <a:t>Technology Stack</a:t>
            </a:r>
          </a:p>
        </p:txBody>
      </p:sp>
      <p:sp>
        <p:nvSpPr>
          <p:cNvPr id="15" name="TextBox 14">
            <a:extLst>
              <a:ext uri="{FF2B5EF4-FFF2-40B4-BE49-F238E27FC236}">
                <a16:creationId xmlns:a16="http://schemas.microsoft.com/office/drawing/2014/main" id="{D6F3D4F1-DF33-955E-89BA-755246A5DA01}"/>
              </a:ext>
            </a:extLst>
          </p:cNvPr>
          <p:cNvSpPr txBox="1"/>
          <p:nvPr/>
        </p:nvSpPr>
        <p:spPr>
          <a:xfrm>
            <a:off x="1778000" y="4064000"/>
            <a:ext cx="3937000" cy="261610"/>
          </a:xfrm>
          <a:prstGeom prst="rect">
            <a:avLst/>
          </a:prstGeom>
          <a:noFill/>
        </p:spPr>
        <p:txBody>
          <a:bodyPr vert="horz" rtlCol="0">
            <a:spAutoFit/>
          </a:bodyPr>
          <a:lstStyle/>
          <a:p>
            <a:r>
              <a:rPr lang="en-GB" sz="1100">
                <a:solidFill>
                  <a:srgbClr val="64748B"/>
                </a:solidFill>
                <a:latin typeface="Segoe UI" panose="020B0502040204020203" pitchFamily="34" charset="0"/>
              </a:rPr>
              <a:t>Angular 21, .NET 10, SQL Server, RabbitMQ</a:t>
            </a:r>
          </a:p>
        </p:txBody>
      </p:sp>
      <p:sp>
        <p:nvSpPr>
          <p:cNvPr id="16" name="Rectangle 15">
            <a:extLst>
              <a:ext uri="{FF2B5EF4-FFF2-40B4-BE49-F238E27FC236}">
                <a16:creationId xmlns:a16="http://schemas.microsoft.com/office/drawing/2014/main" id="{63B5FB26-5D64-D2D9-5108-953108D69638}"/>
              </a:ext>
            </a:extLst>
          </p:cNvPr>
          <p:cNvSpPr/>
          <p:nvPr/>
        </p:nvSpPr>
        <p:spPr>
          <a:xfrm>
            <a:off x="609600" y="4978400"/>
            <a:ext cx="5334000" cy="1168400"/>
          </a:xfrm>
          <a:prstGeom prst="rect">
            <a:avLst/>
          </a:prstGeom>
          <a:solidFill>
            <a:srgbClr val="FFFFFF"/>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a:extLst>
              <a:ext uri="{FF2B5EF4-FFF2-40B4-BE49-F238E27FC236}">
                <a16:creationId xmlns:a16="http://schemas.microsoft.com/office/drawing/2014/main" id="{D98E9D13-9C7E-1F9C-7B81-6D906534BBD0}"/>
              </a:ext>
            </a:extLst>
          </p:cNvPr>
          <p:cNvSpPr/>
          <p:nvPr/>
        </p:nvSpPr>
        <p:spPr>
          <a:xfrm>
            <a:off x="609600" y="4978400"/>
            <a:ext cx="76200" cy="1168400"/>
          </a:xfrm>
          <a:prstGeom prst="rect">
            <a:avLst/>
          </a:prstGeom>
          <a:solidFill>
            <a:srgbClr val="4F46E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extBox 17">
            <a:extLst>
              <a:ext uri="{FF2B5EF4-FFF2-40B4-BE49-F238E27FC236}">
                <a16:creationId xmlns:a16="http://schemas.microsoft.com/office/drawing/2014/main" id="{419202FD-6D48-A702-C2C3-805EB907E8C3}"/>
              </a:ext>
            </a:extLst>
          </p:cNvPr>
          <p:cNvSpPr txBox="1"/>
          <p:nvPr/>
        </p:nvSpPr>
        <p:spPr>
          <a:xfrm>
            <a:off x="914400" y="5156200"/>
            <a:ext cx="762000" cy="461665"/>
          </a:xfrm>
          <a:prstGeom prst="rect">
            <a:avLst/>
          </a:prstGeom>
          <a:noFill/>
        </p:spPr>
        <p:txBody>
          <a:bodyPr vert="horz" rtlCol="0">
            <a:spAutoFit/>
          </a:bodyPr>
          <a:lstStyle/>
          <a:p>
            <a:r>
              <a:rPr lang="en-GB" sz="2400" b="1">
                <a:solidFill>
                  <a:srgbClr val="C7D2FE"/>
                </a:solidFill>
                <a:latin typeface="Segoe UI" panose="020B0502040204020203" pitchFamily="34" charset="0"/>
              </a:rPr>
              <a:t>03</a:t>
            </a:r>
          </a:p>
        </p:txBody>
      </p:sp>
      <p:sp>
        <p:nvSpPr>
          <p:cNvPr id="19" name="TextBox 18">
            <a:extLst>
              <a:ext uri="{FF2B5EF4-FFF2-40B4-BE49-F238E27FC236}">
                <a16:creationId xmlns:a16="http://schemas.microsoft.com/office/drawing/2014/main" id="{7E73549E-3AE2-1916-B09F-1B356F3F3233}"/>
              </a:ext>
            </a:extLst>
          </p:cNvPr>
          <p:cNvSpPr txBox="1"/>
          <p:nvPr/>
        </p:nvSpPr>
        <p:spPr>
          <a:xfrm>
            <a:off x="1778000" y="5181600"/>
            <a:ext cx="3937000" cy="323165"/>
          </a:xfrm>
          <a:prstGeom prst="rect">
            <a:avLst/>
          </a:prstGeom>
          <a:noFill/>
        </p:spPr>
        <p:txBody>
          <a:bodyPr vert="horz" rtlCol="0">
            <a:spAutoFit/>
          </a:bodyPr>
          <a:lstStyle/>
          <a:p>
            <a:r>
              <a:rPr lang="en-GB" sz="1500" b="1">
                <a:solidFill>
                  <a:srgbClr val="0F172A"/>
                </a:solidFill>
                <a:latin typeface="Segoe UI" panose="020B0502040204020203" pitchFamily="34" charset="0"/>
              </a:rPr>
              <a:t>System Architecture</a:t>
            </a:r>
          </a:p>
        </p:txBody>
      </p:sp>
      <p:sp>
        <p:nvSpPr>
          <p:cNvPr id="20" name="TextBox 19">
            <a:extLst>
              <a:ext uri="{FF2B5EF4-FFF2-40B4-BE49-F238E27FC236}">
                <a16:creationId xmlns:a16="http://schemas.microsoft.com/office/drawing/2014/main" id="{8EBA3AD0-FBAB-9FBC-83A0-779F8E16CFD9}"/>
              </a:ext>
            </a:extLst>
          </p:cNvPr>
          <p:cNvSpPr txBox="1"/>
          <p:nvPr/>
        </p:nvSpPr>
        <p:spPr>
          <a:xfrm>
            <a:off x="1778000" y="5537200"/>
            <a:ext cx="3937000" cy="261610"/>
          </a:xfrm>
          <a:prstGeom prst="rect">
            <a:avLst/>
          </a:prstGeom>
          <a:noFill/>
        </p:spPr>
        <p:txBody>
          <a:bodyPr vert="horz" rtlCol="0">
            <a:spAutoFit/>
          </a:bodyPr>
          <a:lstStyle/>
          <a:p>
            <a:r>
              <a:rPr lang="en-US" sz="1100">
                <a:solidFill>
                  <a:srgbClr val="64748B"/>
                </a:solidFill>
                <a:latin typeface="Segoe UI" panose="020B0502040204020203" pitchFamily="34" charset="0"/>
              </a:rPr>
              <a:t>Frontend, backend and database design</a:t>
            </a:r>
            <a:endParaRPr lang="en-GB" sz="1100">
              <a:solidFill>
                <a:srgbClr val="64748B"/>
              </a:solidFill>
              <a:latin typeface="Segoe UI" panose="020B0502040204020203" pitchFamily="34" charset="0"/>
            </a:endParaRPr>
          </a:p>
        </p:txBody>
      </p:sp>
      <p:sp>
        <p:nvSpPr>
          <p:cNvPr id="21" name="Rectangle 20">
            <a:extLst>
              <a:ext uri="{FF2B5EF4-FFF2-40B4-BE49-F238E27FC236}">
                <a16:creationId xmlns:a16="http://schemas.microsoft.com/office/drawing/2014/main" id="{0A8D4EFB-839E-3921-B1F3-374EE3A0AADC}"/>
              </a:ext>
            </a:extLst>
          </p:cNvPr>
          <p:cNvSpPr/>
          <p:nvPr/>
        </p:nvSpPr>
        <p:spPr>
          <a:xfrm>
            <a:off x="6248400" y="2032000"/>
            <a:ext cx="5334000" cy="1168400"/>
          </a:xfrm>
          <a:prstGeom prst="rect">
            <a:avLst/>
          </a:prstGeom>
          <a:solidFill>
            <a:srgbClr val="FFFFFF"/>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Rectangle 21">
            <a:extLst>
              <a:ext uri="{FF2B5EF4-FFF2-40B4-BE49-F238E27FC236}">
                <a16:creationId xmlns:a16="http://schemas.microsoft.com/office/drawing/2014/main" id="{88106A86-E3B2-89B9-948A-8BED76A4B312}"/>
              </a:ext>
            </a:extLst>
          </p:cNvPr>
          <p:cNvSpPr/>
          <p:nvPr/>
        </p:nvSpPr>
        <p:spPr>
          <a:xfrm>
            <a:off x="6248400" y="2032000"/>
            <a:ext cx="76200" cy="1168400"/>
          </a:xfrm>
          <a:prstGeom prst="rect">
            <a:avLst/>
          </a:prstGeom>
          <a:solidFill>
            <a:srgbClr val="4F46E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TextBox 22">
            <a:extLst>
              <a:ext uri="{FF2B5EF4-FFF2-40B4-BE49-F238E27FC236}">
                <a16:creationId xmlns:a16="http://schemas.microsoft.com/office/drawing/2014/main" id="{1F75A3FF-74D2-CD40-3540-551942C1BA6C}"/>
              </a:ext>
            </a:extLst>
          </p:cNvPr>
          <p:cNvSpPr txBox="1"/>
          <p:nvPr/>
        </p:nvSpPr>
        <p:spPr>
          <a:xfrm>
            <a:off x="6553200" y="2209800"/>
            <a:ext cx="762000" cy="461665"/>
          </a:xfrm>
          <a:prstGeom prst="rect">
            <a:avLst/>
          </a:prstGeom>
          <a:noFill/>
        </p:spPr>
        <p:txBody>
          <a:bodyPr vert="horz" rtlCol="0">
            <a:spAutoFit/>
          </a:bodyPr>
          <a:lstStyle/>
          <a:p>
            <a:r>
              <a:rPr lang="en-GB" sz="2400" b="1">
                <a:solidFill>
                  <a:srgbClr val="C7D2FE"/>
                </a:solidFill>
                <a:latin typeface="Segoe UI" panose="020B0502040204020203" pitchFamily="34" charset="0"/>
              </a:rPr>
              <a:t>04</a:t>
            </a:r>
          </a:p>
        </p:txBody>
      </p:sp>
      <p:sp>
        <p:nvSpPr>
          <p:cNvPr id="24" name="TextBox 23">
            <a:extLst>
              <a:ext uri="{FF2B5EF4-FFF2-40B4-BE49-F238E27FC236}">
                <a16:creationId xmlns:a16="http://schemas.microsoft.com/office/drawing/2014/main" id="{8AF5C2C4-AC28-DFD5-949B-95A04CB5892E}"/>
              </a:ext>
            </a:extLst>
          </p:cNvPr>
          <p:cNvSpPr txBox="1"/>
          <p:nvPr/>
        </p:nvSpPr>
        <p:spPr>
          <a:xfrm>
            <a:off x="7416800" y="2235200"/>
            <a:ext cx="3937000" cy="323165"/>
          </a:xfrm>
          <a:prstGeom prst="rect">
            <a:avLst/>
          </a:prstGeom>
          <a:noFill/>
        </p:spPr>
        <p:txBody>
          <a:bodyPr vert="horz" rtlCol="0">
            <a:spAutoFit/>
          </a:bodyPr>
          <a:lstStyle/>
          <a:p>
            <a:r>
              <a:rPr lang="en-GB" sz="1500" b="1">
                <a:solidFill>
                  <a:srgbClr val="0F172A"/>
                </a:solidFill>
                <a:latin typeface="Segoe UI" panose="020B0502040204020203" pitchFamily="34" charset="0"/>
              </a:rPr>
              <a:t>Security</a:t>
            </a:r>
          </a:p>
        </p:txBody>
      </p:sp>
      <p:sp>
        <p:nvSpPr>
          <p:cNvPr id="25" name="TextBox 24">
            <a:extLst>
              <a:ext uri="{FF2B5EF4-FFF2-40B4-BE49-F238E27FC236}">
                <a16:creationId xmlns:a16="http://schemas.microsoft.com/office/drawing/2014/main" id="{C508F287-8572-BAE9-E8C6-A39D833A5F30}"/>
              </a:ext>
            </a:extLst>
          </p:cNvPr>
          <p:cNvSpPr txBox="1"/>
          <p:nvPr/>
        </p:nvSpPr>
        <p:spPr>
          <a:xfrm>
            <a:off x="7416800" y="2590800"/>
            <a:ext cx="3937000" cy="261610"/>
          </a:xfrm>
          <a:prstGeom prst="rect">
            <a:avLst/>
          </a:prstGeom>
          <a:noFill/>
        </p:spPr>
        <p:txBody>
          <a:bodyPr vert="horz" rtlCol="0">
            <a:spAutoFit/>
          </a:bodyPr>
          <a:lstStyle/>
          <a:p>
            <a:r>
              <a:rPr lang="en-US" sz="1100">
                <a:solidFill>
                  <a:srgbClr val="64748B"/>
                </a:solidFill>
                <a:latin typeface="Segoe UI" panose="020B0502040204020203" pitchFamily="34" charset="0"/>
              </a:rPr>
              <a:t>JWT authentication and role authorization</a:t>
            </a:r>
            <a:endParaRPr lang="en-GB" sz="1100">
              <a:solidFill>
                <a:srgbClr val="64748B"/>
              </a:solidFill>
              <a:latin typeface="Segoe UI" panose="020B0502040204020203" pitchFamily="34" charset="0"/>
            </a:endParaRPr>
          </a:p>
        </p:txBody>
      </p:sp>
      <p:sp>
        <p:nvSpPr>
          <p:cNvPr id="26" name="Rectangle 25">
            <a:extLst>
              <a:ext uri="{FF2B5EF4-FFF2-40B4-BE49-F238E27FC236}">
                <a16:creationId xmlns:a16="http://schemas.microsoft.com/office/drawing/2014/main" id="{79FD8D54-A21F-79FC-FC0C-00A7FB4B7AEE}"/>
              </a:ext>
            </a:extLst>
          </p:cNvPr>
          <p:cNvSpPr/>
          <p:nvPr/>
        </p:nvSpPr>
        <p:spPr>
          <a:xfrm>
            <a:off x="6248400" y="3505200"/>
            <a:ext cx="5334000" cy="1168400"/>
          </a:xfrm>
          <a:prstGeom prst="rect">
            <a:avLst/>
          </a:prstGeom>
          <a:solidFill>
            <a:srgbClr val="FFFFFF"/>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Rectangle 26">
            <a:extLst>
              <a:ext uri="{FF2B5EF4-FFF2-40B4-BE49-F238E27FC236}">
                <a16:creationId xmlns:a16="http://schemas.microsoft.com/office/drawing/2014/main" id="{CB145588-83AF-EA63-3E30-340904AE1C31}"/>
              </a:ext>
            </a:extLst>
          </p:cNvPr>
          <p:cNvSpPr/>
          <p:nvPr/>
        </p:nvSpPr>
        <p:spPr>
          <a:xfrm>
            <a:off x="6248400" y="3505200"/>
            <a:ext cx="76200" cy="1168400"/>
          </a:xfrm>
          <a:prstGeom prst="rect">
            <a:avLst/>
          </a:prstGeom>
          <a:solidFill>
            <a:srgbClr val="4F46E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TextBox 27">
            <a:extLst>
              <a:ext uri="{FF2B5EF4-FFF2-40B4-BE49-F238E27FC236}">
                <a16:creationId xmlns:a16="http://schemas.microsoft.com/office/drawing/2014/main" id="{5C6C8208-BEAA-C402-F79B-6A2A60B13131}"/>
              </a:ext>
            </a:extLst>
          </p:cNvPr>
          <p:cNvSpPr txBox="1"/>
          <p:nvPr/>
        </p:nvSpPr>
        <p:spPr>
          <a:xfrm>
            <a:off x="6553200" y="3683000"/>
            <a:ext cx="762000" cy="461665"/>
          </a:xfrm>
          <a:prstGeom prst="rect">
            <a:avLst/>
          </a:prstGeom>
          <a:noFill/>
        </p:spPr>
        <p:txBody>
          <a:bodyPr vert="horz" rtlCol="0">
            <a:spAutoFit/>
          </a:bodyPr>
          <a:lstStyle/>
          <a:p>
            <a:r>
              <a:rPr lang="en-GB" sz="2400" b="1">
                <a:solidFill>
                  <a:srgbClr val="C7D2FE"/>
                </a:solidFill>
                <a:latin typeface="Segoe UI" panose="020B0502040204020203" pitchFamily="34" charset="0"/>
              </a:rPr>
              <a:t>05</a:t>
            </a:r>
          </a:p>
        </p:txBody>
      </p:sp>
      <p:sp>
        <p:nvSpPr>
          <p:cNvPr id="29" name="TextBox 28">
            <a:extLst>
              <a:ext uri="{FF2B5EF4-FFF2-40B4-BE49-F238E27FC236}">
                <a16:creationId xmlns:a16="http://schemas.microsoft.com/office/drawing/2014/main" id="{BD96CA04-0F33-879D-2AEE-7D6911AA0068}"/>
              </a:ext>
            </a:extLst>
          </p:cNvPr>
          <p:cNvSpPr txBox="1"/>
          <p:nvPr/>
        </p:nvSpPr>
        <p:spPr>
          <a:xfrm>
            <a:off x="7416800" y="3708400"/>
            <a:ext cx="3937000" cy="323165"/>
          </a:xfrm>
          <a:prstGeom prst="rect">
            <a:avLst/>
          </a:prstGeom>
          <a:noFill/>
        </p:spPr>
        <p:txBody>
          <a:bodyPr vert="horz" rtlCol="0">
            <a:spAutoFit/>
          </a:bodyPr>
          <a:lstStyle/>
          <a:p>
            <a:r>
              <a:rPr lang="en-GB" sz="1500" b="1">
                <a:solidFill>
                  <a:srgbClr val="0F172A"/>
                </a:solidFill>
                <a:latin typeface="Segoe UI" panose="020B0502040204020203" pitchFamily="34" charset="0"/>
              </a:rPr>
              <a:t>Integration</a:t>
            </a:r>
          </a:p>
        </p:txBody>
      </p:sp>
      <p:sp>
        <p:nvSpPr>
          <p:cNvPr id="30" name="TextBox 29">
            <a:extLst>
              <a:ext uri="{FF2B5EF4-FFF2-40B4-BE49-F238E27FC236}">
                <a16:creationId xmlns:a16="http://schemas.microsoft.com/office/drawing/2014/main" id="{80D31D75-BB65-3F90-AE7E-5E9023E8DAA4}"/>
              </a:ext>
            </a:extLst>
          </p:cNvPr>
          <p:cNvSpPr txBox="1"/>
          <p:nvPr/>
        </p:nvSpPr>
        <p:spPr>
          <a:xfrm>
            <a:off x="7416800" y="4064000"/>
            <a:ext cx="3937000" cy="261610"/>
          </a:xfrm>
          <a:prstGeom prst="rect">
            <a:avLst/>
          </a:prstGeom>
          <a:noFill/>
        </p:spPr>
        <p:txBody>
          <a:bodyPr vert="horz" rtlCol="0">
            <a:spAutoFit/>
          </a:bodyPr>
          <a:lstStyle/>
          <a:p>
            <a:r>
              <a:rPr lang="en-US" sz="1100">
                <a:solidFill>
                  <a:srgbClr val="64748B"/>
                </a:solidFill>
                <a:latin typeface="Segoe UI" panose="020B0502040204020203" pitchFamily="34" charset="0"/>
              </a:rPr>
              <a:t>How the SPA talks to the API in real time</a:t>
            </a:r>
            <a:endParaRPr lang="en-GB" sz="1100">
              <a:solidFill>
                <a:srgbClr val="64748B"/>
              </a:solidFill>
              <a:latin typeface="Segoe UI" panose="020B0502040204020203" pitchFamily="34" charset="0"/>
            </a:endParaRPr>
          </a:p>
        </p:txBody>
      </p:sp>
      <p:sp>
        <p:nvSpPr>
          <p:cNvPr id="31" name="Rectangle 30">
            <a:extLst>
              <a:ext uri="{FF2B5EF4-FFF2-40B4-BE49-F238E27FC236}">
                <a16:creationId xmlns:a16="http://schemas.microsoft.com/office/drawing/2014/main" id="{E86E8AF1-6B63-FBD5-8B98-24B835541309}"/>
              </a:ext>
            </a:extLst>
          </p:cNvPr>
          <p:cNvSpPr/>
          <p:nvPr/>
        </p:nvSpPr>
        <p:spPr>
          <a:xfrm>
            <a:off x="6248400" y="4978400"/>
            <a:ext cx="5334000" cy="1168400"/>
          </a:xfrm>
          <a:prstGeom prst="rect">
            <a:avLst/>
          </a:prstGeom>
          <a:solidFill>
            <a:srgbClr val="FFFFFF"/>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Rectangle 31">
            <a:extLst>
              <a:ext uri="{FF2B5EF4-FFF2-40B4-BE49-F238E27FC236}">
                <a16:creationId xmlns:a16="http://schemas.microsoft.com/office/drawing/2014/main" id="{F6AFE396-4A4F-9999-2BFB-FAF492DCA664}"/>
              </a:ext>
            </a:extLst>
          </p:cNvPr>
          <p:cNvSpPr/>
          <p:nvPr/>
        </p:nvSpPr>
        <p:spPr>
          <a:xfrm>
            <a:off x="6248400" y="4978400"/>
            <a:ext cx="76200" cy="1168400"/>
          </a:xfrm>
          <a:prstGeom prst="rect">
            <a:avLst/>
          </a:prstGeom>
          <a:solidFill>
            <a:srgbClr val="4F46E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TextBox 32">
            <a:extLst>
              <a:ext uri="{FF2B5EF4-FFF2-40B4-BE49-F238E27FC236}">
                <a16:creationId xmlns:a16="http://schemas.microsoft.com/office/drawing/2014/main" id="{161D0AC9-A2BA-B0B8-07F5-0A61DF962015}"/>
              </a:ext>
            </a:extLst>
          </p:cNvPr>
          <p:cNvSpPr txBox="1"/>
          <p:nvPr/>
        </p:nvSpPr>
        <p:spPr>
          <a:xfrm>
            <a:off x="6553200" y="5156200"/>
            <a:ext cx="762000" cy="461665"/>
          </a:xfrm>
          <a:prstGeom prst="rect">
            <a:avLst/>
          </a:prstGeom>
          <a:noFill/>
        </p:spPr>
        <p:txBody>
          <a:bodyPr vert="horz" rtlCol="0">
            <a:spAutoFit/>
          </a:bodyPr>
          <a:lstStyle/>
          <a:p>
            <a:r>
              <a:rPr lang="en-GB" sz="2400" b="1">
                <a:solidFill>
                  <a:srgbClr val="C7D2FE"/>
                </a:solidFill>
                <a:latin typeface="Segoe UI" panose="020B0502040204020203" pitchFamily="34" charset="0"/>
              </a:rPr>
              <a:t>06</a:t>
            </a:r>
          </a:p>
        </p:txBody>
      </p:sp>
      <p:sp>
        <p:nvSpPr>
          <p:cNvPr id="34" name="TextBox 33">
            <a:extLst>
              <a:ext uri="{FF2B5EF4-FFF2-40B4-BE49-F238E27FC236}">
                <a16:creationId xmlns:a16="http://schemas.microsoft.com/office/drawing/2014/main" id="{1E9834BA-8387-D1AA-D3D6-CC7C0A0B5D7D}"/>
              </a:ext>
            </a:extLst>
          </p:cNvPr>
          <p:cNvSpPr txBox="1"/>
          <p:nvPr/>
        </p:nvSpPr>
        <p:spPr>
          <a:xfrm>
            <a:off x="7416800" y="5181600"/>
            <a:ext cx="3937000" cy="323165"/>
          </a:xfrm>
          <a:prstGeom prst="rect">
            <a:avLst/>
          </a:prstGeom>
          <a:noFill/>
        </p:spPr>
        <p:txBody>
          <a:bodyPr vert="horz" rtlCol="0">
            <a:spAutoFit/>
          </a:bodyPr>
          <a:lstStyle/>
          <a:p>
            <a:r>
              <a:rPr lang="en-GB" sz="1500" b="1">
                <a:solidFill>
                  <a:srgbClr val="0F172A"/>
                </a:solidFill>
                <a:latin typeface="Segoe UI" panose="020B0502040204020203" pitchFamily="34" charset="0"/>
              </a:rPr>
              <a:t>Screens &amp; Conclusions</a:t>
            </a:r>
          </a:p>
        </p:txBody>
      </p:sp>
      <p:sp>
        <p:nvSpPr>
          <p:cNvPr id="35" name="TextBox 34">
            <a:extLst>
              <a:ext uri="{FF2B5EF4-FFF2-40B4-BE49-F238E27FC236}">
                <a16:creationId xmlns:a16="http://schemas.microsoft.com/office/drawing/2014/main" id="{009FE8E9-AC1A-CB57-4547-76D6B56730A1}"/>
              </a:ext>
            </a:extLst>
          </p:cNvPr>
          <p:cNvSpPr txBox="1"/>
          <p:nvPr/>
        </p:nvSpPr>
        <p:spPr>
          <a:xfrm>
            <a:off x="7416800" y="5537200"/>
            <a:ext cx="3937000" cy="261610"/>
          </a:xfrm>
          <a:prstGeom prst="rect">
            <a:avLst/>
          </a:prstGeom>
          <a:noFill/>
        </p:spPr>
        <p:txBody>
          <a:bodyPr vert="horz" rtlCol="0">
            <a:spAutoFit/>
          </a:bodyPr>
          <a:lstStyle/>
          <a:p>
            <a:r>
              <a:rPr lang="en-US" sz="1100">
                <a:solidFill>
                  <a:srgbClr val="64748B"/>
                </a:solidFill>
                <a:latin typeface="Segoe UI" panose="020B0502040204020203" pitchFamily="34" charset="0"/>
              </a:rPr>
              <a:t>Live UI, challenges, testing, roadmap</a:t>
            </a:r>
            <a:endParaRPr lang="en-GB" sz="1100">
              <a:solidFill>
                <a:srgbClr val="64748B"/>
              </a:solidFill>
              <a:latin typeface="Segoe UI" panose="020B0502040204020203" pitchFamily="34" charset="0"/>
            </a:endParaRPr>
          </a:p>
        </p:txBody>
      </p:sp>
      <p:sp>
        <p:nvSpPr>
          <p:cNvPr id="37" name="TextBox 36">
            <a:extLst>
              <a:ext uri="{FF2B5EF4-FFF2-40B4-BE49-F238E27FC236}">
                <a16:creationId xmlns:a16="http://schemas.microsoft.com/office/drawing/2014/main" id="{D10901A5-7E04-08D1-5070-DC7482AA0162}"/>
              </a:ext>
            </a:extLst>
          </p:cNvPr>
          <p:cNvSpPr txBox="1"/>
          <p:nvPr/>
        </p:nvSpPr>
        <p:spPr>
          <a:xfrm>
            <a:off x="10312400" y="6527800"/>
            <a:ext cx="1270000" cy="230832"/>
          </a:xfrm>
          <a:prstGeom prst="rect">
            <a:avLst/>
          </a:prstGeom>
          <a:noFill/>
        </p:spPr>
        <p:txBody>
          <a:bodyPr vert="horz" rtlCol="0">
            <a:spAutoFit/>
          </a:bodyPr>
          <a:lstStyle/>
          <a:p>
            <a:pPr algn="r"/>
            <a:r>
              <a:rPr lang="en-GB" sz="900">
                <a:solidFill>
                  <a:srgbClr val="94A3B8"/>
                </a:solidFill>
                <a:latin typeface="Segoe UI" panose="020B0502040204020203" pitchFamily="34" charset="0"/>
              </a:rPr>
              <a:t>2 / 20</a:t>
            </a:r>
          </a:p>
        </p:txBody>
      </p:sp>
    </p:spTree>
    <p:extLst>
      <p:ext uri="{BB962C8B-B14F-4D97-AF65-F5344CB8AC3E}">
        <p14:creationId xmlns:p14="http://schemas.microsoft.com/office/powerpoint/2010/main" val="4644167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6D5479A-D7AA-8EC7-FF53-06A3234E7C74}"/>
              </a:ext>
            </a:extLst>
          </p:cNvPr>
          <p:cNvSpPr/>
          <p:nvPr/>
        </p:nvSpPr>
        <p:spPr>
          <a:xfrm>
            <a:off x="609600" y="584200"/>
            <a:ext cx="88900" cy="635000"/>
          </a:xfrm>
          <a:prstGeom prst="rect">
            <a:avLst/>
          </a:prstGeom>
          <a:solidFill>
            <a:srgbClr val="4F46E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extBox 2">
            <a:extLst>
              <a:ext uri="{FF2B5EF4-FFF2-40B4-BE49-F238E27FC236}">
                <a16:creationId xmlns:a16="http://schemas.microsoft.com/office/drawing/2014/main" id="{7813D92C-3BB1-207C-71E8-C1938E6C7185}"/>
              </a:ext>
            </a:extLst>
          </p:cNvPr>
          <p:cNvSpPr txBox="1"/>
          <p:nvPr/>
        </p:nvSpPr>
        <p:spPr>
          <a:xfrm>
            <a:off x="863600" y="558800"/>
            <a:ext cx="9652000" cy="261610"/>
          </a:xfrm>
          <a:prstGeom prst="rect">
            <a:avLst/>
          </a:prstGeom>
          <a:noFill/>
        </p:spPr>
        <p:txBody>
          <a:bodyPr vert="horz" rtlCol="0">
            <a:spAutoFit/>
          </a:bodyPr>
          <a:lstStyle/>
          <a:p>
            <a:r>
              <a:rPr lang="en-GB" sz="1100" b="1">
                <a:solidFill>
                  <a:srgbClr val="4F46E5"/>
                </a:solidFill>
                <a:latin typeface="Segoe UI" panose="020B0502040204020203" pitchFamily="34" charset="0"/>
              </a:rPr>
              <a:t>MOTIVATION</a:t>
            </a:r>
          </a:p>
        </p:txBody>
      </p:sp>
      <p:sp>
        <p:nvSpPr>
          <p:cNvPr id="4" name="TextBox 3">
            <a:extLst>
              <a:ext uri="{FF2B5EF4-FFF2-40B4-BE49-F238E27FC236}">
                <a16:creationId xmlns:a16="http://schemas.microsoft.com/office/drawing/2014/main" id="{E902DC39-C6B3-F71B-08CD-CC692086F4C1}"/>
              </a:ext>
            </a:extLst>
          </p:cNvPr>
          <p:cNvSpPr txBox="1"/>
          <p:nvPr/>
        </p:nvSpPr>
        <p:spPr>
          <a:xfrm>
            <a:off x="863600" y="800100"/>
            <a:ext cx="10414000" cy="507831"/>
          </a:xfrm>
          <a:prstGeom prst="rect">
            <a:avLst/>
          </a:prstGeom>
          <a:noFill/>
        </p:spPr>
        <p:txBody>
          <a:bodyPr vert="horz" rtlCol="0">
            <a:spAutoFit/>
          </a:bodyPr>
          <a:lstStyle/>
          <a:p>
            <a:r>
              <a:rPr lang="en-GB" sz="2700" b="1">
                <a:solidFill>
                  <a:srgbClr val="0F172A"/>
                </a:solidFill>
                <a:latin typeface="Segoe UI" panose="020B0502040204020203" pitchFamily="34" charset="0"/>
              </a:rPr>
              <a:t>Problem Statement &amp; Objectives</a:t>
            </a:r>
          </a:p>
        </p:txBody>
      </p:sp>
      <p:sp>
        <p:nvSpPr>
          <p:cNvPr id="5" name="Rectangle 4">
            <a:extLst>
              <a:ext uri="{FF2B5EF4-FFF2-40B4-BE49-F238E27FC236}">
                <a16:creationId xmlns:a16="http://schemas.microsoft.com/office/drawing/2014/main" id="{A681C860-8F6F-1E79-1B20-241BE1468C30}"/>
              </a:ext>
            </a:extLst>
          </p:cNvPr>
          <p:cNvSpPr/>
          <p:nvPr/>
        </p:nvSpPr>
        <p:spPr>
          <a:xfrm>
            <a:off x="609600" y="1549400"/>
            <a:ext cx="10972800" cy="19050"/>
          </a:xfrm>
          <a:prstGeom prst="rect">
            <a:avLst/>
          </a:prstGeom>
          <a:solidFill>
            <a:srgbClr val="E2E8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372D7FDF-62D3-3DFF-9E38-892EA90C5D0F}"/>
              </a:ext>
            </a:extLst>
          </p:cNvPr>
          <p:cNvSpPr/>
          <p:nvPr/>
        </p:nvSpPr>
        <p:spPr>
          <a:xfrm>
            <a:off x="609600" y="1905000"/>
            <a:ext cx="5384800" cy="4191000"/>
          </a:xfrm>
          <a:prstGeom prst="rect">
            <a:avLst/>
          </a:prstGeom>
          <a:solidFill>
            <a:srgbClr val="FFFFFF"/>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210A0AB5-DB06-AD6B-8048-A7A5CA45D9C3}"/>
              </a:ext>
            </a:extLst>
          </p:cNvPr>
          <p:cNvSpPr/>
          <p:nvPr/>
        </p:nvSpPr>
        <p:spPr>
          <a:xfrm>
            <a:off x="609600" y="1905000"/>
            <a:ext cx="5384800" cy="50800"/>
          </a:xfrm>
          <a:prstGeom prst="rect">
            <a:avLst/>
          </a:prstGeom>
          <a:solidFill>
            <a:srgbClr val="B91C1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Box 7">
            <a:extLst>
              <a:ext uri="{FF2B5EF4-FFF2-40B4-BE49-F238E27FC236}">
                <a16:creationId xmlns:a16="http://schemas.microsoft.com/office/drawing/2014/main" id="{5DDF2756-7975-C364-783B-24CFBA28F812}"/>
              </a:ext>
            </a:extLst>
          </p:cNvPr>
          <p:cNvSpPr txBox="1"/>
          <p:nvPr/>
        </p:nvSpPr>
        <p:spPr>
          <a:xfrm>
            <a:off x="812800" y="2057400"/>
            <a:ext cx="4978400" cy="307777"/>
          </a:xfrm>
          <a:prstGeom prst="rect">
            <a:avLst/>
          </a:prstGeom>
          <a:noFill/>
        </p:spPr>
        <p:txBody>
          <a:bodyPr vert="horz" rtlCol="0">
            <a:spAutoFit/>
          </a:bodyPr>
          <a:lstStyle/>
          <a:p>
            <a:r>
              <a:rPr lang="en-GB" sz="1400" b="1">
                <a:solidFill>
                  <a:srgbClr val="0F172A"/>
                </a:solidFill>
                <a:latin typeface="Segoe UI" panose="020B0502040204020203" pitchFamily="34" charset="0"/>
              </a:rPr>
              <a:t>The Problem</a:t>
            </a:r>
          </a:p>
        </p:txBody>
      </p:sp>
      <p:sp>
        <p:nvSpPr>
          <p:cNvPr id="9" name="TextBox 8">
            <a:extLst>
              <a:ext uri="{FF2B5EF4-FFF2-40B4-BE49-F238E27FC236}">
                <a16:creationId xmlns:a16="http://schemas.microsoft.com/office/drawing/2014/main" id="{22E7A68A-7BF1-8E7C-4BEE-47949D3E65C0}"/>
              </a:ext>
            </a:extLst>
          </p:cNvPr>
          <p:cNvSpPr txBox="1"/>
          <p:nvPr/>
        </p:nvSpPr>
        <p:spPr>
          <a:xfrm>
            <a:off x="812800" y="2438400"/>
            <a:ext cx="5003800" cy="1054135"/>
          </a:xfrm>
          <a:prstGeom prst="rect">
            <a:avLst/>
          </a:prstGeom>
          <a:noFill/>
        </p:spPr>
        <p:txBody>
          <a:bodyPr vert="horz" rtlCol="0">
            <a:spAutoFit/>
          </a:bodyPr>
          <a:lstStyle/>
          <a:p>
            <a:pPr indent="-285750">
              <a:buChar char="•"/>
            </a:pPr>
            <a:r>
              <a:rPr lang="en-US" sz="1250">
                <a:solidFill>
                  <a:srgbClr val="475569"/>
                </a:solidFill>
                <a:latin typeface="Segoe UI" panose="020B0502040204020203" pitchFamily="34" charset="0"/>
              </a:rPr>
              <a:t>Paper-based borrowing is slow and untraceable</a:t>
            </a:r>
          </a:p>
          <a:p>
            <a:pPr indent="-285750">
              <a:buChar char="•"/>
            </a:pPr>
            <a:r>
              <a:rPr lang="en-US" sz="1250">
                <a:solidFill>
                  <a:srgbClr val="475569"/>
                </a:solidFill>
                <a:latin typeface="Segoe UI" panose="020B0502040204020203" pitchFamily="34" charset="0"/>
              </a:rPr>
              <a:t>No shared source of truth for request status</a:t>
            </a:r>
          </a:p>
          <a:p>
            <a:pPr indent="-285750">
              <a:buChar char="•"/>
            </a:pPr>
            <a:r>
              <a:rPr lang="en-US" sz="1250">
                <a:solidFill>
                  <a:srgbClr val="475569"/>
                </a:solidFill>
                <a:latin typeface="Segoe UI" panose="020B0502040204020203" pitchFamily="34" charset="0"/>
              </a:rPr>
              <a:t>Librarians get no real-time awareness of new requests</a:t>
            </a:r>
          </a:p>
          <a:p>
            <a:pPr indent="-285750">
              <a:buChar char="•"/>
            </a:pPr>
            <a:r>
              <a:rPr lang="en-US" sz="1250">
                <a:solidFill>
                  <a:srgbClr val="475569"/>
                </a:solidFill>
                <a:latin typeface="Segoe UI" panose="020B0502040204020203" pitchFamily="34" charset="0"/>
              </a:rPr>
              <a:t>No automatic reminders before due dates</a:t>
            </a:r>
          </a:p>
          <a:p>
            <a:pPr indent="-285750">
              <a:buChar char="•"/>
            </a:pPr>
            <a:r>
              <a:rPr lang="en-US" sz="1250">
                <a:solidFill>
                  <a:srgbClr val="475569"/>
                </a:solidFill>
                <a:latin typeface="Segoe UI" panose="020B0502040204020203" pitchFamily="34" charset="0"/>
              </a:rPr>
              <a:t>Decisions lack an audit trail</a:t>
            </a:r>
            <a:endParaRPr lang="en-GB" sz="1250">
              <a:solidFill>
                <a:srgbClr val="475569"/>
              </a:solidFill>
              <a:latin typeface="Segoe UI" panose="020B0502040204020203" pitchFamily="34" charset="0"/>
            </a:endParaRPr>
          </a:p>
        </p:txBody>
      </p:sp>
      <p:sp>
        <p:nvSpPr>
          <p:cNvPr id="10" name="Rectangle 9">
            <a:extLst>
              <a:ext uri="{FF2B5EF4-FFF2-40B4-BE49-F238E27FC236}">
                <a16:creationId xmlns:a16="http://schemas.microsoft.com/office/drawing/2014/main" id="{2E356C61-5B0E-B6F1-01C0-A6110A5C43CF}"/>
              </a:ext>
            </a:extLst>
          </p:cNvPr>
          <p:cNvSpPr/>
          <p:nvPr/>
        </p:nvSpPr>
        <p:spPr>
          <a:xfrm>
            <a:off x="6248400" y="1905000"/>
            <a:ext cx="5334000" cy="4191000"/>
          </a:xfrm>
          <a:prstGeom prst="rect">
            <a:avLst/>
          </a:prstGeom>
          <a:solidFill>
            <a:srgbClr val="FFFFFF"/>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a:extLst>
              <a:ext uri="{FF2B5EF4-FFF2-40B4-BE49-F238E27FC236}">
                <a16:creationId xmlns:a16="http://schemas.microsoft.com/office/drawing/2014/main" id="{27BE7633-F705-F44E-69F9-7BB6819ABF43}"/>
              </a:ext>
            </a:extLst>
          </p:cNvPr>
          <p:cNvSpPr/>
          <p:nvPr/>
        </p:nvSpPr>
        <p:spPr>
          <a:xfrm>
            <a:off x="6248400" y="1905000"/>
            <a:ext cx="5334000" cy="50800"/>
          </a:xfrm>
          <a:prstGeom prst="rect">
            <a:avLst/>
          </a:prstGeom>
          <a:solidFill>
            <a:srgbClr val="15803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Box 11">
            <a:extLst>
              <a:ext uri="{FF2B5EF4-FFF2-40B4-BE49-F238E27FC236}">
                <a16:creationId xmlns:a16="http://schemas.microsoft.com/office/drawing/2014/main" id="{05AAC621-1857-8C9A-2723-DEFCCABCFC0F}"/>
              </a:ext>
            </a:extLst>
          </p:cNvPr>
          <p:cNvSpPr txBox="1"/>
          <p:nvPr/>
        </p:nvSpPr>
        <p:spPr>
          <a:xfrm>
            <a:off x="6451600" y="2057400"/>
            <a:ext cx="4927600" cy="307777"/>
          </a:xfrm>
          <a:prstGeom prst="rect">
            <a:avLst/>
          </a:prstGeom>
          <a:noFill/>
        </p:spPr>
        <p:txBody>
          <a:bodyPr vert="horz" rtlCol="0">
            <a:spAutoFit/>
          </a:bodyPr>
          <a:lstStyle/>
          <a:p>
            <a:r>
              <a:rPr lang="en-GB" sz="1400" b="1">
                <a:solidFill>
                  <a:srgbClr val="0F172A"/>
                </a:solidFill>
                <a:latin typeface="Segoe UI" panose="020B0502040204020203" pitchFamily="34" charset="0"/>
              </a:rPr>
              <a:t>Objectives</a:t>
            </a:r>
          </a:p>
        </p:txBody>
      </p:sp>
      <p:sp>
        <p:nvSpPr>
          <p:cNvPr id="13" name="TextBox 12">
            <a:extLst>
              <a:ext uri="{FF2B5EF4-FFF2-40B4-BE49-F238E27FC236}">
                <a16:creationId xmlns:a16="http://schemas.microsoft.com/office/drawing/2014/main" id="{B3566078-C822-487A-61E3-6939561857CF}"/>
              </a:ext>
            </a:extLst>
          </p:cNvPr>
          <p:cNvSpPr txBox="1"/>
          <p:nvPr/>
        </p:nvSpPr>
        <p:spPr>
          <a:xfrm>
            <a:off x="6451600" y="2438400"/>
            <a:ext cx="4953000" cy="1246495"/>
          </a:xfrm>
          <a:prstGeom prst="rect">
            <a:avLst/>
          </a:prstGeom>
          <a:noFill/>
        </p:spPr>
        <p:txBody>
          <a:bodyPr vert="horz" rtlCol="0">
            <a:spAutoFit/>
          </a:bodyPr>
          <a:lstStyle/>
          <a:p>
            <a:pPr indent="-285750">
              <a:buChar char="•"/>
            </a:pPr>
            <a:r>
              <a:rPr lang="en-US" sz="1250">
                <a:solidFill>
                  <a:srgbClr val="475569"/>
                </a:solidFill>
                <a:latin typeface="Segoe UI" panose="020B0502040204020203" pitchFamily="34" charset="0"/>
              </a:rPr>
              <a:t>Digitalize the borrow → review → return lifecycle</a:t>
            </a:r>
          </a:p>
          <a:p>
            <a:pPr indent="-285750">
              <a:buChar char="•"/>
            </a:pPr>
            <a:r>
              <a:rPr lang="en-US" sz="1250">
                <a:solidFill>
                  <a:srgbClr val="475569"/>
                </a:solidFill>
                <a:latin typeface="Segoe UI" panose="020B0502040204020203" pitchFamily="34" charset="0"/>
              </a:rPr>
              <a:t>Enforce rules on client and server (1-30 days, reason required)</a:t>
            </a:r>
          </a:p>
          <a:p>
            <a:pPr indent="-285750">
              <a:buChar char="•"/>
            </a:pPr>
            <a:r>
              <a:rPr lang="en-US" sz="1250">
                <a:solidFill>
                  <a:srgbClr val="475569"/>
                </a:solidFill>
                <a:latin typeface="Segoe UI" panose="020B0502040204020203" pitchFamily="34" charset="0"/>
              </a:rPr>
              <a:t>Decouple submission from processing with RabbitMQ</a:t>
            </a:r>
          </a:p>
          <a:p>
            <a:pPr indent="-285750">
              <a:buChar char="•"/>
            </a:pPr>
            <a:r>
              <a:rPr lang="en-US" sz="1250">
                <a:solidFill>
                  <a:srgbClr val="475569"/>
                </a:solidFill>
                <a:latin typeface="Segoe UI" panose="020B0502040204020203" pitchFamily="34" charset="0"/>
              </a:rPr>
              <a:t>Deliver real-time + persisted notifications (SignalR)</a:t>
            </a:r>
          </a:p>
          <a:p>
            <a:pPr indent="-285750">
              <a:buChar char="•"/>
            </a:pPr>
            <a:r>
              <a:rPr lang="en-US" sz="1250">
                <a:solidFill>
                  <a:srgbClr val="475569"/>
                </a:solidFill>
                <a:latin typeface="Segoe UI" panose="020B0502040204020203" pitchFamily="34" charset="0"/>
              </a:rPr>
              <a:t>Protect every endpoint with JWT and roles</a:t>
            </a:r>
          </a:p>
          <a:p>
            <a:pPr indent="-285750">
              <a:buChar char="•"/>
            </a:pPr>
            <a:r>
              <a:rPr lang="en-US" sz="1250">
                <a:solidFill>
                  <a:srgbClr val="475569"/>
                </a:solidFill>
                <a:latin typeface="Segoe UI" panose="020B0502040204020203" pitchFamily="34" charset="0"/>
              </a:rPr>
              <a:t>Full audit trail: requestedAt / reviewedAt / reviewedBy</a:t>
            </a:r>
            <a:endParaRPr lang="en-GB" sz="1250">
              <a:solidFill>
                <a:srgbClr val="475569"/>
              </a:solidFill>
              <a:latin typeface="Segoe UI" panose="020B0502040204020203" pitchFamily="34" charset="0"/>
            </a:endParaRPr>
          </a:p>
        </p:txBody>
      </p:sp>
      <p:sp>
        <p:nvSpPr>
          <p:cNvPr id="15" name="TextBox 14">
            <a:extLst>
              <a:ext uri="{FF2B5EF4-FFF2-40B4-BE49-F238E27FC236}">
                <a16:creationId xmlns:a16="http://schemas.microsoft.com/office/drawing/2014/main" id="{95DB0A14-F8F6-45D4-C1A1-291E18EF3E0D}"/>
              </a:ext>
            </a:extLst>
          </p:cNvPr>
          <p:cNvSpPr txBox="1"/>
          <p:nvPr/>
        </p:nvSpPr>
        <p:spPr>
          <a:xfrm>
            <a:off x="10312400" y="6527800"/>
            <a:ext cx="1270000" cy="230832"/>
          </a:xfrm>
          <a:prstGeom prst="rect">
            <a:avLst/>
          </a:prstGeom>
          <a:noFill/>
        </p:spPr>
        <p:txBody>
          <a:bodyPr vert="horz" rtlCol="0">
            <a:spAutoFit/>
          </a:bodyPr>
          <a:lstStyle/>
          <a:p>
            <a:pPr algn="r"/>
            <a:r>
              <a:rPr lang="en-GB" sz="900">
                <a:solidFill>
                  <a:srgbClr val="94A3B8"/>
                </a:solidFill>
                <a:latin typeface="Segoe UI" panose="020B0502040204020203" pitchFamily="34" charset="0"/>
              </a:rPr>
              <a:t>3 / 20</a:t>
            </a:r>
          </a:p>
        </p:txBody>
      </p:sp>
    </p:spTree>
    <p:extLst>
      <p:ext uri="{BB962C8B-B14F-4D97-AF65-F5344CB8AC3E}">
        <p14:creationId xmlns:p14="http://schemas.microsoft.com/office/powerpoint/2010/main" val="22270374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B2BF30A-3AE8-AE31-71B0-CBEBC4D98227}"/>
              </a:ext>
            </a:extLst>
          </p:cNvPr>
          <p:cNvSpPr/>
          <p:nvPr/>
        </p:nvSpPr>
        <p:spPr>
          <a:xfrm>
            <a:off x="609600" y="584200"/>
            <a:ext cx="88900" cy="635000"/>
          </a:xfrm>
          <a:prstGeom prst="rect">
            <a:avLst/>
          </a:prstGeom>
          <a:solidFill>
            <a:srgbClr val="4F46E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extBox 2">
            <a:extLst>
              <a:ext uri="{FF2B5EF4-FFF2-40B4-BE49-F238E27FC236}">
                <a16:creationId xmlns:a16="http://schemas.microsoft.com/office/drawing/2014/main" id="{797DC003-061A-45E8-4109-0912B401545E}"/>
              </a:ext>
            </a:extLst>
          </p:cNvPr>
          <p:cNvSpPr txBox="1"/>
          <p:nvPr/>
        </p:nvSpPr>
        <p:spPr>
          <a:xfrm>
            <a:off x="863600" y="558800"/>
            <a:ext cx="9652000" cy="261610"/>
          </a:xfrm>
          <a:prstGeom prst="rect">
            <a:avLst/>
          </a:prstGeom>
          <a:noFill/>
        </p:spPr>
        <p:txBody>
          <a:bodyPr vert="horz" rtlCol="0">
            <a:spAutoFit/>
          </a:bodyPr>
          <a:lstStyle/>
          <a:p>
            <a:r>
              <a:rPr lang="en-GB" sz="1100" b="1">
                <a:solidFill>
                  <a:srgbClr val="4F46E5"/>
                </a:solidFill>
                <a:latin typeface="Segoe UI" panose="020B0502040204020203" pitchFamily="34" charset="0"/>
              </a:rPr>
              <a:t>ACTORS</a:t>
            </a:r>
          </a:p>
        </p:txBody>
      </p:sp>
      <p:sp>
        <p:nvSpPr>
          <p:cNvPr id="4" name="TextBox 3">
            <a:extLst>
              <a:ext uri="{FF2B5EF4-FFF2-40B4-BE49-F238E27FC236}">
                <a16:creationId xmlns:a16="http://schemas.microsoft.com/office/drawing/2014/main" id="{EDD997DC-EED4-3F6F-7C75-C3D702D87E3D}"/>
              </a:ext>
            </a:extLst>
          </p:cNvPr>
          <p:cNvSpPr txBox="1"/>
          <p:nvPr/>
        </p:nvSpPr>
        <p:spPr>
          <a:xfrm>
            <a:off x="863600" y="800100"/>
            <a:ext cx="10414000" cy="507831"/>
          </a:xfrm>
          <a:prstGeom prst="rect">
            <a:avLst/>
          </a:prstGeom>
          <a:noFill/>
        </p:spPr>
        <p:txBody>
          <a:bodyPr vert="horz" rtlCol="0">
            <a:spAutoFit/>
          </a:bodyPr>
          <a:lstStyle/>
          <a:p>
            <a:r>
              <a:rPr lang="en-GB" sz="2700" b="1">
                <a:solidFill>
                  <a:srgbClr val="0F172A"/>
                </a:solidFill>
                <a:latin typeface="Segoe UI" panose="020B0502040204020203" pitchFamily="34" charset="0"/>
              </a:rPr>
              <a:t>Target Users &amp; Roles</a:t>
            </a:r>
          </a:p>
        </p:txBody>
      </p:sp>
      <p:sp>
        <p:nvSpPr>
          <p:cNvPr id="5" name="Rectangle 4">
            <a:extLst>
              <a:ext uri="{FF2B5EF4-FFF2-40B4-BE49-F238E27FC236}">
                <a16:creationId xmlns:a16="http://schemas.microsoft.com/office/drawing/2014/main" id="{6AA477D5-98C9-F282-222C-CB24829F1A96}"/>
              </a:ext>
            </a:extLst>
          </p:cNvPr>
          <p:cNvSpPr/>
          <p:nvPr/>
        </p:nvSpPr>
        <p:spPr>
          <a:xfrm>
            <a:off x="609600" y="1549400"/>
            <a:ext cx="10972800" cy="19050"/>
          </a:xfrm>
          <a:prstGeom prst="rect">
            <a:avLst/>
          </a:prstGeom>
          <a:solidFill>
            <a:srgbClr val="E2E8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594421AA-CDF8-AF3D-6E00-97753C450010}"/>
              </a:ext>
            </a:extLst>
          </p:cNvPr>
          <p:cNvSpPr/>
          <p:nvPr/>
        </p:nvSpPr>
        <p:spPr>
          <a:xfrm>
            <a:off x="609600" y="1905000"/>
            <a:ext cx="5384800" cy="3683000"/>
          </a:xfrm>
          <a:prstGeom prst="rect">
            <a:avLst/>
          </a:prstGeom>
          <a:solidFill>
            <a:srgbClr val="FFFFFF"/>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0F5E9F7E-A5D7-8B3B-3EE6-481BCD9A0E64}"/>
              </a:ext>
            </a:extLst>
          </p:cNvPr>
          <p:cNvSpPr/>
          <p:nvPr/>
        </p:nvSpPr>
        <p:spPr>
          <a:xfrm>
            <a:off x="609600" y="1905000"/>
            <a:ext cx="5384800" cy="50800"/>
          </a:xfrm>
          <a:prstGeom prst="rect">
            <a:avLst/>
          </a:prstGeom>
          <a:solidFill>
            <a:srgbClr val="4F46E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Box 7">
            <a:extLst>
              <a:ext uri="{FF2B5EF4-FFF2-40B4-BE49-F238E27FC236}">
                <a16:creationId xmlns:a16="http://schemas.microsoft.com/office/drawing/2014/main" id="{340391BC-6FB9-A4EE-4A7A-66ACEFA7FAB8}"/>
              </a:ext>
            </a:extLst>
          </p:cNvPr>
          <p:cNvSpPr txBox="1"/>
          <p:nvPr/>
        </p:nvSpPr>
        <p:spPr>
          <a:xfrm>
            <a:off x="812800" y="2057400"/>
            <a:ext cx="4978400" cy="307777"/>
          </a:xfrm>
          <a:prstGeom prst="rect">
            <a:avLst/>
          </a:prstGeom>
          <a:noFill/>
        </p:spPr>
        <p:txBody>
          <a:bodyPr vert="horz" rtlCol="0">
            <a:spAutoFit/>
          </a:bodyPr>
          <a:lstStyle/>
          <a:p>
            <a:r>
              <a:rPr lang="en-GB" sz="1400" b="1">
                <a:solidFill>
                  <a:srgbClr val="0F172A"/>
                </a:solidFill>
                <a:latin typeface="Segoe UI" panose="020B0502040204020203" pitchFamily="34" charset="0"/>
              </a:rPr>
              <a:t>User - library member</a:t>
            </a:r>
          </a:p>
        </p:txBody>
      </p:sp>
      <p:sp>
        <p:nvSpPr>
          <p:cNvPr id="9" name="TextBox 8">
            <a:extLst>
              <a:ext uri="{FF2B5EF4-FFF2-40B4-BE49-F238E27FC236}">
                <a16:creationId xmlns:a16="http://schemas.microsoft.com/office/drawing/2014/main" id="{5EF5435C-B9AF-36CC-7D12-C0250957F1F3}"/>
              </a:ext>
            </a:extLst>
          </p:cNvPr>
          <p:cNvSpPr txBox="1"/>
          <p:nvPr/>
        </p:nvSpPr>
        <p:spPr>
          <a:xfrm>
            <a:off x="812800" y="2438400"/>
            <a:ext cx="5003800" cy="1054135"/>
          </a:xfrm>
          <a:prstGeom prst="rect">
            <a:avLst/>
          </a:prstGeom>
          <a:noFill/>
        </p:spPr>
        <p:txBody>
          <a:bodyPr vert="horz" rtlCol="0">
            <a:spAutoFit/>
          </a:bodyPr>
          <a:lstStyle/>
          <a:p>
            <a:pPr indent="-285750">
              <a:buChar char="•"/>
            </a:pPr>
            <a:r>
              <a:rPr lang="en-US" sz="1250">
                <a:solidFill>
                  <a:srgbClr val="475569"/>
                </a:solidFill>
                <a:latin typeface="Segoe UI" panose="020B0502040204020203" pitchFamily="34" charset="0"/>
              </a:rPr>
              <a:t>Register and sign in with email / password</a:t>
            </a:r>
          </a:p>
          <a:p>
            <a:pPr indent="-285750">
              <a:buChar char="•"/>
            </a:pPr>
            <a:r>
              <a:rPr lang="en-US" sz="1250">
                <a:solidFill>
                  <a:srgbClr val="475569"/>
                </a:solidFill>
                <a:latin typeface="Segoe UI" panose="020B0502040204020203" pitchFamily="34" charset="0"/>
              </a:rPr>
              <a:t>Browse, search, filter and sort the catalog</a:t>
            </a:r>
          </a:p>
          <a:p>
            <a:pPr indent="-285750">
              <a:buChar char="•"/>
            </a:pPr>
            <a:r>
              <a:rPr lang="en-US" sz="1250">
                <a:solidFill>
                  <a:srgbClr val="475569"/>
                </a:solidFill>
                <a:latin typeface="Segoe UI" panose="020B0502040204020203" pitchFamily="34" charset="0"/>
              </a:rPr>
              <a:t>Request to borrow a book for 1-30 days</a:t>
            </a:r>
          </a:p>
          <a:p>
            <a:pPr indent="-285750">
              <a:buChar char="•"/>
            </a:pPr>
            <a:r>
              <a:rPr lang="en-US" sz="1250">
                <a:solidFill>
                  <a:srgbClr val="475569"/>
                </a:solidFill>
                <a:latin typeface="Segoe UI" panose="020B0502040204020203" pitchFamily="34" charset="0"/>
              </a:rPr>
              <a:t>Track own borrowing history and statuses</a:t>
            </a:r>
          </a:p>
          <a:p>
            <a:pPr indent="-285750">
              <a:buChar char="•"/>
            </a:pPr>
            <a:r>
              <a:rPr lang="en-US" sz="1250">
                <a:solidFill>
                  <a:srgbClr val="475569"/>
                </a:solidFill>
                <a:latin typeface="Segoe UI" panose="020B0502040204020203" pitchFamily="34" charset="0"/>
              </a:rPr>
              <a:t>Receive real-time notifications and reminders</a:t>
            </a:r>
            <a:endParaRPr lang="en-GB" sz="1250">
              <a:solidFill>
                <a:srgbClr val="475569"/>
              </a:solidFill>
              <a:latin typeface="Segoe UI" panose="020B0502040204020203" pitchFamily="34" charset="0"/>
            </a:endParaRPr>
          </a:p>
        </p:txBody>
      </p:sp>
      <p:sp>
        <p:nvSpPr>
          <p:cNvPr id="10" name="Rectangle 9">
            <a:extLst>
              <a:ext uri="{FF2B5EF4-FFF2-40B4-BE49-F238E27FC236}">
                <a16:creationId xmlns:a16="http://schemas.microsoft.com/office/drawing/2014/main" id="{FC4B5D18-E8B7-B684-1D05-76313CE8B2E7}"/>
              </a:ext>
            </a:extLst>
          </p:cNvPr>
          <p:cNvSpPr/>
          <p:nvPr/>
        </p:nvSpPr>
        <p:spPr>
          <a:xfrm>
            <a:off x="6248400" y="1905000"/>
            <a:ext cx="5334000" cy="3683000"/>
          </a:xfrm>
          <a:prstGeom prst="rect">
            <a:avLst/>
          </a:prstGeom>
          <a:solidFill>
            <a:srgbClr val="FFFFFF"/>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a:extLst>
              <a:ext uri="{FF2B5EF4-FFF2-40B4-BE49-F238E27FC236}">
                <a16:creationId xmlns:a16="http://schemas.microsoft.com/office/drawing/2014/main" id="{DBDA44BF-9DAD-110C-53E1-6E876BD985F2}"/>
              </a:ext>
            </a:extLst>
          </p:cNvPr>
          <p:cNvSpPr/>
          <p:nvPr/>
        </p:nvSpPr>
        <p:spPr>
          <a:xfrm>
            <a:off x="6248400" y="1905000"/>
            <a:ext cx="5334000" cy="50800"/>
          </a:xfrm>
          <a:prstGeom prst="rect">
            <a:avLst/>
          </a:prstGeom>
          <a:solidFill>
            <a:srgbClr val="B4530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Box 11">
            <a:extLst>
              <a:ext uri="{FF2B5EF4-FFF2-40B4-BE49-F238E27FC236}">
                <a16:creationId xmlns:a16="http://schemas.microsoft.com/office/drawing/2014/main" id="{9BB46275-A884-50EA-1964-690B931FD387}"/>
              </a:ext>
            </a:extLst>
          </p:cNvPr>
          <p:cNvSpPr txBox="1"/>
          <p:nvPr/>
        </p:nvSpPr>
        <p:spPr>
          <a:xfrm>
            <a:off x="6451600" y="2057400"/>
            <a:ext cx="4927600" cy="307777"/>
          </a:xfrm>
          <a:prstGeom prst="rect">
            <a:avLst/>
          </a:prstGeom>
          <a:noFill/>
        </p:spPr>
        <p:txBody>
          <a:bodyPr vert="horz" rtlCol="0">
            <a:spAutoFit/>
          </a:bodyPr>
          <a:lstStyle/>
          <a:p>
            <a:r>
              <a:rPr lang="en-GB" sz="1400" b="1">
                <a:solidFill>
                  <a:srgbClr val="0F172A"/>
                </a:solidFill>
                <a:latin typeface="Segoe UI" panose="020B0502040204020203" pitchFamily="34" charset="0"/>
              </a:rPr>
              <a:t>Admin - librarian</a:t>
            </a:r>
          </a:p>
        </p:txBody>
      </p:sp>
      <p:sp>
        <p:nvSpPr>
          <p:cNvPr id="13" name="TextBox 12">
            <a:extLst>
              <a:ext uri="{FF2B5EF4-FFF2-40B4-BE49-F238E27FC236}">
                <a16:creationId xmlns:a16="http://schemas.microsoft.com/office/drawing/2014/main" id="{2AACBE6D-583B-CD17-6E8E-9B19ABB39561}"/>
              </a:ext>
            </a:extLst>
          </p:cNvPr>
          <p:cNvSpPr txBox="1"/>
          <p:nvPr/>
        </p:nvSpPr>
        <p:spPr>
          <a:xfrm>
            <a:off x="6451600" y="2438400"/>
            <a:ext cx="4953000" cy="1054135"/>
          </a:xfrm>
          <a:prstGeom prst="rect">
            <a:avLst/>
          </a:prstGeom>
          <a:noFill/>
        </p:spPr>
        <p:txBody>
          <a:bodyPr vert="horz" rtlCol="0">
            <a:spAutoFit/>
          </a:bodyPr>
          <a:lstStyle/>
          <a:p>
            <a:pPr indent="-285750">
              <a:buChar char="•"/>
            </a:pPr>
            <a:r>
              <a:rPr lang="en-US" sz="1250">
                <a:solidFill>
                  <a:srgbClr val="475569"/>
                </a:solidFill>
                <a:latin typeface="Segoe UI" panose="020B0502040204020203" pitchFamily="34" charset="0"/>
              </a:rPr>
              <a:t>Review the full borrowing-request queue</a:t>
            </a:r>
          </a:p>
          <a:p>
            <a:pPr indent="-285750">
              <a:buChar char="•"/>
            </a:pPr>
            <a:r>
              <a:rPr lang="en-US" sz="1250">
                <a:solidFill>
                  <a:srgbClr val="475569"/>
                </a:solidFill>
                <a:latin typeface="Segoe UI" panose="020B0502040204020203" pitchFamily="34" charset="0"/>
              </a:rPr>
              <a:t>Approve requests (optional approval note)</a:t>
            </a:r>
          </a:p>
          <a:p>
            <a:pPr indent="-285750">
              <a:buChar char="•"/>
            </a:pPr>
            <a:r>
              <a:rPr lang="en-US" sz="1250">
                <a:solidFill>
                  <a:srgbClr val="475569"/>
                </a:solidFill>
                <a:latin typeface="Segoe UI" panose="020B0502040204020203" pitchFamily="34" charset="0"/>
              </a:rPr>
              <a:t>Deny requests - reason is mandatory</a:t>
            </a:r>
          </a:p>
          <a:p>
            <a:pPr indent="-285750">
              <a:buChar char="•"/>
            </a:pPr>
            <a:r>
              <a:rPr lang="en-US" sz="1250">
                <a:solidFill>
                  <a:srgbClr val="475569"/>
                </a:solidFill>
                <a:latin typeface="Segoe UI" panose="020B0502040204020203" pitchFamily="34" charset="0"/>
              </a:rPr>
              <a:t>Get notified the moment a request arrives</a:t>
            </a:r>
          </a:p>
          <a:p>
            <a:pPr indent="-285750">
              <a:buChar char="•"/>
            </a:pPr>
            <a:r>
              <a:rPr lang="en-US" sz="1250">
                <a:solidFill>
                  <a:srgbClr val="475569"/>
                </a:solidFill>
                <a:latin typeface="Segoe UI" panose="020B0502040204020203" pitchFamily="34" charset="0"/>
              </a:rPr>
              <a:t>Monitor upcoming due dates (expiration job)</a:t>
            </a:r>
            <a:endParaRPr lang="en-GB" sz="1250">
              <a:solidFill>
                <a:srgbClr val="475569"/>
              </a:solidFill>
              <a:latin typeface="Segoe UI" panose="020B0502040204020203" pitchFamily="34" charset="0"/>
            </a:endParaRPr>
          </a:p>
        </p:txBody>
      </p:sp>
      <p:sp>
        <p:nvSpPr>
          <p:cNvPr id="14" name="Rectangle 13">
            <a:extLst>
              <a:ext uri="{FF2B5EF4-FFF2-40B4-BE49-F238E27FC236}">
                <a16:creationId xmlns:a16="http://schemas.microsoft.com/office/drawing/2014/main" id="{5CDF98B8-787A-7ABA-EBA7-EB3A11217462}"/>
              </a:ext>
            </a:extLst>
          </p:cNvPr>
          <p:cNvSpPr/>
          <p:nvPr/>
        </p:nvSpPr>
        <p:spPr>
          <a:xfrm>
            <a:off x="609600" y="5842000"/>
            <a:ext cx="10972800" cy="508000"/>
          </a:xfrm>
          <a:prstGeom prst="rect">
            <a:avLst/>
          </a:prstGeom>
          <a:solidFill>
            <a:srgbClr val="EEF2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TextBox 14">
            <a:extLst>
              <a:ext uri="{FF2B5EF4-FFF2-40B4-BE49-F238E27FC236}">
                <a16:creationId xmlns:a16="http://schemas.microsoft.com/office/drawing/2014/main" id="{4F702D36-7D8F-18FC-BA7C-C7363CBF6354}"/>
              </a:ext>
            </a:extLst>
          </p:cNvPr>
          <p:cNvSpPr txBox="1"/>
          <p:nvPr/>
        </p:nvSpPr>
        <p:spPr>
          <a:xfrm>
            <a:off x="812800" y="5943600"/>
            <a:ext cx="10541000" cy="261610"/>
          </a:xfrm>
          <a:prstGeom prst="rect">
            <a:avLst/>
          </a:prstGeom>
          <a:noFill/>
        </p:spPr>
        <p:txBody>
          <a:bodyPr vert="horz" rtlCol="0">
            <a:spAutoFit/>
          </a:bodyPr>
          <a:lstStyle/>
          <a:p>
            <a:r>
              <a:rPr lang="en-US" sz="1100">
                <a:solidFill>
                  <a:srgbClr val="3730A3"/>
                </a:solidFill>
                <a:latin typeface="Segoe UI" panose="020B0502040204020203" pitchFamily="34" charset="0"/>
              </a:rPr>
              <a:t>Roles live on User.Role, are embedded in the JWT role claim, and are enforced with [Authorize(Roles=...)] on the API plus route guards in Angular.</a:t>
            </a:r>
            <a:endParaRPr lang="en-GB" sz="1100">
              <a:solidFill>
                <a:srgbClr val="3730A3"/>
              </a:solidFill>
              <a:latin typeface="Segoe UI" panose="020B0502040204020203" pitchFamily="34" charset="0"/>
            </a:endParaRPr>
          </a:p>
        </p:txBody>
      </p:sp>
      <p:sp>
        <p:nvSpPr>
          <p:cNvPr id="17" name="TextBox 16">
            <a:extLst>
              <a:ext uri="{FF2B5EF4-FFF2-40B4-BE49-F238E27FC236}">
                <a16:creationId xmlns:a16="http://schemas.microsoft.com/office/drawing/2014/main" id="{0D5906BA-31EA-2D7A-644D-47B118689E88}"/>
              </a:ext>
            </a:extLst>
          </p:cNvPr>
          <p:cNvSpPr txBox="1"/>
          <p:nvPr/>
        </p:nvSpPr>
        <p:spPr>
          <a:xfrm>
            <a:off x="10312400" y="6527800"/>
            <a:ext cx="1270000" cy="230832"/>
          </a:xfrm>
          <a:prstGeom prst="rect">
            <a:avLst/>
          </a:prstGeom>
          <a:noFill/>
        </p:spPr>
        <p:txBody>
          <a:bodyPr vert="horz" rtlCol="0">
            <a:spAutoFit/>
          </a:bodyPr>
          <a:lstStyle/>
          <a:p>
            <a:pPr algn="r"/>
            <a:r>
              <a:rPr lang="en-GB" sz="900">
                <a:solidFill>
                  <a:srgbClr val="94A3B8"/>
                </a:solidFill>
                <a:latin typeface="Segoe UI" panose="020B0502040204020203" pitchFamily="34" charset="0"/>
              </a:rPr>
              <a:t>4 / 20</a:t>
            </a:r>
          </a:p>
        </p:txBody>
      </p:sp>
    </p:spTree>
    <p:extLst>
      <p:ext uri="{BB962C8B-B14F-4D97-AF65-F5344CB8AC3E}">
        <p14:creationId xmlns:p14="http://schemas.microsoft.com/office/powerpoint/2010/main" val="1426070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0399A85-46CD-A18C-D8A5-8529DEA3D787}"/>
              </a:ext>
            </a:extLst>
          </p:cNvPr>
          <p:cNvSpPr/>
          <p:nvPr/>
        </p:nvSpPr>
        <p:spPr>
          <a:xfrm>
            <a:off x="609600" y="584200"/>
            <a:ext cx="88900" cy="635000"/>
          </a:xfrm>
          <a:prstGeom prst="rect">
            <a:avLst/>
          </a:prstGeom>
          <a:solidFill>
            <a:srgbClr val="4F46E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extBox 2">
            <a:extLst>
              <a:ext uri="{FF2B5EF4-FFF2-40B4-BE49-F238E27FC236}">
                <a16:creationId xmlns:a16="http://schemas.microsoft.com/office/drawing/2014/main" id="{3C876157-241A-5C33-7560-C8FCE6EDC123}"/>
              </a:ext>
            </a:extLst>
          </p:cNvPr>
          <p:cNvSpPr txBox="1"/>
          <p:nvPr/>
        </p:nvSpPr>
        <p:spPr>
          <a:xfrm>
            <a:off x="863600" y="558800"/>
            <a:ext cx="9652000" cy="261610"/>
          </a:xfrm>
          <a:prstGeom prst="rect">
            <a:avLst/>
          </a:prstGeom>
          <a:noFill/>
        </p:spPr>
        <p:txBody>
          <a:bodyPr vert="horz" rtlCol="0">
            <a:spAutoFit/>
          </a:bodyPr>
          <a:lstStyle/>
          <a:p>
            <a:r>
              <a:rPr lang="en-GB" sz="1100" b="1">
                <a:solidFill>
                  <a:srgbClr val="4F46E5"/>
                </a:solidFill>
                <a:latin typeface="Segoe UI" panose="020B0502040204020203" pitchFamily="34" charset="0"/>
              </a:rPr>
              <a:t>SCOPE</a:t>
            </a:r>
          </a:p>
        </p:txBody>
      </p:sp>
      <p:sp>
        <p:nvSpPr>
          <p:cNvPr id="4" name="TextBox 3">
            <a:extLst>
              <a:ext uri="{FF2B5EF4-FFF2-40B4-BE49-F238E27FC236}">
                <a16:creationId xmlns:a16="http://schemas.microsoft.com/office/drawing/2014/main" id="{E86DA542-A9AE-D00F-65D3-799888A85483}"/>
              </a:ext>
            </a:extLst>
          </p:cNvPr>
          <p:cNvSpPr txBox="1"/>
          <p:nvPr/>
        </p:nvSpPr>
        <p:spPr>
          <a:xfrm>
            <a:off x="863600" y="800100"/>
            <a:ext cx="10414000" cy="507831"/>
          </a:xfrm>
          <a:prstGeom prst="rect">
            <a:avLst/>
          </a:prstGeom>
          <a:noFill/>
        </p:spPr>
        <p:txBody>
          <a:bodyPr vert="horz" rtlCol="0">
            <a:spAutoFit/>
          </a:bodyPr>
          <a:lstStyle/>
          <a:p>
            <a:r>
              <a:rPr lang="en-GB" sz="2700" b="1">
                <a:solidFill>
                  <a:srgbClr val="0F172A"/>
                </a:solidFill>
                <a:latin typeface="Segoe UI" panose="020B0502040204020203" pitchFamily="34" charset="0"/>
              </a:rPr>
              <a:t>Implemented Features</a:t>
            </a:r>
          </a:p>
        </p:txBody>
      </p:sp>
      <p:sp>
        <p:nvSpPr>
          <p:cNvPr id="5" name="Rectangle 4">
            <a:extLst>
              <a:ext uri="{FF2B5EF4-FFF2-40B4-BE49-F238E27FC236}">
                <a16:creationId xmlns:a16="http://schemas.microsoft.com/office/drawing/2014/main" id="{B96D7855-0A7F-3C47-429C-ED4AED21A646}"/>
              </a:ext>
            </a:extLst>
          </p:cNvPr>
          <p:cNvSpPr/>
          <p:nvPr/>
        </p:nvSpPr>
        <p:spPr>
          <a:xfrm>
            <a:off x="609600" y="1549400"/>
            <a:ext cx="10972800" cy="19050"/>
          </a:xfrm>
          <a:prstGeom prst="rect">
            <a:avLst/>
          </a:prstGeom>
          <a:solidFill>
            <a:srgbClr val="E2E8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7045BF94-9D78-8B90-1D1F-002EF4147716}"/>
              </a:ext>
            </a:extLst>
          </p:cNvPr>
          <p:cNvSpPr/>
          <p:nvPr/>
        </p:nvSpPr>
        <p:spPr>
          <a:xfrm>
            <a:off x="609600" y="1879600"/>
            <a:ext cx="5384800" cy="4419600"/>
          </a:xfrm>
          <a:prstGeom prst="rect">
            <a:avLst/>
          </a:prstGeom>
          <a:solidFill>
            <a:srgbClr val="FFFFFF"/>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36141D59-8027-509C-F616-FC7717411D71}"/>
              </a:ext>
            </a:extLst>
          </p:cNvPr>
          <p:cNvSpPr/>
          <p:nvPr/>
        </p:nvSpPr>
        <p:spPr>
          <a:xfrm>
            <a:off x="609600" y="1879600"/>
            <a:ext cx="5384800" cy="50800"/>
          </a:xfrm>
          <a:prstGeom prst="rect">
            <a:avLst/>
          </a:prstGeom>
          <a:solidFill>
            <a:srgbClr val="4F46E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Box 7">
            <a:extLst>
              <a:ext uri="{FF2B5EF4-FFF2-40B4-BE49-F238E27FC236}">
                <a16:creationId xmlns:a16="http://schemas.microsoft.com/office/drawing/2014/main" id="{236A72AF-7580-21B5-7211-56EB20406945}"/>
              </a:ext>
            </a:extLst>
          </p:cNvPr>
          <p:cNvSpPr txBox="1"/>
          <p:nvPr/>
        </p:nvSpPr>
        <p:spPr>
          <a:xfrm>
            <a:off x="812800" y="2032000"/>
            <a:ext cx="4978400" cy="307777"/>
          </a:xfrm>
          <a:prstGeom prst="rect">
            <a:avLst/>
          </a:prstGeom>
          <a:noFill/>
        </p:spPr>
        <p:txBody>
          <a:bodyPr vert="horz" rtlCol="0">
            <a:spAutoFit/>
          </a:bodyPr>
          <a:lstStyle/>
          <a:p>
            <a:r>
              <a:rPr lang="en-GB" sz="1400" b="1">
                <a:solidFill>
                  <a:srgbClr val="0F172A"/>
                </a:solidFill>
                <a:latin typeface="Segoe UI" panose="020B0502040204020203" pitchFamily="34" charset="0"/>
              </a:rPr>
              <a:t>User features</a:t>
            </a:r>
          </a:p>
        </p:txBody>
      </p:sp>
      <p:sp>
        <p:nvSpPr>
          <p:cNvPr id="9" name="TextBox 8">
            <a:extLst>
              <a:ext uri="{FF2B5EF4-FFF2-40B4-BE49-F238E27FC236}">
                <a16:creationId xmlns:a16="http://schemas.microsoft.com/office/drawing/2014/main" id="{957E7ED1-9AC9-E56C-B55F-8DB40C0FF3D0}"/>
              </a:ext>
            </a:extLst>
          </p:cNvPr>
          <p:cNvSpPr txBox="1"/>
          <p:nvPr/>
        </p:nvSpPr>
        <p:spPr>
          <a:xfrm>
            <a:off x="812800" y="2413000"/>
            <a:ext cx="5003800" cy="1569660"/>
          </a:xfrm>
          <a:prstGeom prst="rect">
            <a:avLst/>
          </a:prstGeom>
          <a:noFill/>
        </p:spPr>
        <p:txBody>
          <a:bodyPr vert="horz" rtlCol="0">
            <a:spAutoFit/>
          </a:bodyPr>
          <a:lstStyle/>
          <a:p>
            <a:pPr indent="-171450">
              <a:buChar char="•"/>
            </a:pPr>
            <a:r>
              <a:rPr lang="en-GB" sz="1200">
                <a:solidFill>
                  <a:srgbClr val="475569"/>
                </a:solidFill>
                <a:latin typeface="Segoe UI" panose="020B0502040204020203" pitchFamily="34" charset="0"/>
              </a:rPr>
              <a:t>Account registration with instant sign-in</a:t>
            </a:r>
          </a:p>
          <a:p>
            <a:pPr indent="-171450">
              <a:buChar char="•"/>
            </a:pPr>
            <a:r>
              <a:rPr lang="en-GB" sz="1200">
                <a:solidFill>
                  <a:srgbClr val="475569"/>
                </a:solidFill>
                <a:latin typeface="Segoe UI" panose="020B0502040204020203" pitchFamily="34" charset="0"/>
              </a:rPr>
              <a:t>Email + password login (JWT)</a:t>
            </a:r>
          </a:p>
          <a:p>
            <a:pPr indent="-171450">
              <a:buChar char="•"/>
            </a:pPr>
            <a:r>
              <a:rPr lang="en-GB" sz="1200">
                <a:solidFill>
                  <a:srgbClr val="475569"/>
                </a:solidFill>
                <a:latin typeface="Segoe UI" panose="020B0502040204020203" pitchFamily="34" charset="0"/>
              </a:rPr>
              <a:t>Password reset via single-use emailed token</a:t>
            </a:r>
          </a:p>
          <a:p>
            <a:pPr indent="-171450">
              <a:buChar char="•"/>
            </a:pPr>
            <a:r>
              <a:rPr lang="en-GB" sz="1200">
                <a:solidFill>
                  <a:srgbClr val="475569"/>
                </a:solidFill>
                <a:latin typeface="Segoe UI" panose="020B0502040204020203" pitchFamily="34" charset="0"/>
              </a:rPr>
              <a:t>Catalog search, sorting, availability filter, paging</a:t>
            </a:r>
          </a:p>
          <a:p>
            <a:pPr indent="-171450">
              <a:buChar char="•"/>
            </a:pPr>
            <a:r>
              <a:rPr lang="en-GB" sz="1200">
                <a:solidFill>
                  <a:srgbClr val="475569"/>
                </a:solidFill>
                <a:latin typeface="Segoe UI" panose="020B0502040204020203" pitchFamily="34" charset="0"/>
              </a:rPr>
              <a:t>Borrow requests (1-30 days) via RabbitMQ</a:t>
            </a:r>
          </a:p>
          <a:p>
            <a:pPr indent="-171450">
              <a:buChar char="•"/>
            </a:pPr>
            <a:r>
              <a:rPr lang="en-GB" sz="1200">
                <a:solidFill>
                  <a:srgbClr val="475569"/>
                </a:solidFill>
                <a:latin typeface="Segoe UI" panose="020B0502040204020203" pitchFamily="34" charset="0"/>
              </a:rPr>
              <a:t>My Requests history with status badges</a:t>
            </a:r>
          </a:p>
          <a:p>
            <a:pPr indent="-171450">
              <a:buChar char="•"/>
            </a:pPr>
            <a:r>
              <a:rPr lang="en-GB" sz="1200">
                <a:solidFill>
                  <a:srgbClr val="475569"/>
                </a:solidFill>
                <a:latin typeface="Segoe UI" panose="020B0502040204020203" pitchFamily="34" charset="0"/>
              </a:rPr>
              <a:t>Notifications inbox - mark as read, unread badge</a:t>
            </a:r>
          </a:p>
          <a:p>
            <a:pPr indent="-171450">
              <a:buChar char="•"/>
            </a:pPr>
            <a:r>
              <a:rPr lang="en-GB" sz="1200">
                <a:solidFill>
                  <a:srgbClr val="475569"/>
                </a:solidFill>
                <a:latin typeface="Segoe UI" panose="020B0502040204020203" pitchFamily="34" charset="0"/>
              </a:rPr>
              <a:t>Self-service account deletion (password-confirmed)</a:t>
            </a:r>
          </a:p>
        </p:txBody>
      </p:sp>
      <p:sp>
        <p:nvSpPr>
          <p:cNvPr id="10" name="Rectangle 9">
            <a:extLst>
              <a:ext uri="{FF2B5EF4-FFF2-40B4-BE49-F238E27FC236}">
                <a16:creationId xmlns:a16="http://schemas.microsoft.com/office/drawing/2014/main" id="{388F0CDC-10ED-B314-F94E-8BCA46386438}"/>
              </a:ext>
            </a:extLst>
          </p:cNvPr>
          <p:cNvSpPr/>
          <p:nvPr/>
        </p:nvSpPr>
        <p:spPr>
          <a:xfrm>
            <a:off x="6248400" y="1879600"/>
            <a:ext cx="5334000" cy="4419600"/>
          </a:xfrm>
          <a:prstGeom prst="rect">
            <a:avLst/>
          </a:prstGeom>
          <a:solidFill>
            <a:srgbClr val="FFFFFF"/>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a:extLst>
              <a:ext uri="{FF2B5EF4-FFF2-40B4-BE49-F238E27FC236}">
                <a16:creationId xmlns:a16="http://schemas.microsoft.com/office/drawing/2014/main" id="{19354112-106C-2CB7-4325-1AE4120FBEE8}"/>
              </a:ext>
            </a:extLst>
          </p:cNvPr>
          <p:cNvSpPr/>
          <p:nvPr/>
        </p:nvSpPr>
        <p:spPr>
          <a:xfrm>
            <a:off x="6248400" y="1879600"/>
            <a:ext cx="5334000" cy="50800"/>
          </a:xfrm>
          <a:prstGeom prst="rect">
            <a:avLst/>
          </a:prstGeom>
          <a:solidFill>
            <a:srgbClr val="B4530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Box 11">
            <a:extLst>
              <a:ext uri="{FF2B5EF4-FFF2-40B4-BE49-F238E27FC236}">
                <a16:creationId xmlns:a16="http://schemas.microsoft.com/office/drawing/2014/main" id="{0F77FDBC-859F-54A4-7A56-13C5392251B1}"/>
              </a:ext>
            </a:extLst>
          </p:cNvPr>
          <p:cNvSpPr txBox="1"/>
          <p:nvPr/>
        </p:nvSpPr>
        <p:spPr>
          <a:xfrm>
            <a:off x="6451600" y="2032000"/>
            <a:ext cx="4927600" cy="307777"/>
          </a:xfrm>
          <a:prstGeom prst="rect">
            <a:avLst/>
          </a:prstGeom>
          <a:noFill/>
        </p:spPr>
        <p:txBody>
          <a:bodyPr vert="horz" rtlCol="0">
            <a:spAutoFit/>
          </a:bodyPr>
          <a:lstStyle/>
          <a:p>
            <a:r>
              <a:rPr lang="en-GB" sz="1400" b="1">
                <a:solidFill>
                  <a:srgbClr val="0F172A"/>
                </a:solidFill>
                <a:latin typeface="Segoe UI" panose="020B0502040204020203" pitchFamily="34" charset="0"/>
              </a:rPr>
              <a:t>Admin features</a:t>
            </a:r>
          </a:p>
        </p:txBody>
      </p:sp>
      <p:sp>
        <p:nvSpPr>
          <p:cNvPr id="13" name="TextBox 12">
            <a:extLst>
              <a:ext uri="{FF2B5EF4-FFF2-40B4-BE49-F238E27FC236}">
                <a16:creationId xmlns:a16="http://schemas.microsoft.com/office/drawing/2014/main" id="{3EA0E336-9ED8-B062-AE8E-6A2D892F2CB5}"/>
              </a:ext>
            </a:extLst>
          </p:cNvPr>
          <p:cNvSpPr txBox="1"/>
          <p:nvPr/>
        </p:nvSpPr>
        <p:spPr>
          <a:xfrm>
            <a:off x="6451600" y="2413000"/>
            <a:ext cx="4953000" cy="1200329"/>
          </a:xfrm>
          <a:prstGeom prst="rect">
            <a:avLst/>
          </a:prstGeom>
          <a:noFill/>
        </p:spPr>
        <p:txBody>
          <a:bodyPr vert="horz" rtlCol="0">
            <a:spAutoFit/>
          </a:bodyPr>
          <a:lstStyle/>
          <a:p>
            <a:pPr indent="-171450">
              <a:buChar char="•"/>
            </a:pPr>
            <a:r>
              <a:rPr lang="en-US" sz="1200">
                <a:solidFill>
                  <a:srgbClr val="475569"/>
                </a:solidFill>
                <a:latin typeface="Segoe UI" panose="020B0502040204020203" pitchFamily="34" charset="0"/>
              </a:rPr>
              <a:t>Review queue with status filtering and paging</a:t>
            </a:r>
          </a:p>
          <a:p>
            <a:pPr indent="-171450">
              <a:buChar char="•"/>
            </a:pPr>
            <a:r>
              <a:rPr lang="en-US" sz="1200">
                <a:solidFill>
                  <a:srgbClr val="475569"/>
                </a:solidFill>
                <a:latin typeface="Segoe UI" panose="020B0502040204020203" pitchFamily="34" charset="0"/>
              </a:rPr>
              <a:t>Approve with optional audit note</a:t>
            </a:r>
          </a:p>
          <a:p>
            <a:pPr indent="-171450">
              <a:buChar char="•"/>
            </a:pPr>
            <a:r>
              <a:rPr lang="en-US" sz="1200">
                <a:solidFill>
                  <a:srgbClr val="475569"/>
                </a:solidFill>
                <a:latin typeface="Segoe UI" panose="020B0502040204020203" pitchFamily="34" charset="0"/>
              </a:rPr>
              <a:t>Deny with required reason (shown to the user)</a:t>
            </a:r>
          </a:p>
          <a:p>
            <a:pPr indent="-171450">
              <a:buChar char="•"/>
            </a:pPr>
            <a:r>
              <a:rPr lang="en-US" sz="1200">
                <a:solidFill>
                  <a:srgbClr val="475569"/>
                </a:solidFill>
                <a:latin typeface="Segoe UI" panose="020B0502040204020203" pitchFamily="34" charset="0"/>
              </a:rPr>
              <a:t>Real-time alert on every new borrow request</a:t>
            </a:r>
          </a:p>
          <a:p>
            <a:pPr indent="-171450">
              <a:buChar char="•"/>
            </a:pPr>
            <a:r>
              <a:rPr lang="en-US" sz="1200">
                <a:solidFill>
                  <a:srgbClr val="475569"/>
                </a:solidFill>
                <a:latin typeface="Segoe UI" panose="020B0502040204020203" pitchFamily="34" charset="0"/>
              </a:rPr>
              <a:t>Due-date reminders for users and admins</a:t>
            </a:r>
          </a:p>
          <a:p>
            <a:pPr indent="-171450">
              <a:buChar char="•"/>
            </a:pPr>
            <a:r>
              <a:rPr lang="en-US" sz="1200">
                <a:solidFill>
                  <a:srgbClr val="475569"/>
                </a:solidFill>
                <a:latin typeface="Segoe UI" panose="020B0502040204020203" pitchFamily="34" charset="0"/>
              </a:rPr>
              <a:t>Role-scoped data: users only ever see their own rows</a:t>
            </a:r>
            <a:endParaRPr lang="en-GB" sz="1200">
              <a:solidFill>
                <a:srgbClr val="475569"/>
              </a:solidFill>
              <a:latin typeface="Segoe UI" panose="020B0502040204020203" pitchFamily="34" charset="0"/>
            </a:endParaRPr>
          </a:p>
        </p:txBody>
      </p:sp>
      <p:sp>
        <p:nvSpPr>
          <p:cNvPr id="15" name="TextBox 14">
            <a:extLst>
              <a:ext uri="{FF2B5EF4-FFF2-40B4-BE49-F238E27FC236}">
                <a16:creationId xmlns:a16="http://schemas.microsoft.com/office/drawing/2014/main" id="{8CE6F869-90D9-45A9-8524-2BB30CC8213C}"/>
              </a:ext>
            </a:extLst>
          </p:cNvPr>
          <p:cNvSpPr txBox="1"/>
          <p:nvPr/>
        </p:nvSpPr>
        <p:spPr>
          <a:xfrm>
            <a:off x="10312400" y="6527800"/>
            <a:ext cx="1270000" cy="230832"/>
          </a:xfrm>
          <a:prstGeom prst="rect">
            <a:avLst/>
          </a:prstGeom>
          <a:noFill/>
        </p:spPr>
        <p:txBody>
          <a:bodyPr vert="horz" rtlCol="0">
            <a:spAutoFit/>
          </a:bodyPr>
          <a:lstStyle/>
          <a:p>
            <a:pPr algn="r"/>
            <a:r>
              <a:rPr lang="en-GB" sz="900">
                <a:solidFill>
                  <a:srgbClr val="94A3B8"/>
                </a:solidFill>
                <a:latin typeface="Segoe UI" panose="020B0502040204020203" pitchFamily="34" charset="0"/>
              </a:rPr>
              <a:t>5 / 20</a:t>
            </a:r>
          </a:p>
        </p:txBody>
      </p:sp>
    </p:spTree>
    <p:extLst>
      <p:ext uri="{BB962C8B-B14F-4D97-AF65-F5344CB8AC3E}">
        <p14:creationId xmlns:p14="http://schemas.microsoft.com/office/powerpoint/2010/main" val="2723567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A080F14-1960-7A08-AAD8-65BF2DA3FD39}"/>
              </a:ext>
            </a:extLst>
          </p:cNvPr>
          <p:cNvSpPr/>
          <p:nvPr/>
        </p:nvSpPr>
        <p:spPr>
          <a:xfrm>
            <a:off x="609600" y="584200"/>
            <a:ext cx="88900" cy="635000"/>
          </a:xfrm>
          <a:prstGeom prst="rect">
            <a:avLst/>
          </a:prstGeom>
          <a:solidFill>
            <a:srgbClr val="4F46E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extBox 2">
            <a:extLst>
              <a:ext uri="{FF2B5EF4-FFF2-40B4-BE49-F238E27FC236}">
                <a16:creationId xmlns:a16="http://schemas.microsoft.com/office/drawing/2014/main" id="{E2A21577-94E0-DC94-5FE2-4442E9930BFB}"/>
              </a:ext>
            </a:extLst>
          </p:cNvPr>
          <p:cNvSpPr txBox="1"/>
          <p:nvPr/>
        </p:nvSpPr>
        <p:spPr>
          <a:xfrm>
            <a:off x="863600" y="558800"/>
            <a:ext cx="9652000" cy="261610"/>
          </a:xfrm>
          <a:prstGeom prst="rect">
            <a:avLst/>
          </a:prstGeom>
          <a:noFill/>
        </p:spPr>
        <p:txBody>
          <a:bodyPr vert="horz" rtlCol="0">
            <a:spAutoFit/>
          </a:bodyPr>
          <a:lstStyle/>
          <a:p>
            <a:r>
              <a:rPr lang="en-GB" sz="1100" b="1">
                <a:solidFill>
                  <a:srgbClr val="4F46E5"/>
                </a:solidFill>
                <a:latin typeface="Segoe UI" panose="020B0502040204020203" pitchFamily="34" charset="0"/>
              </a:rPr>
              <a:t>STACK</a:t>
            </a:r>
          </a:p>
        </p:txBody>
      </p:sp>
      <p:sp>
        <p:nvSpPr>
          <p:cNvPr id="4" name="TextBox 3">
            <a:extLst>
              <a:ext uri="{FF2B5EF4-FFF2-40B4-BE49-F238E27FC236}">
                <a16:creationId xmlns:a16="http://schemas.microsoft.com/office/drawing/2014/main" id="{CEAC06D1-B369-19A7-4DDB-5636FA9CF283}"/>
              </a:ext>
            </a:extLst>
          </p:cNvPr>
          <p:cNvSpPr txBox="1"/>
          <p:nvPr/>
        </p:nvSpPr>
        <p:spPr>
          <a:xfrm>
            <a:off x="863600" y="800100"/>
            <a:ext cx="10414000" cy="507831"/>
          </a:xfrm>
          <a:prstGeom prst="rect">
            <a:avLst/>
          </a:prstGeom>
          <a:noFill/>
        </p:spPr>
        <p:txBody>
          <a:bodyPr vert="horz" rtlCol="0">
            <a:spAutoFit/>
          </a:bodyPr>
          <a:lstStyle/>
          <a:p>
            <a:r>
              <a:rPr lang="en-GB" sz="2700" b="1">
                <a:solidFill>
                  <a:srgbClr val="0F172A"/>
                </a:solidFill>
                <a:latin typeface="Segoe UI" panose="020B0502040204020203" pitchFamily="34" charset="0"/>
              </a:rPr>
              <a:t>Technology Stack</a:t>
            </a:r>
          </a:p>
        </p:txBody>
      </p:sp>
      <p:sp>
        <p:nvSpPr>
          <p:cNvPr id="5" name="Rectangle 4">
            <a:extLst>
              <a:ext uri="{FF2B5EF4-FFF2-40B4-BE49-F238E27FC236}">
                <a16:creationId xmlns:a16="http://schemas.microsoft.com/office/drawing/2014/main" id="{96D0A8B5-39A4-53CF-A2F3-9025B18FDC16}"/>
              </a:ext>
            </a:extLst>
          </p:cNvPr>
          <p:cNvSpPr/>
          <p:nvPr/>
        </p:nvSpPr>
        <p:spPr>
          <a:xfrm>
            <a:off x="609600" y="1549400"/>
            <a:ext cx="10972800" cy="19050"/>
          </a:xfrm>
          <a:prstGeom prst="rect">
            <a:avLst/>
          </a:prstGeom>
          <a:solidFill>
            <a:srgbClr val="E2E8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CCC2FA5A-4F87-E5C5-759C-173C68E112CB}"/>
              </a:ext>
            </a:extLst>
          </p:cNvPr>
          <p:cNvSpPr/>
          <p:nvPr/>
        </p:nvSpPr>
        <p:spPr>
          <a:xfrm>
            <a:off x="609600" y="1879600"/>
            <a:ext cx="3505200" cy="4267200"/>
          </a:xfrm>
          <a:prstGeom prst="rect">
            <a:avLst/>
          </a:prstGeom>
          <a:solidFill>
            <a:srgbClr val="FFFFFF"/>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C3A7438-C79D-B40B-7067-169D96EE50B7}"/>
              </a:ext>
            </a:extLst>
          </p:cNvPr>
          <p:cNvSpPr/>
          <p:nvPr/>
        </p:nvSpPr>
        <p:spPr>
          <a:xfrm>
            <a:off x="609600" y="1879600"/>
            <a:ext cx="3505200" cy="50800"/>
          </a:xfrm>
          <a:prstGeom prst="rect">
            <a:avLst/>
          </a:prstGeom>
          <a:solidFill>
            <a:srgbClr val="4F46E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Box 7">
            <a:extLst>
              <a:ext uri="{FF2B5EF4-FFF2-40B4-BE49-F238E27FC236}">
                <a16:creationId xmlns:a16="http://schemas.microsoft.com/office/drawing/2014/main" id="{3AE79B8A-630A-D298-62CB-6A23B3A04CAE}"/>
              </a:ext>
            </a:extLst>
          </p:cNvPr>
          <p:cNvSpPr txBox="1"/>
          <p:nvPr/>
        </p:nvSpPr>
        <p:spPr>
          <a:xfrm>
            <a:off x="812800" y="2032000"/>
            <a:ext cx="3098800" cy="307777"/>
          </a:xfrm>
          <a:prstGeom prst="rect">
            <a:avLst/>
          </a:prstGeom>
          <a:noFill/>
        </p:spPr>
        <p:txBody>
          <a:bodyPr vert="horz" rtlCol="0">
            <a:spAutoFit/>
          </a:bodyPr>
          <a:lstStyle/>
          <a:p>
            <a:r>
              <a:rPr lang="en-GB" sz="1400" b="1">
                <a:solidFill>
                  <a:srgbClr val="0F172A"/>
                </a:solidFill>
                <a:latin typeface="Segoe UI" panose="020B0502040204020203" pitchFamily="34" charset="0"/>
              </a:rPr>
              <a:t>Frontend</a:t>
            </a:r>
          </a:p>
        </p:txBody>
      </p:sp>
      <p:sp>
        <p:nvSpPr>
          <p:cNvPr id="9" name="TextBox 8">
            <a:extLst>
              <a:ext uri="{FF2B5EF4-FFF2-40B4-BE49-F238E27FC236}">
                <a16:creationId xmlns:a16="http://schemas.microsoft.com/office/drawing/2014/main" id="{CCE6ED83-08A5-5738-CF2D-84D04C537DEC}"/>
              </a:ext>
            </a:extLst>
          </p:cNvPr>
          <p:cNvSpPr txBox="1"/>
          <p:nvPr/>
        </p:nvSpPr>
        <p:spPr>
          <a:xfrm>
            <a:off x="812800" y="2413000"/>
            <a:ext cx="3124200" cy="1384995"/>
          </a:xfrm>
          <a:prstGeom prst="rect">
            <a:avLst/>
          </a:prstGeom>
          <a:noFill/>
        </p:spPr>
        <p:txBody>
          <a:bodyPr vert="horz" rtlCol="0">
            <a:spAutoFit/>
          </a:bodyPr>
          <a:lstStyle/>
          <a:p>
            <a:pPr indent="-171450">
              <a:buChar char="•"/>
            </a:pPr>
            <a:r>
              <a:rPr lang="en-GB" sz="1200">
                <a:solidFill>
                  <a:srgbClr val="475569"/>
                </a:solidFill>
                <a:latin typeface="Segoe UI" panose="020B0502040204020203" pitchFamily="34" charset="0"/>
              </a:rPr>
              <a:t>Angular 21 (standalone, zoneless)</a:t>
            </a:r>
          </a:p>
          <a:p>
            <a:pPr indent="-171450">
              <a:buChar char="•"/>
            </a:pPr>
            <a:r>
              <a:rPr lang="en-GB" sz="1200">
                <a:solidFill>
                  <a:srgbClr val="475569"/>
                </a:solidFill>
                <a:latin typeface="Segoe UI" panose="020B0502040204020203" pitchFamily="34" charset="0"/>
              </a:rPr>
              <a:t>TypeScript 5.9 strict</a:t>
            </a:r>
          </a:p>
          <a:p>
            <a:pPr indent="-171450">
              <a:buChar char="•"/>
            </a:pPr>
            <a:r>
              <a:rPr lang="en-GB" sz="1200">
                <a:solidFill>
                  <a:srgbClr val="475569"/>
                </a:solidFill>
                <a:latin typeface="Segoe UI" panose="020B0502040204020203" pitchFamily="34" charset="0"/>
              </a:rPr>
              <a:t>Signals state management</a:t>
            </a:r>
          </a:p>
          <a:p>
            <a:pPr indent="-171450">
              <a:buChar char="•"/>
            </a:pPr>
            <a:r>
              <a:rPr lang="en-GB" sz="1200">
                <a:solidFill>
                  <a:srgbClr val="475569"/>
                </a:solidFill>
                <a:latin typeface="Segoe UI" panose="020B0502040204020203" pitchFamily="34" charset="0"/>
              </a:rPr>
              <a:t>RxJS + @microsoft/signalr</a:t>
            </a:r>
          </a:p>
          <a:p>
            <a:pPr indent="-171450">
              <a:buChar char="•"/>
            </a:pPr>
            <a:r>
              <a:rPr lang="en-GB" sz="1200">
                <a:solidFill>
                  <a:srgbClr val="475569"/>
                </a:solidFill>
                <a:latin typeface="Segoe UI" panose="020B0502040204020203" pitchFamily="34" charset="0"/>
              </a:rPr>
              <a:t>Reactive forms + validators</a:t>
            </a:r>
          </a:p>
          <a:p>
            <a:pPr indent="-171450">
              <a:buChar char="•"/>
            </a:pPr>
            <a:r>
              <a:rPr lang="en-GB" sz="1200">
                <a:solidFill>
                  <a:srgbClr val="475569"/>
                </a:solidFill>
                <a:latin typeface="Segoe UI" panose="020B0502040204020203" pitchFamily="34" charset="0"/>
              </a:rPr>
              <a:t>SCSS design tokens</a:t>
            </a:r>
          </a:p>
          <a:p>
            <a:pPr indent="-171450">
              <a:buChar char="•"/>
            </a:pPr>
            <a:r>
              <a:rPr lang="en-GB" sz="1200">
                <a:solidFill>
                  <a:srgbClr val="475569"/>
                </a:solidFill>
                <a:latin typeface="Segoe UI" panose="020B0502040204020203" pitchFamily="34" charset="0"/>
              </a:rPr>
              <a:t>Vitest tests, Vite dev server</a:t>
            </a:r>
          </a:p>
        </p:txBody>
      </p:sp>
      <p:sp>
        <p:nvSpPr>
          <p:cNvPr id="10" name="Rectangle 9">
            <a:extLst>
              <a:ext uri="{FF2B5EF4-FFF2-40B4-BE49-F238E27FC236}">
                <a16:creationId xmlns:a16="http://schemas.microsoft.com/office/drawing/2014/main" id="{885EAAF3-EEC5-1A66-9805-B7A1E0371857}"/>
              </a:ext>
            </a:extLst>
          </p:cNvPr>
          <p:cNvSpPr/>
          <p:nvPr/>
        </p:nvSpPr>
        <p:spPr>
          <a:xfrm>
            <a:off x="4267200" y="1879600"/>
            <a:ext cx="3505200" cy="4267200"/>
          </a:xfrm>
          <a:prstGeom prst="rect">
            <a:avLst/>
          </a:prstGeom>
          <a:solidFill>
            <a:srgbClr val="FFFFFF"/>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a:extLst>
              <a:ext uri="{FF2B5EF4-FFF2-40B4-BE49-F238E27FC236}">
                <a16:creationId xmlns:a16="http://schemas.microsoft.com/office/drawing/2014/main" id="{46C74FCD-2C81-6C5B-F5A3-D14304FD7845}"/>
              </a:ext>
            </a:extLst>
          </p:cNvPr>
          <p:cNvSpPr/>
          <p:nvPr/>
        </p:nvSpPr>
        <p:spPr>
          <a:xfrm>
            <a:off x="4267200" y="1879600"/>
            <a:ext cx="3505200" cy="50800"/>
          </a:xfrm>
          <a:prstGeom prst="rect">
            <a:avLst/>
          </a:prstGeom>
          <a:solidFill>
            <a:srgbClr val="0F172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Box 11">
            <a:extLst>
              <a:ext uri="{FF2B5EF4-FFF2-40B4-BE49-F238E27FC236}">
                <a16:creationId xmlns:a16="http://schemas.microsoft.com/office/drawing/2014/main" id="{92B8037A-EF00-B65C-4C7D-58621FFCBCC3}"/>
              </a:ext>
            </a:extLst>
          </p:cNvPr>
          <p:cNvSpPr txBox="1"/>
          <p:nvPr/>
        </p:nvSpPr>
        <p:spPr>
          <a:xfrm>
            <a:off x="4470400" y="2032000"/>
            <a:ext cx="3098800" cy="307777"/>
          </a:xfrm>
          <a:prstGeom prst="rect">
            <a:avLst/>
          </a:prstGeom>
          <a:noFill/>
        </p:spPr>
        <p:txBody>
          <a:bodyPr vert="horz" rtlCol="0">
            <a:spAutoFit/>
          </a:bodyPr>
          <a:lstStyle/>
          <a:p>
            <a:r>
              <a:rPr lang="en-GB" sz="1400" b="1">
                <a:solidFill>
                  <a:srgbClr val="0F172A"/>
                </a:solidFill>
                <a:latin typeface="Segoe UI" panose="020B0502040204020203" pitchFamily="34" charset="0"/>
              </a:rPr>
              <a:t>Backend</a:t>
            </a:r>
          </a:p>
        </p:txBody>
      </p:sp>
      <p:sp>
        <p:nvSpPr>
          <p:cNvPr id="13" name="TextBox 12">
            <a:extLst>
              <a:ext uri="{FF2B5EF4-FFF2-40B4-BE49-F238E27FC236}">
                <a16:creationId xmlns:a16="http://schemas.microsoft.com/office/drawing/2014/main" id="{263434C4-66CC-7CD6-3470-C070C4F62D9B}"/>
              </a:ext>
            </a:extLst>
          </p:cNvPr>
          <p:cNvSpPr txBox="1"/>
          <p:nvPr/>
        </p:nvSpPr>
        <p:spPr>
          <a:xfrm>
            <a:off x="4470400" y="2413000"/>
            <a:ext cx="3124200" cy="1384995"/>
          </a:xfrm>
          <a:prstGeom prst="rect">
            <a:avLst/>
          </a:prstGeom>
          <a:noFill/>
        </p:spPr>
        <p:txBody>
          <a:bodyPr vert="horz" rtlCol="0">
            <a:spAutoFit/>
          </a:bodyPr>
          <a:lstStyle/>
          <a:p>
            <a:pPr indent="-171450">
              <a:buChar char="•"/>
            </a:pPr>
            <a:r>
              <a:rPr lang="en-GB" sz="1200">
                <a:solidFill>
                  <a:srgbClr val="475569"/>
                </a:solidFill>
                <a:latin typeface="Segoe UI" panose="020B0502040204020203" pitchFamily="34" charset="0"/>
              </a:rPr>
              <a:t>.NET 10 ASP.NET Core Web API</a:t>
            </a:r>
          </a:p>
          <a:p>
            <a:pPr indent="-171450">
              <a:buChar char="•"/>
            </a:pPr>
            <a:r>
              <a:rPr lang="en-GB" sz="1200">
                <a:solidFill>
                  <a:srgbClr val="475569"/>
                </a:solidFill>
                <a:latin typeface="Segoe UI" panose="020B0502040204020203" pitchFamily="34" charset="0"/>
              </a:rPr>
              <a:t>Entity Framework Core 10</a:t>
            </a:r>
          </a:p>
          <a:p>
            <a:pPr indent="-171450">
              <a:buChar char="•"/>
            </a:pPr>
            <a:r>
              <a:rPr lang="en-GB" sz="1200">
                <a:solidFill>
                  <a:srgbClr val="475569"/>
                </a:solidFill>
                <a:latin typeface="Segoe UI" panose="020B0502040204020203" pitchFamily="34" charset="0"/>
              </a:rPr>
              <a:t>JWT Bearer authentication</a:t>
            </a:r>
          </a:p>
          <a:p>
            <a:pPr indent="-171450">
              <a:buChar char="•"/>
            </a:pPr>
            <a:r>
              <a:rPr lang="en-GB" sz="1200">
                <a:solidFill>
                  <a:srgbClr val="475569"/>
                </a:solidFill>
                <a:latin typeface="Segoe UI" panose="020B0502040204020203" pitchFamily="34" charset="0"/>
              </a:rPr>
              <a:t>RabbitMQ.Client 7.2 messaging</a:t>
            </a:r>
          </a:p>
          <a:p>
            <a:pPr indent="-171450">
              <a:buChar char="•"/>
            </a:pPr>
            <a:r>
              <a:rPr lang="en-GB" sz="1200">
                <a:solidFill>
                  <a:srgbClr val="475569"/>
                </a:solidFill>
                <a:latin typeface="Segoe UI" panose="020B0502040204020203" pitchFamily="34" charset="0"/>
              </a:rPr>
              <a:t>SignalR real-time hub</a:t>
            </a:r>
          </a:p>
          <a:p>
            <a:pPr indent="-171450">
              <a:buChar char="•"/>
            </a:pPr>
            <a:r>
              <a:rPr lang="en-GB" sz="1200">
                <a:solidFill>
                  <a:srgbClr val="475569"/>
                </a:solidFill>
                <a:latin typeface="Segoe UI" panose="020B0502040204020203" pitchFamily="34" charset="0"/>
              </a:rPr>
              <a:t>Swashbuckle (Swagger) docs</a:t>
            </a:r>
          </a:p>
          <a:p>
            <a:pPr indent="-171450">
              <a:buChar char="•"/>
            </a:pPr>
            <a:r>
              <a:rPr lang="en-GB" sz="1200">
                <a:solidFill>
                  <a:srgbClr val="475569"/>
                </a:solidFill>
                <a:latin typeface="Segoe UI" panose="020B0502040204020203" pitchFamily="34" charset="0"/>
              </a:rPr>
              <a:t>MSTest + Moq unit tests</a:t>
            </a:r>
          </a:p>
        </p:txBody>
      </p:sp>
      <p:sp>
        <p:nvSpPr>
          <p:cNvPr id="14" name="Rectangle 13">
            <a:extLst>
              <a:ext uri="{FF2B5EF4-FFF2-40B4-BE49-F238E27FC236}">
                <a16:creationId xmlns:a16="http://schemas.microsoft.com/office/drawing/2014/main" id="{50585125-73CF-2660-DDBA-2FBAB3C11E65}"/>
              </a:ext>
            </a:extLst>
          </p:cNvPr>
          <p:cNvSpPr/>
          <p:nvPr/>
        </p:nvSpPr>
        <p:spPr>
          <a:xfrm>
            <a:off x="7924800" y="1879600"/>
            <a:ext cx="3657600" cy="4267200"/>
          </a:xfrm>
          <a:prstGeom prst="rect">
            <a:avLst/>
          </a:prstGeom>
          <a:solidFill>
            <a:srgbClr val="FFFFFF"/>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Rectangle 14">
            <a:extLst>
              <a:ext uri="{FF2B5EF4-FFF2-40B4-BE49-F238E27FC236}">
                <a16:creationId xmlns:a16="http://schemas.microsoft.com/office/drawing/2014/main" id="{E4AA619E-A1F3-BA0C-2750-55332E1DC110}"/>
              </a:ext>
            </a:extLst>
          </p:cNvPr>
          <p:cNvSpPr/>
          <p:nvPr/>
        </p:nvSpPr>
        <p:spPr>
          <a:xfrm>
            <a:off x="7924800" y="1879600"/>
            <a:ext cx="3657600" cy="50800"/>
          </a:xfrm>
          <a:prstGeom prst="rect">
            <a:avLst/>
          </a:prstGeom>
          <a:solidFill>
            <a:srgbClr val="B4530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TextBox 15">
            <a:extLst>
              <a:ext uri="{FF2B5EF4-FFF2-40B4-BE49-F238E27FC236}">
                <a16:creationId xmlns:a16="http://schemas.microsoft.com/office/drawing/2014/main" id="{5444870C-4B57-F35A-6898-F2778E8D32E2}"/>
              </a:ext>
            </a:extLst>
          </p:cNvPr>
          <p:cNvSpPr txBox="1"/>
          <p:nvPr/>
        </p:nvSpPr>
        <p:spPr>
          <a:xfrm>
            <a:off x="8128000" y="2032000"/>
            <a:ext cx="3251200" cy="307777"/>
          </a:xfrm>
          <a:prstGeom prst="rect">
            <a:avLst/>
          </a:prstGeom>
          <a:noFill/>
        </p:spPr>
        <p:txBody>
          <a:bodyPr vert="horz" rtlCol="0">
            <a:spAutoFit/>
          </a:bodyPr>
          <a:lstStyle/>
          <a:p>
            <a:r>
              <a:rPr lang="en-GB" sz="1400" b="1">
                <a:solidFill>
                  <a:srgbClr val="0F172A"/>
                </a:solidFill>
                <a:latin typeface="Segoe UI" panose="020B0502040204020203" pitchFamily="34" charset="0"/>
              </a:rPr>
              <a:t>Data &amp; Infrastructure</a:t>
            </a:r>
          </a:p>
        </p:txBody>
      </p:sp>
      <p:sp>
        <p:nvSpPr>
          <p:cNvPr id="17" name="TextBox 16">
            <a:extLst>
              <a:ext uri="{FF2B5EF4-FFF2-40B4-BE49-F238E27FC236}">
                <a16:creationId xmlns:a16="http://schemas.microsoft.com/office/drawing/2014/main" id="{29208ED6-27B2-70E3-361C-C5BF35210BC2}"/>
              </a:ext>
            </a:extLst>
          </p:cNvPr>
          <p:cNvSpPr txBox="1"/>
          <p:nvPr/>
        </p:nvSpPr>
        <p:spPr>
          <a:xfrm>
            <a:off x="8128000" y="2413000"/>
            <a:ext cx="3276600" cy="1200329"/>
          </a:xfrm>
          <a:prstGeom prst="rect">
            <a:avLst/>
          </a:prstGeom>
          <a:noFill/>
        </p:spPr>
        <p:txBody>
          <a:bodyPr vert="horz" rtlCol="0">
            <a:spAutoFit/>
          </a:bodyPr>
          <a:lstStyle/>
          <a:p>
            <a:pPr indent="-171450">
              <a:buChar char="•"/>
            </a:pPr>
            <a:r>
              <a:rPr lang="en-GB" sz="1200" dirty="0">
                <a:solidFill>
                  <a:srgbClr val="475569"/>
                </a:solidFill>
                <a:latin typeface="Segoe UI" panose="020B0502040204020203" pitchFamily="34" charset="0"/>
              </a:rPr>
              <a:t>SQL Server - code-first migrations</a:t>
            </a:r>
          </a:p>
          <a:p>
            <a:pPr indent="-171450">
              <a:buChar char="•"/>
            </a:pPr>
            <a:r>
              <a:rPr lang="en-GB" sz="1200" dirty="0">
                <a:solidFill>
                  <a:srgbClr val="475569"/>
                </a:solidFill>
                <a:latin typeface="Segoe UI" panose="020B0502040204020203" pitchFamily="34" charset="0"/>
              </a:rPr>
              <a:t>5 entities, seeded dev data</a:t>
            </a:r>
          </a:p>
          <a:p>
            <a:pPr indent="-171450">
              <a:buChar char="•"/>
            </a:pPr>
            <a:r>
              <a:rPr lang="en-GB" sz="1200" dirty="0">
                <a:solidFill>
                  <a:srgbClr val="475569"/>
                </a:solidFill>
                <a:latin typeface="Segoe UI" panose="020B0502040204020203" pitchFamily="34" charset="0"/>
              </a:rPr>
              <a:t>RabbitMQ broker (async queue)</a:t>
            </a:r>
          </a:p>
          <a:p>
            <a:pPr indent="-171450">
              <a:buChar char="•"/>
            </a:pPr>
            <a:r>
              <a:rPr lang="en-GB" sz="1200" dirty="0">
                <a:solidFill>
                  <a:srgbClr val="475569"/>
                </a:solidFill>
                <a:latin typeface="Segoe UI" panose="020B0502040204020203" pitchFamily="34" charset="0"/>
              </a:rPr>
              <a:t>SMTP email delivery</a:t>
            </a:r>
          </a:p>
          <a:p>
            <a:pPr indent="-171450">
              <a:buChar char="•"/>
            </a:pPr>
            <a:r>
              <a:rPr lang="en-GB" sz="1200" dirty="0">
                <a:solidFill>
                  <a:srgbClr val="475569"/>
                </a:solidFill>
                <a:latin typeface="Segoe UI" panose="020B0502040204020203" pitchFamily="34" charset="0"/>
              </a:rPr>
              <a:t>Angular dev proxy </a:t>
            </a:r>
          </a:p>
          <a:p>
            <a:pPr indent="-171450">
              <a:buChar char="•"/>
            </a:pPr>
            <a:r>
              <a:rPr lang="en-GB" sz="1200" dirty="0">
                <a:solidFill>
                  <a:srgbClr val="475569"/>
                </a:solidFill>
                <a:latin typeface="Segoe UI" panose="020B0502040204020203" pitchFamily="34" charset="0"/>
              </a:rPr>
              <a:t>Git version control</a:t>
            </a:r>
          </a:p>
        </p:txBody>
      </p:sp>
      <p:sp>
        <p:nvSpPr>
          <p:cNvPr id="19" name="TextBox 18">
            <a:extLst>
              <a:ext uri="{FF2B5EF4-FFF2-40B4-BE49-F238E27FC236}">
                <a16:creationId xmlns:a16="http://schemas.microsoft.com/office/drawing/2014/main" id="{1CE9A386-4DF8-461C-9D4A-6A65E7480122}"/>
              </a:ext>
            </a:extLst>
          </p:cNvPr>
          <p:cNvSpPr txBox="1"/>
          <p:nvPr/>
        </p:nvSpPr>
        <p:spPr>
          <a:xfrm>
            <a:off x="10312400" y="6527800"/>
            <a:ext cx="1270000" cy="230832"/>
          </a:xfrm>
          <a:prstGeom prst="rect">
            <a:avLst/>
          </a:prstGeom>
          <a:noFill/>
        </p:spPr>
        <p:txBody>
          <a:bodyPr vert="horz" rtlCol="0">
            <a:spAutoFit/>
          </a:bodyPr>
          <a:lstStyle/>
          <a:p>
            <a:pPr algn="r"/>
            <a:r>
              <a:rPr lang="en-GB" sz="900">
                <a:solidFill>
                  <a:srgbClr val="94A3B8"/>
                </a:solidFill>
                <a:latin typeface="Segoe UI" panose="020B0502040204020203" pitchFamily="34" charset="0"/>
              </a:rPr>
              <a:t>6 / 20</a:t>
            </a:r>
          </a:p>
        </p:txBody>
      </p:sp>
    </p:spTree>
    <p:extLst>
      <p:ext uri="{BB962C8B-B14F-4D97-AF65-F5344CB8AC3E}">
        <p14:creationId xmlns:p14="http://schemas.microsoft.com/office/powerpoint/2010/main" val="1648012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6789BC3-F367-5194-24F6-60A5B85BE38B}"/>
              </a:ext>
            </a:extLst>
          </p:cNvPr>
          <p:cNvSpPr/>
          <p:nvPr/>
        </p:nvSpPr>
        <p:spPr>
          <a:xfrm>
            <a:off x="609600" y="584200"/>
            <a:ext cx="88900" cy="635000"/>
          </a:xfrm>
          <a:prstGeom prst="rect">
            <a:avLst/>
          </a:prstGeom>
          <a:solidFill>
            <a:srgbClr val="4F46E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extBox 2">
            <a:extLst>
              <a:ext uri="{FF2B5EF4-FFF2-40B4-BE49-F238E27FC236}">
                <a16:creationId xmlns:a16="http://schemas.microsoft.com/office/drawing/2014/main" id="{BC43B628-4F06-A099-9963-4D3A3DBA8DD1}"/>
              </a:ext>
            </a:extLst>
          </p:cNvPr>
          <p:cNvSpPr txBox="1"/>
          <p:nvPr/>
        </p:nvSpPr>
        <p:spPr>
          <a:xfrm>
            <a:off x="863600" y="558800"/>
            <a:ext cx="9652000" cy="261610"/>
          </a:xfrm>
          <a:prstGeom prst="rect">
            <a:avLst/>
          </a:prstGeom>
          <a:noFill/>
        </p:spPr>
        <p:txBody>
          <a:bodyPr vert="horz" rtlCol="0">
            <a:spAutoFit/>
          </a:bodyPr>
          <a:lstStyle/>
          <a:p>
            <a:r>
              <a:rPr lang="en-GB" sz="1100" b="1">
                <a:solidFill>
                  <a:srgbClr val="4F46E5"/>
                </a:solidFill>
                <a:latin typeface="Segoe UI" panose="020B0502040204020203" pitchFamily="34" charset="0"/>
              </a:rPr>
              <a:t>ARCHITECTURE</a:t>
            </a:r>
          </a:p>
        </p:txBody>
      </p:sp>
      <p:sp>
        <p:nvSpPr>
          <p:cNvPr id="4" name="TextBox 3">
            <a:extLst>
              <a:ext uri="{FF2B5EF4-FFF2-40B4-BE49-F238E27FC236}">
                <a16:creationId xmlns:a16="http://schemas.microsoft.com/office/drawing/2014/main" id="{FC0FB806-E5B2-2289-4EB7-006173BA8A30}"/>
              </a:ext>
            </a:extLst>
          </p:cNvPr>
          <p:cNvSpPr txBox="1"/>
          <p:nvPr/>
        </p:nvSpPr>
        <p:spPr>
          <a:xfrm>
            <a:off x="863600" y="800100"/>
            <a:ext cx="10414000" cy="507831"/>
          </a:xfrm>
          <a:prstGeom prst="rect">
            <a:avLst/>
          </a:prstGeom>
          <a:noFill/>
        </p:spPr>
        <p:txBody>
          <a:bodyPr vert="horz" rtlCol="0">
            <a:spAutoFit/>
          </a:bodyPr>
          <a:lstStyle/>
          <a:p>
            <a:r>
              <a:rPr lang="en-US" sz="2700" b="1">
                <a:solidFill>
                  <a:srgbClr val="0F172A"/>
                </a:solidFill>
                <a:latin typeface="Segoe UI" panose="020B0502040204020203" pitchFamily="34" charset="0"/>
              </a:rPr>
              <a:t>System Architecture - One Integrated System</a:t>
            </a:r>
            <a:endParaRPr lang="en-GB" sz="2700" b="1">
              <a:solidFill>
                <a:srgbClr val="0F172A"/>
              </a:solidFill>
              <a:latin typeface="Segoe UI" panose="020B0502040204020203" pitchFamily="34" charset="0"/>
            </a:endParaRPr>
          </a:p>
        </p:txBody>
      </p:sp>
      <p:sp>
        <p:nvSpPr>
          <p:cNvPr id="5" name="Rectangle 4">
            <a:extLst>
              <a:ext uri="{FF2B5EF4-FFF2-40B4-BE49-F238E27FC236}">
                <a16:creationId xmlns:a16="http://schemas.microsoft.com/office/drawing/2014/main" id="{93CC3ADB-962D-0765-575D-9095FC0FC40B}"/>
              </a:ext>
            </a:extLst>
          </p:cNvPr>
          <p:cNvSpPr/>
          <p:nvPr/>
        </p:nvSpPr>
        <p:spPr>
          <a:xfrm>
            <a:off x="609600" y="1549400"/>
            <a:ext cx="10972800" cy="19050"/>
          </a:xfrm>
          <a:prstGeom prst="rect">
            <a:avLst/>
          </a:prstGeom>
          <a:solidFill>
            <a:srgbClr val="E2E8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7" name="Picture 6">
            <a:extLst>
              <a:ext uri="{FF2B5EF4-FFF2-40B4-BE49-F238E27FC236}">
                <a16:creationId xmlns:a16="http://schemas.microsoft.com/office/drawing/2014/main" id="{5F3F0075-500F-8AD2-709F-C20C6F342A9A}"/>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09600" y="1727200"/>
            <a:ext cx="10972800" cy="6172200"/>
          </a:xfrm>
          <a:prstGeom prst="rect">
            <a:avLst/>
          </a:prstGeom>
        </p:spPr>
      </p:pic>
      <p:sp>
        <p:nvSpPr>
          <p:cNvPr id="9" name="TextBox 8">
            <a:extLst>
              <a:ext uri="{FF2B5EF4-FFF2-40B4-BE49-F238E27FC236}">
                <a16:creationId xmlns:a16="http://schemas.microsoft.com/office/drawing/2014/main" id="{8A019205-CA5F-2F01-B47A-7234F4C299DC}"/>
              </a:ext>
            </a:extLst>
          </p:cNvPr>
          <p:cNvSpPr txBox="1"/>
          <p:nvPr/>
        </p:nvSpPr>
        <p:spPr>
          <a:xfrm>
            <a:off x="10312400" y="6527800"/>
            <a:ext cx="1270000" cy="230832"/>
          </a:xfrm>
          <a:prstGeom prst="rect">
            <a:avLst/>
          </a:prstGeom>
          <a:noFill/>
        </p:spPr>
        <p:txBody>
          <a:bodyPr vert="horz" rtlCol="0">
            <a:spAutoFit/>
          </a:bodyPr>
          <a:lstStyle/>
          <a:p>
            <a:pPr algn="r"/>
            <a:r>
              <a:rPr lang="en-GB" sz="900">
                <a:solidFill>
                  <a:srgbClr val="94A3B8"/>
                </a:solidFill>
                <a:latin typeface="Segoe UI" panose="020B0502040204020203" pitchFamily="34" charset="0"/>
              </a:rPr>
              <a:t>7 / 20</a:t>
            </a:r>
          </a:p>
        </p:txBody>
      </p:sp>
    </p:spTree>
    <p:extLst>
      <p:ext uri="{BB962C8B-B14F-4D97-AF65-F5344CB8AC3E}">
        <p14:creationId xmlns:p14="http://schemas.microsoft.com/office/powerpoint/2010/main" val="17227887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6BE070C-3E27-1FD0-0B18-1B2C956C5DC1}"/>
              </a:ext>
            </a:extLst>
          </p:cNvPr>
          <p:cNvSpPr/>
          <p:nvPr/>
        </p:nvSpPr>
        <p:spPr>
          <a:xfrm>
            <a:off x="609600" y="584200"/>
            <a:ext cx="88900" cy="635000"/>
          </a:xfrm>
          <a:prstGeom prst="rect">
            <a:avLst/>
          </a:prstGeom>
          <a:solidFill>
            <a:srgbClr val="4F46E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extBox 2">
            <a:extLst>
              <a:ext uri="{FF2B5EF4-FFF2-40B4-BE49-F238E27FC236}">
                <a16:creationId xmlns:a16="http://schemas.microsoft.com/office/drawing/2014/main" id="{933AED25-2CA3-0732-F435-F5B9DA9FC1F2}"/>
              </a:ext>
            </a:extLst>
          </p:cNvPr>
          <p:cNvSpPr txBox="1"/>
          <p:nvPr/>
        </p:nvSpPr>
        <p:spPr>
          <a:xfrm>
            <a:off x="863600" y="558800"/>
            <a:ext cx="9652000" cy="261610"/>
          </a:xfrm>
          <a:prstGeom prst="rect">
            <a:avLst/>
          </a:prstGeom>
          <a:noFill/>
        </p:spPr>
        <p:txBody>
          <a:bodyPr vert="horz" rtlCol="0">
            <a:spAutoFit/>
          </a:bodyPr>
          <a:lstStyle/>
          <a:p>
            <a:r>
              <a:rPr lang="en-GB" sz="1100" b="1">
                <a:solidFill>
                  <a:srgbClr val="4F46E5"/>
                </a:solidFill>
                <a:latin typeface="Segoe UI" panose="020B0502040204020203" pitchFamily="34" charset="0"/>
              </a:rPr>
              <a:t>FRONTEND</a:t>
            </a:r>
          </a:p>
        </p:txBody>
      </p:sp>
      <p:sp>
        <p:nvSpPr>
          <p:cNvPr id="4" name="TextBox 3">
            <a:extLst>
              <a:ext uri="{FF2B5EF4-FFF2-40B4-BE49-F238E27FC236}">
                <a16:creationId xmlns:a16="http://schemas.microsoft.com/office/drawing/2014/main" id="{C7385DF4-1520-CD4C-7887-D7EEAAA05EE6}"/>
              </a:ext>
            </a:extLst>
          </p:cNvPr>
          <p:cNvSpPr txBox="1"/>
          <p:nvPr/>
        </p:nvSpPr>
        <p:spPr>
          <a:xfrm>
            <a:off x="863600" y="800100"/>
            <a:ext cx="10414000" cy="507831"/>
          </a:xfrm>
          <a:prstGeom prst="rect">
            <a:avLst/>
          </a:prstGeom>
          <a:noFill/>
        </p:spPr>
        <p:txBody>
          <a:bodyPr vert="horz" rtlCol="0">
            <a:spAutoFit/>
          </a:bodyPr>
          <a:lstStyle/>
          <a:p>
            <a:r>
              <a:rPr lang="en-GB" sz="2700" b="1">
                <a:solidFill>
                  <a:srgbClr val="0F172A"/>
                </a:solidFill>
                <a:latin typeface="Segoe UI" panose="020B0502040204020203" pitchFamily="34" charset="0"/>
              </a:rPr>
              <a:t>Frontend Architecture (Angular 21)</a:t>
            </a:r>
          </a:p>
        </p:txBody>
      </p:sp>
      <p:sp>
        <p:nvSpPr>
          <p:cNvPr id="5" name="Rectangle 4">
            <a:extLst>
              <a:ext uri="{FF2B5EF4-FFF2-40B4-BE49-F238E27FC236}">
                <a16:creationId xmlns:a16="http://schemas.microsoft.com/office/drawing/2014/main" id="{01778A45-B3F5-358D-B20E-584717507804}"/>
              </a:ext>
            </a:extLst>
          </p:cNvPr>
          <p:cNvSpPr/>
          <p:nvPr/>
        </p:nvSpPr>
        <p:spPr>
          <a:xfrm>
            <a:off x="609600" y="1549400"/>
            <a:ext cx="10972800" cy="19050"/>
          </a:xfrm>
          <a:prstGeom prst="rect">
            <a:avLst/>
          </a:prstGeom>
          <a:solidFill>
            <a:srgbClr val="E2E8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7" name="Picture 6">
            <a:extLst>
              <a:ext uri="{FF2B5EF4-FFF2-40B4-BE49-F238E27FC236}">
                <a16:creationId xmlns:a16="http://schemas.microsoft.com/office/drawing/2014/main" id="{599BE2F0-B3DF-5ACA-E3D3-F5EBB24790F6}"/>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09600" y="1727200"/>
            <a:ext cx="10972800" cy="6172200"/>
          </a:xfrm>
          <a:prstGeom prst="rect">
            <a:avLst/>
          </a:prstGeom>
        </p:spPr>
      </p:pic>
      <p:sp>
        <p:nvSpPr>
          <p:cNvPr id="9" name="TextBox 8">
            <a:extLst>
              <a:ext uri="{FF2B5EF4-FFF2-40B4-BE49-F238E27FC236}">
                <a16:creationId xmlns:a16="http://schemas.microsoft.com/office/drawing/2014/main" id="{47F800F3-0B6E-5650-7D3B-28EB139B5C5C}"/>
              </a:ext>
            </a:extLst>
          </p:cNvPr>
          <p:cNvSpPr txBox="1"/>
          <p:nvPr/>
        </p:nvSpPr>
        <p:spPr>
          <a:xfrm>
            <a:off x="10312400" y="6527800"/>
            <a:ext cx="1270000" cy="230832"/>
          </a:xfrm>
          <a:prstGeom prst="rect">
            <a:avLst/>
          </a:prstGeom>
          <a:noFill/>
        </p:spPr>
        <p:txBody>
          <a:bodyPr vert="horz" rtlCol="0">
            <a:spAutoFit/>
          </a:bodyPr>
          <a:lstStyle/>
          <a:p>
            <a:pPr algn="r"/>
            <a:r>
              <a:rPr lang="en-GB" sz="900">
                <a:solidFill>
                  <a:srgbClr val="94A3B8"/>
                </a:solidFill>
                <a:latin typeface="Segoe UI" panose="020B0502040204020203" pitchFamily="34" charset="0"/>
              </a:rPr>
              <a:t>8 / 20</a:t>
            </a:r>
          </a:p>
        </p:txBody>
      </p:sp>
    </p:spTree>
    <p:extLst>
      <p:ext uri="{BB962C8B-B14F-4D97-AF65-F5344CB8AC3E}">
        <p14:creationId xmlns:p14="http://schemas.microsoft.com/office/powerpoint/2010/main" val="41859726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FF78DF9-99E1-F268-B54F-A8BE7C1AC9F8}"/>
              </a:ext>
            </a:extLst>
          </p:cNvPr>
          <p:cNvSpPr/>
          <p:nvPr/>
        </p:nvSpPr>
        <p:spPr>
          <a:xfrm>
            <a:off x="609600" y="584200"/>
            <a:ext cx="88900" cy="635000"/>
          </a:xfrm>
          <a:prstGeom prst="rect">
            <a:avLst/>
          </a:prstGeom>
          <a:solidFill>
            <a:srgbClr val="4F46E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extBox 2">
            <a:extLst>
              <a:ext uri="{FF2B5EF4-FFF2-40B4-BE49-F238E27FC236}">
                <a16:creationId xmlns:a16="http://schemas.microsoft.com/office/drawing/2014/main" id="{7D48A4AE-819E-DF75-EFFC-35244BAF1EE1}"/>
              </a:ext>
            </a:extLst>
          </p:cNvPr>
          <p:cNvSpPr txBox="1"/>
          <p:nvPr/>
        </p:nvSpPr>
        <p:spPr>
          <a:xfrm>
            <a:off x="863600" y="558800"/>
            <a:ext cx="9652000" cy="261610"/>
          </a:xfrm>
          <a:prstGeom prst="rect">
            <a:avLst/>
          </a:prstGeom>
          <a:noFill/>
        </p:spPr>
        <p:txBody>
          <a:bodyPr vert="horz" rtlCol="0">
            <a:spAutoFit/>
          </a:bodyPr>
          <a:lstStyle/>
          <a:p>
            <a:r>
              <a:rPr lang="en-GB" sz="1100" b="1">
                <a:solidFill>
                  <a:srgbClr val="4F46E5"/>
                </a:solidFill>
                <a:latin typeface="Segoe UI" panose="020B0502040204020203" pitchFamily="34" charset="0"/>
              </a:rPr>
              <a:t>BACKEND</a:t>
            </a:r>
          </a:p>
        </p:txBody>
      </p:sp>
      <p:sp>
        <p:nvSpPr>
          <p:cNvPr id="4" name="TextBox 3">
            <a:extLst>
              <a:ext uri="{FF2B5EF4-FFF2-40B4-BE49-F238E27FC236}">
                <a16:creationId xmlns:a16="http://schemas.microsoft.com/office/drawing/2014/main" id="{01CF123D-977F-FAF7-2928-972C4B0DE5AF}"/>
              </a:ext>
            </a:extLst>
          </p:cNvPr>
          <p:cNvSpPr txBox="1"/>
          <p:nvPr/>
        </p:nvSpPr>
        <p:spPr>
          <a:xfrm>
            <a:off x="863600" y="800100"/>
            <a:ext cx="10414000" cy="507831"/>
          </a:xfrm>
          <a:prstGeom prst="rect">
            <a:avLst/>
          </a:prstGeom>
          <a:noFill/>
        </p:spPr>
        <p:txBody>
          <a:bodyPr vert="horz" rtlCol="0">
            <a:spAutoFit/>
          </a:bodyPr>
          <a:lstStyle/>
          <a:p>
            <a:r>
              <a:rPr lang="en-GB" sz="2700" b="1">
                <a:solidFill>
                  <a:srgbClr val="0F172A"/>
                </a:solidFill>
                <a:latin typeface="Segoe UI" panose="020B0502040204020203" pitchFamily="34" charset="0"/>
              </a:rPr>
              <a:t>Backend Architecture (.NET 10 N-Tier)</a:t>
            </a:r>
          </a:p>
        </p:txBody>
      </p:sp>
      <p:sp>
        <p:nvSpPr>
          <p:cNvPr id="5" name="Rectangle 4">
            <a:extLst>
              <a:ext uri="{FF2B5EF4-FFF2-40B4-BE49-F238E27FC236}">
                <a16:creationId xmlns:a16="http://schemas.microsoft.com/office/drawing/2014/main" id="{C43B2359-AF8B-BEA4-8547-DAC31FD75D54}"/>
              </a:ext>
            </a:extLst>
          </p:cNvPr>
          <p:cNvSpPr/>
          <p:nvPr/>
        </p:nvSpPr>
        <p:spPr>
          <a:xfrm>
            <a:off x="609600" y="1549400"/>
            <a:ext cx="10972800" cy="19050"/>
          </a:xfrm>
          <a:prstGeom prst="rect">
            <a:avLst/>
          </a:prstGeom>
          <a:solidFill>
            <a:srgbClr val="E2E8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7" name="Picture 6">
            <a:extLst>
              <a:ext uri="{FF2B5EF4-FFF2-40B4-BE49-F238E27FC236}">
                <a16:creationId xmlns:a16="http://schemas.microsoft.com/office/drawing/2014/main" id="{75A05A49-9791-CB96-CD16-81F609D84AA6}"/>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09600" y="1727200"/>
            <a:ext cx="10972800" cy="6172200"/>
          </a:xfrm>
          <a:prstGeom prst="rect">
            <a:avLst/>
          </a:prstGeom>
        </p:spPr>
      </p:pic>
      <p:sp>
        <p:nvSpPr>
          <p:cNvPr id="9" name="TextBox 8">
            <a:extLst>
              <a:ext uri="{FF2B5EF4-FFF2-40B4-BE49-F238E27FC236}">
                <a16:creationId xmlns:a16="http://schemas.microsoft.com/office/drawing/2014/main" id="{F8D0F59E-546D-C982-5426-D8E332A4606B}"/>
              </a:ext>
            </a:extLst>
          </p:cNvPr>
          <p:cNvSpPr txBox="1"/>
          <p:nvPr/>
        </p:nvSpPr>
        <p:spPr>
          <a:xfrm>
            <a:off x="10312400" y="6527800"/>
            <a:ext cx="1270000" cy="230832"/>
          </a:xfrm>
          <a:prstGeom prst="rect">
            <a:avLst/>
          </a:prstGeom>
          <a:noFill/>
        </p:spPr>
        <p:txBody>
          <a:bodyPr vert="horz" rtlCol="0">
            <a:spAutoFit/>
          </a:bodyPr>
          <a:lstStyle/>
          <a:p>
            <a:pPr algn="r"/>
            <a:r>
              <a:rPr lang="en-GB" sz="900">
                <a:solidFill>
                  <a:srgbClr val="94A3B8"/>
                </a:solidFill>
                <a:latin typeface="Segoe UI" panose="020B0502040204020203" pitchFamily="34" charset="0"/>
              </a:rPr>
              <a:t>9 / 20</a:t>
            </a:r>
          </a:p>
        </p:txBody>
      </p:sp>
    </p:spTree>
    <p:extLst>
      <p:ext uri="{BB962C8B-B14F-4D97-AF65-F5344CB8AC3E}">
        <p14:creationId xmlns:p14="http://schemas.microsoft.com/office/powerpoint/2010/main" val="4781946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9384981-020F-5B52-5A4F-53F6B80731F9}"/>
              </a:ext>
            </a:extLst>
          </p:cNvPr>
          <p:cNvSpPr/>
          <p:nvPr/>
        </p:nvSpPr>
        <p:spPr>
          <a:xfrm>
            <a:off x="609600" y="584200"/>
            <a:ext cx="88900" cy="635000"/>
          </a:xfrm>
          <a:prstGeom prst="rect">
            <a:avLst/>
          </a:prstGeom>
          <a:solidFill>
            <a:srgbClr val="4F46E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extBox 2">
            <a:extLst>
              <a:ext uri="{FF2B5EF4-FFF2-40B4-BE49-F238E27FC236}">
                <a16:creationId xmlns:a16="http://schemas.microsoft.com/office/drawing/2014/main" id="{1BED4392-EAD6-9D06-F2CB-0B7751ADFFE5}"/>
              </a:ext>
            </a:extLst>
          </p:cNvPr>
          <p:cNvSpPr txBox="1"/>
          <p:nvPr/>
        </p:nvSpPr>
        <p:spPr>
          <a:xfrm>
            <a:off x="863600" y="558800"/>
            <a:ext cx="9652000" cy="261610"/>
          </a:xfrm>
          <a:prstGeom prst="rect">
            <a:avLst/>
          </a:prstGeom>
          <a:noFill/>
        </p:spPr>
        <p:txBody>
          <a:bodyPr vert="horz" rtlCol="0">
            <a:spAutoFit/>
          </a:bodyPr>
          <a:lstStyle/>
          <a:p>
            <a:r>
              <a:rPr lang="en-GB" sz="1100" b="1">
                <a:solidFill>
                  <a:srgbClr val="4F46E5"/>
                </a:solidFill>
                <a:latin typeface="Segoe UI" panose="020B0502040204020203" pitchFamily="34" charset="0"/>
              </a:rPr>
              <a:t>DATABASE</a:t>
            </a:r>
          </a:p>
        </p:txBody>
      </p:sp>
      <p:sp>
        <p:nvSpPr>
          <p:cNvPr id="4" name="TextBox 3">
            <a:extLst>
              <a:ext uri="{FF2B5EF4-FFF2-40B4-BE49-F238E27FC236}">
                <a16:creationId xmlns:a16="http://schemas.microsoft.com/office/drawing/2014/main" id="{74F41F3D-7C20-8150-BEC2-CE7E89DB63C0}"/>
              </a:ext>
            </a:extLst>
          </p:cNvPr>
          <p:cNvSpPr txBox="1"/>
          <p:nvPr/>
        </p:nvSpPr>
        <p:spPr>
          <a:xfrm>
            <a:off x="863600" y="800100"/>
            <a:ext cx="10414000" cy="507831"/>
          </a:xfrm>
          <a:prstGeom prst="rect">
            <a:avLst/>
          </a:prstGeom>
          <a:noFill/>
        </p:spPr>
        <p:txBody>
          <a:bodyPr vert="horz" rtlCol="0">
            <a:spAutoFit/>
          </a:bodyPr>
          <a:lstStyle/>
          <a:p>
            <a:r>
              <a:rPr lang="en-GB" sz="2700" b="1">
                <a:solidFill>
                  <a:srgbClr val="0F172A"/>
                </a:solidFill>
                <a:latin typeface="Segoe UI" panose="020B0502040204020203" pitchFamily="34" charset="0"/>
              </a:rPr>
              <a:t>Database Design - 5 Entities</a:t>
            </a:r>
          </a:p>
        </p:txBody>
      </p:sp>
      <p:sp>
        <p:nvSpPr>
          <p:cNvPr id="5" name="Rectangle 4">
            <a:extLst>
              <a:ext uri="{FF2B5EF4-FFF2-40B4-BE49-F238E27FC236}">
                <a16:creationId xmlns:a16="http://schemas.microsoft.com/office/drawing/2014/main" id="{9C42FEA9-BB18-68B3-F635-AE90E8BA6707}"/>
              </a:ext>
            </a:extLst>
          </p:cNvPr>
          <p:cNvSpPr/>
          <p:nvPr/>
        </p:nvSpPr>
        <p:spPr>
          <a:xfrm>
            <a:off x="609600" y="1549400"/>
            <a:ext cx="10972800" cy="19050"/>
          </a:xfrm>
          <a:prstGeom prst="rect">
            <a:avLst/>
          </a:prstGeom>
          <a:solidFill>
            <a:srgbClr val="E2E8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7" name="Picture 6">
            <a:extLst>
              <a:ext uri="{FF2B5EF4-FFF2-40B4-BE49-F238E27FC236}">
                <a16:creationId xmlns:a16="http://schemas.microsoft.com/office/drawing/2014/main" id="{53604F54-242C-A5C2-6B49-95FADA74BBA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09600" y="1727200"/>
            <a:ext cx="10972800" cy="6172200"/>
          </a:xfrm>
          <a:prstGeom prst="rect">
            <a:avLst/>
          </a:prstGeom>
        </p:spPr>
      </p:pic>
      <p:sp>
        <p:nvSpPr>
          <p:cNvPr id="9" name="TextBox 8">
            <a:extLst>
              <a:ext uri="{FF2B5EF4-FFF2-40B4-BE49-F238E27FC236}">
                <a16:creationId xmlns:a16="http://schemas.microsoft.com/office/drawing/2014/main" id="{BF972EB4-1BB8-BC53-A61B-BD8E9F09711B}"/>
              </a:ext>
            </a:extLst>
          </p:cNvPr>
          <p:cNvSpPr txBox="1"/>
          <p:nvPr/>
        </p:nvSpPr>
        <p:spPr>
          <a:xfrm>
            <a:off x="10312400" y="6527800"/>
            <a:ext cx="1270000" cy="230832"/>
          </a:xfrm>
          <a:prstGeom prst="rect">
            <a:avLst/>
          </a:prstGeom>
          <a:noFill/>
        </p:spPr>
        <p:txBody>
          <a:bodyPr vert="horz" rtlCol="0">
            <a:spAutoFit/>
          </a:bodyPr>
          <a:lstStyle/>
          <a:p>
            <a:pPr algn="r"/>
            <a:r>
              <a:rPr lang="en-GB" sz="900">
                <a:solidFill>
                  <a:srgbClr val="94A3B8"/>
                </a:solidFill>
                <a:latin typeface="Segoe UI" panose="020B0502040204020203" pitchFamily="34" charset="0"/>
              </a:rPr>
              <a:t>10 / 20</a:t>
            </a:r>
          </a:p>
        </p:txBody>
      </p:sp>
    </p:spTree>
    <p:extLst>
      <p:ext uri="{BB962C8B-B14F-4D97-AF65-F5344CB8AC3E}">
        <p14:creationId xmlns:p14="http://schemas.microsoft.com/office/powerpoint/2010/main" val="31659113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CC230F7-410A-4BFD-2DB7-4D1D20585A99}"/>
              </a:ext>
            </a:extLst>
          </p:cNvPr>
          <p:cNvSpPr/>
          <p:nvPr/>
        </p:nvSpPr>
        <p:spPr>
          <a:xfrm>
            <a:off x="609600" y="584200"/>
            <a:ext cx="88900" cy="635000"/>
          </a:xfrm>
          <a:prstGeom prst="rect">
            <a:avLst/>
          </a:prstGeom>
          <a:solidFill>
            <a:srgbClr val="4F46E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extBox 2">
            <a:extLst>
              <a:ext uri="{FF2B5EF4-FFF2-40B4-BE49-F238E27FC236}">
                <a16:creationId xmlns:a16="http://schemas.microsoft.com/office/drawing/2014/main" id="{1F35944F-8F64-A38D-2ED2-C75E73A11306}"/>
              </a:ext>
            </a:extLst>
          </p:cNvPr>
          <p:cNvSpPr txBox="1"/>
          <p:nvPr/>
        </p:nvSpPr>
        <p:spPr>
          <a:xfrm>
            <a:off x="863600" y="558800"/>
            <a:ext cx="9652000" cy="261610"/>
          </a:xfrm>
          <a:prstGeom prst="rect">
            <a:avLst/>
          </a:prstGeom>
          <a:noFill/>
        </p:spPr>
        <p:txBody>
          <a:bodyPr vert="horz" rtlCol="0">
            <a:spAutoFit/>
          </a:bodyPr>
          <a:lstStyle/>
          <a:p>
            <a:r>
              <a:rPr lang="en-GB" sz="1100" b="1">
                <a:solidFill>
                  <a:srgbClr val="4F46E5"/>
                </a:solidFill>
                <a:latin typeface="Segoe UI" panose="020B0502040204020203" pitchFamily="34" charset="0"/>
              </a:rPr>
              <a:t>SECURITY FLOW</a:t>
            </a:r>
          </a:p>
        </p:txBody>
      </p:sp>
      <p:sp>
        <p:nvSpPr>
          <p:cNvPr id="4" name="TextBox 3">
            <a:extLst>
              <a:ext uri="{FF2B5EF4-FFF2-40B4-BE49-F238E27FC236}">
                <a16:creationId xmlns:a16="http://schemas.microsoft.com/office/drawing/2014/main" id="{F8C632BF-C39F-30FE-2203-A66076B7881C}"/>
              </a:ext>
            </a:extLst>
          </p:cNvPr>
          <p:cNvSpPr txBox="1"/>
          <p:nvPr/>
        </p:nvSpPr>
        <p:spPr>
          <a:xfrm>
            <a:off x="863600" y="800100"/>
            <a:ext cx="10414000" cy="507831"/>
          </a:xfrm>
          <a:prstGeom prst="rect">
            <a:avLst/>
          </a:prstGeom>
          <a:noFill/>
        </p:spPr>
        <p:txBody>
          <a:bodyPr vert="horz" rtlCol="0">
            <a:spAutoFit/>
          </a:bodyPr>
          <a:lstStyle/>
          <a:p>
            <a:r>
              <a:rPr lang="en-GB" sz="2700" b="1">
                <a:solidFill>
                  <a:srgbClr val="0F172A"/>
                </a:solidFill>
                <a:latin typeface="Segoe UI" panose="020B0502040204020203" pitchFamily="34" charset="0"/>
              </a:rPr>
              <a:t>Authentication &amp; Authorization - JWT</a:t>
            </a:r>
          </a:p>
        </p:txBody>
      </p:sp>
      <p:sp>
        <p:nvSpPr>
          <p:cNvPr id="5" name="Rectangle 4">
            <a:extLst>
              <a:ext uri="{FF2B5EF4-FFF2-40B4-BE49-F238E27FC236}">
                <a16:creationId xmlns:a16="http://schemas.microsoft.com/office/drawing/2014/main" id="{7B5BCFBF-570F-B365-C609-4F713423D782}"/>
              </a:ext>
            </a:extLst>
          </p:cNvPr>
          <p:cNvSpPr/>
          <p:nvPr/>
        </p:nvSpPr>
        <p:spPr>
          <a:xfrm>
            <a:off x="609600" y="1549400"/>
            <a:ext cx="10972800" cy="19050"/>
          </a:xfrm>
          <a:prstGeom prst="rect">
            <a:avLst/>
          </a:prstGeom>
          <a:solidFill>
            <a:srgbClr val="E2E8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7" name="Picture 6">
            <a:extLst>
              <a:ext uri="{FF2B5EF4-FFF2-40B4-BE49-F238E27FC236}">
                <a16:creationId xmlns:a16="http://schemas.microsoft.com/office/drawing/2014/main" id="{88A92E13-D374-5EC1-D243-027FB2C908A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09600" y="1727200"/>
            <a:ext cx="10972800" cy="6172200"/>
          </a:xfrm>
          <a:prstGeom prst="rect">
            <a:avLst/>
          </a:prstGeom>
        </p:spPr>
      </p:pic>
      <p:sp>
        <p:nvSpPr>
          <p:cNvPr id="9" name="TextBox 8">
            <a:extLst>
              <a:ext uri="{FF2B5EF4-FFF2-40B4-BE49-F238E27FC236}">
                <a16:creationId xmlns:a16="http://schemas.microsoft.com/office/drawing/2014/main" id="{E863299C-2507-1C75-1463-0E2F8F95F361}"/>
              </a:ext>
            </a:extLst>
          </p:cNvPr>
          <p:cNvSpPr txBox="1"/>
          <p:nvPr/>
        </p:nvSpPr>
        <p:spPr>
          <a:xfrm>
            <a:off x="10312400" y="6527800"/>
            <a:ext cx="1270000" cy="230832"/>
          </a:xfrm>
          <a:prstGeom prst="rect">
            <a:avLst/>
          </a:prstGeom>
          <a:noFill/>
        </p:spPr>
        <p:txBody>
          <a:bodyPr vert="horz" rtlCol="0">
            <a:spAutoFit/>
          </a:bodyPr>
          <a:lstStyle/>
          <a:p>
            <a:pPr algn="r"/>
            <a:r>
              <a:rPr lang="en-GB" sz="900">
                <a:solidFill>
                  <a:srgbClr val="94A3B8"/>
                </a:solidFill>
                <a:latin typeface="Segoe UI" panose="020B0502040204020203" pitchFamily="34" charset="0"/>
              </a:rPr>
              <a:t>11 / 20</a:t>
            </a:r>
          </a:p>
        </p:txBody>
      </p:sp>
    </p:spTree>
    <p:extLst>
      <p:ext uri="{BB962C8B-B14F-4D97-AF65-F5344CB8AC3E}">
        <p14:creationId xmlns:p14="http://schemas.microsoft.com/office/powerpoint/2010/main" val="28104881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A2C092F-18A7-146E-DBAC-77FDCCAA35BD}"/>
              </a:ext>
            </a:extLst>
          </p:cNvPr>
          <p:cNvSpPr/>
          <p:nvPr/>
        </p:nvSpPr>
        <p:spPr>
          <a:xfrm>
            <a:off x="609600" y="584200"/>
            <a:ext cx="88900" cy="635000"/>
          </a:xfrm>
          <a:prstGeom prst="rect">
            <a:avLst/>
          </a:prstGeom>
          <a:solidFill>
            <a:srgbClr val="4F46E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extBox 2">
            <a:extLst>
              <a:ext uri="{FF2B5EF4-FFF2-40B4-BE49-F238E27FC236}">
                <a16:creationId xmlns:a16="http://schemas.microsoft.com/office/drawing/2014/main" id="{27E86D50-CF2A-4721-BED9-6006C54F6877}"/>
              </a:ext>
            </a:extLst>
          </p:cNvPr>
          <p:cNvSpPr txBox="1"/>
          <p:nvPr/>
        </p:nvSpPr>
        <p:spPr>
          <a:xfrm>
            <a:off x="863600" y="558800"/>
            <a:ext cx="9652000" cy="261610"/>
          </a:xfrm>
          <a:prstGeom prst="rect">
            <a:avLst/>
          </a:prstGeom>
          <a:noFill/>
        </p:spPr>
        <p:txBody>
          <a:bodyPr vert="horz" rtlCol="0">
            <a:spAutoFit/>
          </a:bodyPr>
          <a:lstStyle/>
          <a:p>
            <a:r>
              <a:rPr lang="en-GB" sz="1100" b="1">
                <a:solidFill>
                  <a:srgbClr val="4F46E5"/>
                </a:solidFill>
                <a:latin typeface="Segoe UI" panose="020B0502040204020203" pitchFamily="34" charset="0"/>
              </a:rPr>
              <a:t>INTEGRATION</a:t>
            </a:r>
          </a:p>
        </p:txBody>
      </p:sp>
      <p:sp>
        <p:nvSpPr>
          <p:cNvPr id="4" name="TextBox 3">
            <a:extLst>
              <a:ext uri="{FF2B5EF4-FFF2-40B4-BE49-F238E27FC236}">
                <a16:creationId xmlns:a16="http://schemas.microsoft.com/office/drawing/2014/main" id="{7F14F6D5-81BB-7139-03A2-5394EE0486AE}"/>
              </a:ext>
            </a:extLst>
          </p:cNvPr>
          <p:cNvSpPr txBox="1"/>
          <p:nvPr/>
        </p:nvSpPr>
        <p:spPr>
          <a:xfrm>
            <a:off x="863600" y="800100"/>
            <a:ext cx="10414000" cy="507831"/>
          </a:xfrm>
          <a:prstGeom prst="rect">
            <a:avLst/>
          </a:prstGeom>
          <a:noFill/>
        </p:spPr>
        <p:txBody>
          <a:bodyPr vert="horz" rtlCol="0">
            <a:spAutoFit/>
          </a:bodyPr>
          <a:lstStyle/>
          <a:p>
            <a:r>
              <a:rPr lang="en-US" sz="2700" b="1">
                <a:solidFill>
                  <a:srgbClr val="0F172A"/>
                </a:solidFill>
                <a:latin typeface="Segoe UI" panose="020B0502040204020203" pitchFamily="34" charset="0"/>
              </a:rPr>
              <a:t>Frontend and Backend - a Real Request Trace</a:t>
            </a:r>
            <a:endParaRPr lang="en-GB" sz="2700" b="1">
              <a:solidFill>
                <a:srgbClr val="0F172A"/>
              </a:solidFill>
              <a:latin typeface="Segoe UI" panose="020B0502040204020203" pitchFamily="34" charset="0"/>
            </a:endParaRPr>
          </a:p>
        </p:txBody>
      </p:sp>
      <p:sp>
        <p:nvSpPr>
          <p:cNvPr id="5" name="Rectangle 4">
            <a:extLst>
              <a:ext uri="{FF2B5EF4-FFF2-40B4-BE49-F238E27FC236}">
                <a16:creationId xmlns:a16="http://schemas.microsoft.com/office/drawing/2014/main" id="{089D97AA-89FA-FB05-CA96-543502FF2E26}"/>
              </a:ext>
            </a:extLst>
          </p:cNvPr>
          <p:cNvSpPr/>
          <p:nvPr/>
        </p:nvSpPr>
        <p:spPr>
          <a:xfrm>
            <a:off x="609600" y="1549400"/>
            <a:ext cx="10972800" cy="19050"/>
          </a:xfrm>
          <a:prstGeom prst="rect">
            <a:avLst/>
          </a:prstGeom>
          <a:solidFill>
            <a:srgbClr val="E2E8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7" name="Picture 6">
            <a:extLst>
              <a:ext uri="{FF2B5EF4-FFF2-40B4-BE49-F238E27FC236}">
                <a16:creationId xmlns:a16="http://schemas.microsoft.com/office/drawing/2014/main" id="{3B0ABB56-9EC2-54C2-1BF8-778C1F3E98A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09600" y="1727200"/>
            <a:ext cx="10972800" cy="6172200"/>
          </a:xfrm>
          <a:prstGeom prst="rect">
            <a:avLst/>
          </a:prstGeom>
        </p:spPr>
      </p:pic>
      <p:sp>
        <p:nvSpPr>
          <p:cNvPr id="9" name="TextBox 8">
            <a:extLst>
              <a:ext uri="{FF2B5EF4-FFF2-40B4-BE49-F238E27FC236}">
                <a16:creationId xmlns:a16="http://schemas.microsoft.com/office/drawing/2014/main" id="{5E34A82B-013D-753D-C30F-FAD35802C31B}"/>
              </a:ext>
            </a:extLst>
          </p:cNvPr>
          <p:cNvSpPr txBox="1"/>
          <p:nvPr/>
        </p:nvSpPr>
        <p:spPr>
          <a:xfrm>
            <a:off x="10312400" y="6527800"/>
            <a:ext cx="1270000" cy="230832"/>
          </a:xfrm>
          <a:prstGeom prst="rect">
            <a:avLst/>
          </a:prstGeom>
          <a:noFill/>
        </p:spPr>
        <p:txBody>
          <a:bodyPr vert="horz" rtlCol="0">
            <a:spAutoFit/>
          </a:bodyPr>
          <a:lstStyle/>
          <a:p>
            <a:pPr algn="r"/>
            <a:r>
              <a:rPr lang="en-GB" sz="900">
                <a:solidFill>
                  <a:srgbClr val="94A3B8"/>
                </a:solidFill>
                <a:latin typeface="Segoe UI" panose="020B0502040204020203" pitchFamily="34" charset="0"/>
              </a:rPr>
              <a:t>12 / 20</a:t>
            </a:r>
          </a:p>
        </p:txBody>
      </p:sp>
    </p:spTree>
    <p:extLst>
      <p:ext uri="{BB962C8B-B14F-4D97-AF65-F5344CB8AC3E}">
        <p14:creationId xmlns:p14="http://schemas.microsoft.com/office/powerpoint/2010/main" val="12053934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A2C092F-18A7-146E-DBAC-77FDCCAA35BD}"/>
              </a:ext>
            </a:extLst>
          </p:cNvPr>
          <p:cNvSpPr/>
          <p:nvPr/>
        </p:nvSpPr>
        <p:spPr>
          <a:xfrm>
            <a:off x="609600" y="584200"/>
            <a:ext cx="88900" cy="635000"/>
          </a:xfrm>
          <a:prstGeom prst="rect">
            <a:avLst/>
          </a:prstGeom>
          <a:solidFill>
            <a:srgbClr val="4F46E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extBox 2">
            <a:extLst>
              <a:ext uri="{FF2B5EF4-FFF2-40B4-BE49-F238E27FC236}">
                <a16:creationId xmlns:a16="http://schemas.microsoft.com/office/drawing/2014/main" id="{27E86D50-CF2A-4721-BED9-6006C54F6877}"/>
              </a:ext>
            </a:extLst>
          </p:cNvPr>
          <p:cNvSpPr txBox="1"/>
          <p:nvPr/>
        </p:nvSpPr>
        <p:spPr>
          <a:xfrm>
            <a:off x="863600" y="558800"/>
            <a:ext cx="9652000" cy="261610"/>
          </a:xfrm>
          <a:prstGeom prst="rect">
            <a:avLst/>
          </a:prstGeom>
          <a:noFill/>
        </p:spPr>
        <p:txBody>
          <a:bodyPr vert="horz" rtlCol="0">
            <a:spAutoFit/>
          </a:bodyPr>
          <a:lstStyle/>
          <a:p>
            <a:r>
              <a:rPr lang="en-GB" sz="1100" b="1">
                <a:solidFill>
                  <a:srgbClr val="4F46E5"/>
                </a:solidFill>
                <a:latin typeface="Segoe UI" panose="020B0502040204020203" pitchFamily="34" charset="0"/>
              </a:rPr>
              <a:t>GATEWAY</a:t>
            </a:r>
          </a:p>
        </p:txBody>
      </p:sp>
      <p:sp>
        <p:nvSpPr>
          <p:cNvPr id="4" name="TextBox 3">
            <a:extLst>
              <a:ext uri="{FF2B5EF4-FFF2-40B4-BE49-F238E27FC236}">
                <a16:creationId xmlns:a16="http://schemas.microsoft.com/office/drawing/2014/main" id="{7F14F6D5-81BB-7139-03A2-5394EE0486AE}"/>
              </a:ext>
            </a:extLst>
          </p:cNvPr>
          <p:cNvSpPr txBox="1"/>
          <p:nvPr/>
        </p:nvSpPr>
        <p:spPr>
          <a:xfrm>
            <a:off x="863600" y="800100"/>
            <a:ext cx="10414000" cy="507831"/>
          </a:xfrm>
          <a:prstGeom prst="rect">
            <a:avLst/>
          </a:prstGeom>
          <a:noFill/>
        </p:spPr>
        <p:txBody>
          <a:bodyPr vert="horz" rtlCol="0">
            <a:spAutoFit/>
          </a:bodyPr>
          <a:lstStyle/>
          <a:p>
            <a:r>
              <a:rPr lang="en-US" sz="2700" b="1">
                <a:solidFill>
                  <a:srgbClr val="0F172A"/>
                </a:solidFill>
                <a:latin typeface="Segoe UI" panose="020B0502040204020203" pitchFamily="34" charset="0"/>
              </a:rPr>
              <a:t>WSO2 + ngrok - One Secured Entry Point</a:t>
            </a:r>
            <a:endParaRPr lang="en-GB" sz="2700" b="1">
              <a:solidFill>
                <a:srgbClr val="0F172A"/>
              </a:solidFill>
              <a:latin typeface="Segoe UI" panose="020B0502040204020203" pitchFamily="34" charset="0"/>
            </a:endParaRPr>
          </a:p>
        </p:txBody>
      </p:sp>
      <p:sp>
        <p:nvSpPr>
          <p:cNvPr id="5" name="Rectangle 4">
            <a:extLst>
              <a:ext uri="{FF2B5EF4-FFF2-40B4-BE49-F238E27FC236}">
                <a16:creationId xmlns:a16="http://schemas.microsoft.com/office/drawing/2014/main" id="{089D97AA-89FA-FB05-CA96-543502FF2E26}"/>
              </a:ext>
            </a:extLst>
          </p:cNvPr>
          <p:cNvSpPr/>
          <p:nvPr/>
        </p:nvSpPr>
        <p:spPr>
          <a:xfrm>
            <a:off x="609600" y="1549400"/>
            <a:ext cx="10972800" cy="19050"/>
          </a:xfrm>
          <a:prstGeom prst="rect">
            <a:avLst/>
          </a:prstGeom>
          <a:solidFill>
            <a:srgbClr val="E2E8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TextBox 8">
            <a:extLst>
              <a:ext uri="{FF2B5EF4-FFF2-40B4-BE49-F238E27FC236}">
                <a16:creationId xmlns:a16="http://schemas.microsoft.com/office/drawing/2014/main" id="{5E34A82B-013D-753D-C30F-FAD35802C31B}"/>
              </a:ext>
            </a:extLst>
          </p:cNvPr>
          <p:cNvSpPr txBox="1"/>
          <p:nvPr/>
        </p:nvSpPr>
        <p:spPr>
          <a:xfrm>
            <a:off x="10312400" y="6527800"/>
            <a:ext cx="1270000" cy="230832"/>
          </a:xfrm>
          <a:prstGeom prst="rect">
            <a:avLst/>
          </a:prstGeom>
          <a:noFill/>
        </p:spPr>
        <p:txBody>
          <a:bodyPr vert="horz" rtlCol="0">
            <a:spAutoFit/>
          </a:bodyPr>
          <a:lstStyle/>
          <a:p>
            <a:pPr algn="r"/>
            <a:r>
              <a:rPr lang="en-GB" sz="900">
                <a:solidFill>
                  <a:srgbClr val="94A3B8"/>
                </a:solidFill>
                <a:latin typeface="Segoe UI" panose="020B0502040204020203" pitchFamily="34" charset="0"/>
              </a:rPr>
              <a:t>13 / 20</a:t>
            </a:r>
          </a:p>
        </p:txBody>
      </p:sp>
      <p:sp>
        <p:nvSpPr>
          <p:cNvPr id="6" name="Rectangle 5">
            <a:extLst>
              <a:ext uri="{FF2B5EF4-FFF2-40B4-BE49-F238E27FC236}">
                <a16:creationId xmlns:a16="http://schemas.microsoft.com/office/drawing/2014/main" id="{6726C179-CB8B-1284-7372-06142601CD2B}"/>
              </a:ext>
            </a:extLst>
          </p:cNvPr>
          <p:cNvSpPr/>
          <p:nvPr/>
        </p:nvSpPr>
        <p:spPr>
          <a:xfrm>
            <a:off x="609600" y="1905000"/>
            <a:ext cx="2286000" cy="1092200"/>
          </a:xfrm>
          <a:prstGeom prst="rect">
            <a:avLst/>
          </a:prstGeom>
          <a:solidFill>
            <a:srgbClr val="FFFFFF"/>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TextBox 9">
            <a:extLst>
              <a:ext uri="{FF2B5EF4-FFF2-40B4-BE49-F238E27FC236}">
                <a16:creationId xmlns:a16="http://schemas.microsoft.com/office/drawing/2014/main" id="{129091C4-3AEC-137F-ADD4-3B7F983A5CE1}"/>
              </a:ext>
            </a:extLst>
          </p:cNvPr>
          <p:cNvSpPr txBox="1"/>
          <p:nvPr/>
        </p:nvSpPr>
        <p:spPr>
          <a:xfrm>
            <a:off x="685800" y="2108200"/>
            <a:ext cx="2133600" cy="423193"/>
          </a:xfrm>
          <a:prstGeom prst="rect">
            <a:avLst/>
          </a:prstGeom>
          <a:noFill/>
        </p:spPr>
        <p:txBody>
          <a:bodyPr vert="horz" wrap="square" lIns="0" rIns="0" rtlCol="0">
            <a:spAutoFit/>
          </a:bodyPr>
          <a:lstStyle/>
          <a:p>
            <a:pPr algn="ctr"/>
            <a:r>
              <a:rPr lang="en-US" sz="1300" b="1">
                <a:solidFill>
                  <a:srgbClr val="0F172A"/>
                </a:solidFill>
                <a:latin typeface="Segoe UI" panose="020B0502040204020203" pitchFamily="34" charset="0"/>
              </a:rPr>
              <a:t>Angular 21</a:t>
            </a:r>
          </a:p>
          <a:p>
            <a:pPr algn="ctr"/>
            <a:r>
              <a:rPr lang="en-US" sz="850">
                <a:solidFill>
                  <a:srgbClr val="94A3B8"/>
                </a:solidFill>
                <a:latin typeface="Segoe UI" panose="020B0502040204020203" pitchFamily="34" charset="0"/>
              </a:rPr>
              <a:t>SPA + in-memory token cache</a:t>
            </a:r>
            <a:endParaRPr lang="en-GB" sz="850">
              <a:solidFill>
                <a:srgbClr val="94A3B8"/>
              </a:solidFill>
              <a:latin typeface="Segoe UI" panose="020B0502040204020203" pitchFamily="34" charset="0"/>
            </a:endParaRPr>
          </a:p>
        </p:txBody>
      </p:sp>
      <p:sp>
        <p:nvSpPr>
          <p:cNvPr id="11" name="Arrow: Right 10">
            <a:extLst>
              <a:ext uri="{FF2B5EF4-FFF2-40B4-BE49-F238E27FC236}">
                <a16:creationId xmlns:a16="http://schemas.microsoft.com/office/drawing/2014/main" id="{6D26EEDE-3E07-C108-4110-9C5B72BCAC6E}"/>
              </a:ext>
            </a:extLst>
          </p:cNvPr>
          <p:cNvSpPr/>
          <p:nvPr/>
        </p:nvSpPr>
        <p:spPr>
          <a:xfrm>
            <a:off x="2971800" y="2349500"/>
            <a:ext cx="457200" cy="203200"/>
          </a:xfrm>
          <a:prstGeom prst="rightArrow">
            <a:avLst/>
          </a:prstGeom>
          <a:solidFill>
            <a:srgbClr val="4F46E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Rectangle 11">
            <a:extLst>
              <a:ext uri="{FF2B5EF4-FFF2-40B4-BE49-F238E27FC236}">
                <a16:creationId xmlns:a16="http://schemas.microsoft.com/office/drawing/2014/main" id="{6EFCD635-2D3A-25B2-3DC0-64862CB43E28}"/>
              </a:ext>
            </a:extLst>
          </p:cNvPr>
          <p:cNvSpPr/>
          <p:nvPr/>
        </p:nvSpPr>
        <p:spPr>
          <a:xfrm>
            <a:off x="3505200" y="1905000"/>
            <a:ext cx="2286000" cy="1092200"/>
          </a:xfrm>
          <a:prstGeom prst="rect">
            <a:avLst/>
          </a:prstGeom>
          <a:solidFill>
            <a:srgbClr val="FFFFFF"/>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Box 12">
            <a:extLst>
              <a:ext uri="{FF2B5EF4-FFF2-40B4-BE49-F238E27FC236}">
                <a16:creationId xmlns:a16="http://schemas.microsoft.com/office/drawing/2014/main" id="{FCCCD094-CA32-1AD3-9061-84597D50ADFF}"/>
              </a:ext>
            </a:extLst>
          </p:cNvPr>
          <p:cNvSpPr txBox="1"/>
          <p:nvPr/>
        </p:nvSpPr>
        <p:spPr>
          <a:xfrm>
            <a:off x="3581400" y="2108200"/>
            <a:ext cx="2133600" cy="423193"/>
          </a:xfrm>
          <a:prstGeom prst="rect">
            <a:avLst/>
          </a:prstGeom>
          <a:noFill/>
        </p:spPr>
        <p:txBody>
          <a:bodyPr vert="horz" wrap="square" lIns="0" rIns="0" rtlCol="0">
            <a:spAutoFit/>
          </a:bodyPr>
          <a:lstStyle/>
          <a:p>
            <a:pPr algn="ctr"/>
            <a:r>
              <a:rPr lang="en-US" sz="1300" b="1">
                <a:solidFill>
                  <a:srgbClr val="0F172A"/>
                </a:solidFill>
                <a:latin typeface="Segoe UI" panose="020B0502040204020203" pitchFamily="34" charset="0"/>
              </a:rPr>
              <a:t>ngrok</a:t>
            </a:r>
          </a:p>
          <a:p>
            <a:pPr algn="ctr"/>
            <a:r>
              <a:rPr lang="en-US" sz="850">
                <a:solidFill>
                  <a:srgbClr val="94A3B8"/>
                </a:solidFill>
                <a:latin typeface="Segoe UI" panose="020B0502040204020203" pitchFamily="34" charset="0"/>
              </a:rPr>
              <a:t>TLS tunnel (free tier)</a:t>
            </a:r>
            <a:endParaRPr lang="en-GB" sz="850">
              <a:solidFill>
                <a:srgbClr val="94A3B8"/>
              </a:solidFill>
              <a:latin typeface="Segoe UI" panose="020B0502040204020203" pitchFamily="34" charset="0"/>
            </a:endParaRPr>
          </a:p>
        </p:txBody>
      </p:sp>
      <p:sp>
        <p:nvSpPr>
          <p:cNvPr id="14" name="Arrow: Right 13">
            <a:extLst>
              <a:ext uri="{FF2B5EF4-FFF2-40B4-BE49-F238E27FC236}">
                <a16:creationId xmlns:a16="http://schemas.microsoft.com/office/drawing/2014/main" id="{43304CE4-9ABF-4449-9CAF-F5522CBCAF50}"/>
              </a:ext>
            </a:extLst>
          </p:cNvPr>
          <p:cNvSpPr/>
          <p:nvPr/>
        </p:nvSpPr>
        <p:spPr>
          <a:xfrm>
            <a:off x="5867400" y="2349500"/>
            <a:ext cx="457200" cy="203200"/>
          </a:xfrm>
          <a:prstGeom prst="rightArrow">
            <a:avLst/>
          </a:prstGeom>
          <a:solidFill>
            <a:srgbClr val="4F46E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Rectangle 14">
            <a:extLst>
              <a:ext uri="{FF2B5EF4-FFF2-40B4-BE49-F238E27FC236}">
                <a16:creationId xmlns:a16="http://schemas.microsoft.com/office/drawing/2014/main" id="{6F009571-CCCF-045C-3EA2-C432E3C05F0A}"/>
              </a:ext>
            </a:extLst>
          </p:cNvPr>
          <p:cNvSpPr/>
          <p:nvPr/>
        </p:nvSpPr>
        <p:spPr>
          <a:xfrm>
            <a:off x="6400800" y="1905000"/>
            <a:ext cx="2286000" cy="1092200"/>
          </a:xfrm>
          <a:prstGeom prst="rect">
            <a:avLst/>
          </a:prstGeom>
          <a:solidFill>
            <a:srgbClr val="FFFFFF"/>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TextBox 15">
            <a:extLst>
              <a:ext uri="{FF2B5EF4-FFF2-40B4-BE49-F238E27FC236}">
                <a16:creationId xmlns:a16="http://schemas.microsoft.com/office/drawing/2014/main" id="{F012EF81-1939-DEC4-D773-D9A068AF111A}"/>
              </a:ext>
            </a:extLst>
          </p:cNvPr>
          <p:cNvSpPr txBox="1"/>
          <p:nvPr/>
        </p:nvSpPr>
        <p:spPr>
          <a:xfrm>
            <a:off x="6477000" y="2108200"/>
            <a:ext cx="2133600" cy="423193"/>
          </a:xfrm>
          <a:prstGeom prst="rect">
            <a:avLst/>
          </a:prstGeom>
          <a:noFill/>
        </p:spPr>
        <p:txBody>
          <a:bodyPr vert="horz" wrap="square" lIns="0" rIns="0" rtlCol="0">
            <a:spAutoFit/>
          </a:bodyPr>
          <a:lstStyle/>
          <a:p>
            <a:pPr algn="ctr"/>
            <a:r>
              <a:rPr lang="en-US" sz="1300" b="1">
                <a:solidFill>
                  <a:srgbClr val="0F172A"/>
                </a:solidFill>
                <a:latin typeface="Segoe UI" panose="020B0502040204020203" pitchFamily="34" charset="0"/>
              </a:rPr>
              <a:t>WSO2 API Manager</a:t>
            </a:r>
          </a:p>
          <a:p>
            <a:pPr algn="ctr"/>
            <a:r>
              <a:rPr lang="en-US" sz="850">
                <a:solidFill>
                  <a:srgbClr val="94A3B8"/>
                </a:solidFill>
                <a:latin typeface="Segoe UI" panose="020B0502040204020203" pitchFamily="34" charset="0"/>
              </a:rPr>
              <a:t>OAuth2 + CORS + policies</a:t>
            </a:r>
            <a:endParaRPr lang="en-GB" sz="850">
              <a:solidFill>
                <a:srgbClr val="94A3B8"/>
              </a:solidFill>
              <a:latin typeface="Segoe UI" panose="020B0502040204020203" pitchFamily="34" charset="0"/>
            </a:endParaRPr>
          </a:p>
        </p:txBody>
      </p:sp>
      <p:sp>
        <p:nvSpPr>
          <p:cNvPr id="17" name="Arrow: Right 16">
            <a:extLst>
              <a:ext uri="{FF2B5EF4-FFF2-40B4-BE49-F238E27FC236}">
                <a16:creationId xmlns:a16="http://schemas.microsoft.com/office/drawing/2014/main" id="{EDA79FE8-2773-C647-6341-B35D5D92B4A9}"/>
              </a:ext>
            </a:extLst>
          </p:cNvPr>
          <p:cNvSpPr/>
          <p:nvPr/>
        </p:nvSpPr>
        <p:spPr>
          <a:xfrm>
            <a:off x="8763000" y="2349500"/>
            <a:ext cx="457200" cy="203200"/>
          </a:xfrm>
          <a:prstGeom prst="rightArrow">
            <a:avLst/>
          </a:prstGeom>
          <a:solidFill>
            <a:srgbClr val="4F46E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Rectangle 17">
            <a:extLst>
              <a:ext uri="{FF2B5EF4-FFF2-40B4-BE49-F238E27FC236}">
                <a16:creationId xmlns:a16="http://schemas.microsoft.com/office/drawing/2014/main" id="{237EC69E-DC8D-8ADF-0A46-ED0CEB505329}"/>
              </a:ext>
            </a:extLst>
          </p:cNvPr>
          <p:cNvSpPr/>
          <p:nvPr/>
        </p:nvSpPr>
        <p:spPr>
          <a:xfrm>
            <a:off x="9296400" y="1905000"/>
            <a:ext cx="2286000" cy="1092200"/>
          </a:xfrm>
          <a:prstGeom prst="rect">
            <a:avLst/>
          </a:prstGeom>
          <a:solidFill>
            <a:srgbClr val="FFFFFF"/>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TextBox 18">
            <a:extLst>
              <a:ext uri="{FF2B5EF4-FFF2-40B4-BE49-F238E27FC236}">
                <a16:creationId xmlns:a16="http://schemas.microsoft.com/office/drawing/2014/main" id="{52B77CED-88CF-9DE4-C430-333D6795ADD2}"/>
              </a:ext>
            </a:extLst>
          </p:cNvPr>
          <p:cNvSpPr txBox="1"/>
          <p:nvPr/>
        </p:nvSpPr>
        <p:spPr>
          <a:xfrm>
            <a:off x="9372600" y="2108200"/>
            <a:ext cx="2133600" cy="423193"/>
          </a:xfrm>
          <a:prstGeom prst="rect">
            <a:avLst/>
          </a:prstGeom>
          <a:noFill/>
        </p:spPr>
        <p:txBody>
          <a:bodyPr vert="horz" wrap="square" lIns="0" rIns="0" rtlCol="0">
            <a:spAutoFit/>
          </a:bodyPr>
          <a:lstStyle/>
          <a:p>
            <a:pPr algn="ctr"/>
            <a:r>
              <a:rPr lang="nl-NL" sz="1300" b="1">
                <a:solidFill>
                  <a:srgbClr val="0F172A"/>
                </a:solidFill>
                <a:latin typeface="Segoe UI" panose="020B0502040204020203" pitchFamily="34" charset="0"/>
              </a:rPr>
              <a:t>.NET 10 API</a:t>
            </a:r>
          </a:p>
          <a:p>
            <a:pPr algn="ctr"/>
            <a:r>
              <a:rPr lang="nl-NL" sz="850">
                <a:solidFill>
                  <a:srgbClr val="94A3B8"/>
                </a:solidFill>
                <a:latin typeface="Segoe UI" panose="020B0502040204020203" pitchFamily="34" charset="0"/>
              </a:rPr>
              <a:t>JWT + role checks</a:t>
            </a:r>
            <a:endParaRPr lang="en-GB" sz="850">
              <a:solidFill>
                <a:srgbClr val="94A3B8"/>
              </a:solidFill>
              <a:latin typeface="Segoe UI" panose="020B0502040204020203" pitchFamily="34" charset="0"/>
            </a:endParaRPr>
          </a:p>
        </p:txBody>
      </p:sp>
      <p:sp>
        <p:nvSpPr>
          <p:cNvPr id="20" name="Rectangle 19">
            <a:extLst>
              <a:ext uri="{FF2B5EF4-FFF2-40B4-BE49-F238E27FC236}">
                <a16:creationId xmlns:a16="http://schemas.microsoft.com/office/drawing/2014/main" id="{BBF87D89-0CD7-90A7-4169-064E9C65EEE8}"/>
              </a:ext>
            </a:extLst>
          </p:cNvPr>
          <p:cNvSpPr/>
          <p:nvPr/>
        </p:nvSpPr>
        <p:spPr>
          <a:xfrm>
            <a:off x="609600" y="3327400"/>
            <a:ext cx="10972800" cy="660400"/>
          </a:xfrm>
          <a:prstGeom prst="rect">
            <a:avLst/>
          </a:prstGeom>
          <a:solidFill>
            <a:srgbClr val="F8FA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Rectangle 20">
            <a:extLst>
              <a:ext uri="{FF2B5EF4-FFF2-40B4-BE49-F238E27FC236}">
                <a16:creationId xmlns:a16="http://schemas.microsoft.com/office/drawing/2014/main" id="{47503D2C-44A8-1F11-6EB8-BEB586F00197}"/>
              </a:ext>
            </a:extLst>
          </p:cNvPr>
          <p:cNvSpPr/>
          <p:nvPr/>
        </p:nvSpPr>
        <p:spPr>
          <a:xfrm>
            <a:off x="609600" y="3327400"/>
            <a:ext cx="76200" cy="660400"/>
          </a:xfrm>
          <a:prstGeom prst="rect">
            <a:avLst/>
          </a:prstGeom>
          <a:solidFill>
            <a:srgbClr val="4F46E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TextBox 21">
            <a:extLst>
              <a:ext uri="{FF2B5EF4-FFF2-40B4-BE49-F238E27FC236}">
                <a16:creationId xmlns:a16="http://schemas.microsoft.com/office/drawing/2014/main" id="{7CC68078-68B1-4D78-1320-A7C673B01228}"/>
              </a:ext>
            </a:extLst>
          </p:cNvPr>
          <p:cNvSpPr txBox="1"/>
          <p:nvPr/>
        </p:nvSpPr>
        <p:spPr>
          <a:xfrm>
            <a:off x="889000" y="3543300"/>
            <a:ext cx="2159000" cy="246221"/>
          </a:xfrm>
          <a:prstGeom prst="rect">
            <a:avLst/>
          </a:prstGeom>
          <a:noFill/>
        </p:spPr>
        <p:txBody>
          <a:bodyPr vert="horz" lIns="0" rIns="0" rtlCol="0">
            <a:spAutoFit/>
          </a:bodyPr>
          <a:lstStyle/>
          <a:p>
            <a:r>
              <a:rPr lang="en-GB" sz="1000" b="1">
                <a:solidFill>
                  <a:srgbClr val="4F46E5"/>
                </a:solidFill>
                <a:latin typeface="Segoe UI" panose="020B0502040204020203" pitchFamily="34" charset="0"/>
              </a:rPr>
              <a:t>API BASE</a:t>
            </a:r>
          </a:p>
        </p:txBody>
      </p:sp>
      <p:sp>
        <p:nvSpPr>
          <p:cNvPr id="23" name="TextBox 22">
            <a:extLst>
              <a:ext uri="{FF2B5EF4-FFF2-40B4-BE49-F238E27FC236}">
                <a16:creationId xmlns:a16="http://schemas.microsoft.com/office/drawing/2014/main" id="{D08A5398-CA95-2E64-28FA-857431F738F4}"/>
              </a:ext>
            </a:extLst>
          </p:cNvPr>
          <p:cNvSpPr txBox="1"/>
          <p:nvPr/>
        </p:nvSpPr>
        <p:spPr>
          <a:xfrm>
            <a:off x="3175000" y="3441700"/>
            <a:ext cx="8204200" cy="253916"/>
          </a:xfrm>
          <a:prstGeom prst="rect">
            <a:avLst/>
          </a:prstGeom>
          <a:noFill/>
        </p:spPr>
        <p:txBody>
          <a:bodyPr vert="horz" wrap="square" lIns="0" rIns="0" rtlCol="0">
            <a:spAutoFit/>
          </a:bodyPr>
          <a:lstStyle/>
          <a:p>
            <a:r>
              <a:rPr lang="en-US" sz="1050">
                <a:solidFill>
                  <a:srgbClr val="0F172A"/>
                </a:solidFill>
                <a:latin typeface="Segoe UI" panose="020B0502040204020203" pitchFamily="34" charset="0"/>
              </a:rPr>
              <a:t>https://cohesive-roundup-demeanor.ngrok-free.dev/api/1.0.0/api  -  every REST call goes through here</a:t>
            </a:r>
            <a:endParaRPr lang="en-GB" sz="1050">
              <a:solidFill>
                <a:srgbClr val="0F172A"/>
              </a:solidFill>
              <a:latin typeface="Segoe UI" panose="020B0502040204020203" pitchFamily="34" charset="0"/>
            </a:endParaRPr>
          </a:p>
        </p:txBody>
      </p:sp>
      <p:sp>
        <p:nvSpPr>
          <p:cNvPr id="24" name="Rectangle 23">
            <a:extLst>
              <a:ext uri="{FF2B5EF4-FFF2-40B4-BE49-F238E27FC236}">
                <a16:creationId xmlns:a16="http://schemas.microsoft.com/office/drawing/2014/main" id="{54DFF179-6C14-3501-5B9C-FB632C4F72C0}"/>
              </a:ext>
            </a:extLst>
          </p:cNvPr>
          <p:cNvSpPr/>
          <p:nvPr/>
        </p:nvSpPr>
        <p:spPr>
          <a:xfrm>
            <a:off x="609600" y="4114800"/>
            <a:ext cx="10972800" cy="660400"/>
          </a:xfrm>
          <a:prstGeom prst="rect">
            <a:avLst/>
          </a:prstGeom>
          <a:solidFill>
            <a:srgbClr val="F8FA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Rectangle 24">
            <a:extLst>
              <a:ext uri="{FF2B5EF4-FFF2-40B4-BE49-F238E27FC236}">
                <a16:creationId xmlns:a16="http://schemas.microsoft.com/office/drawing/2014/main" id="{AF1DD20F-2C4B-6070-AEF2-9BD46F627012}"/>
              </a:ext>
            </a:extLst>
          </p:cNvPr>
          <p:cNvSpPr/>
          <p:nvPr/>
        </p:nvSpPr>
        <p:spPr>
          <a:xfrm>
            <a:off x="609600" y="4114800"/>
            <a:ext cx="76200" cy="660400"/>
          </a:xfrm>
          <a:prstGeom prst="rect">
            <a:avLst/>
          </a:prstGeom>
          <a:solidFill>
            <a:srgbClr val="4F46E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TextBox 25">
            <a:extLst>
              <a:ext uri="{FF2B5EF4-FFF2-40B4-BE49-F238E27FC236}">
                <a16:creationId xmlns:a16="http://schemas.microsoft.com/office/drawing/2014/main" id="{7BCFDFD4-0669-97D7-4642-8ADE62D467CC}"/>
              </a:ext>
            </a:extLst>
          </p:cNvPr>
          <p:cNvSpPr txBox="1"/>
          <p:nvPr/>
        </p:nvSpPr>
        <p:spPr>
          <a:xfrm>
            <a:off x="889000" y="4330700"/>
            <a:ext cx="2159000" cy="246221"/>
          </a:xfrm>
          <a:prstGeom prst="rect">
            <a:avLst/>
          </a:prstGeom>
          <a:noFill/>
        </p:spPr>
        <p:txBody>
          <a:bodyPr vert="horz" lIns="0" rIns="0" rtlCol="0">
            <a:spAutoFit/>
          </a:bodyPr>
          <a:lstStyle/>
          <a:p>
            <a:r>
              <a:rPr lang="en-GB" sz="1000" b="1">
                <a:solidFill>
                  <a:srgbClr val="4F46E5"/>
                </a:solidFill>
                <a:latin typeface="Segoe UI" panose="020B0502040204020203" pitchFamily="34" charset="0"/>
              </a:rPr>
              <a:t>TOKEN ENDPOINT</a:t>
            </a:r>
          </a:p>
        </p:txBody>
      </p:sp>
      <p:sp>
        <p:nvSpPr>
          <p:cNvPr id="27" name="TextBox 26">
            <a:extLst>
              <a:ext uri="{FF2B5EF4-FFF2-40B4-BE49-F238E27FC236}">
                <a16:creationId xmlns:a16="http://schemas.microsoft.com/office/drawing/2014/main" id="{C387B6C6-DDC1-B870-8EEA-4B1E0B4B2A7E}"/>
              </a:ext>
            </a:extLst>
          </p:cNvPr>
          <p:cNvSpPr txBox="1"/>
          <p:nvPr/>
        </p:nvSpPr>
        <p:spPr>
          <a:xfrm>
            <a:off x="3175000" y="4229100"/>
            <a:ext cx="8204200" cy="253916"/>
          </a:xfrm>
          <a:prstGeom prst="rect">
            <a:avLst/>
          </a:prstGeom>
          <a:noFill/>
        </p:spPr>
        <p:txBody>
          <a:bodyPr vert="horz" wrap="square" lIns="0" rIns="0" rtlCol="0">
            <a:spAutoFit/>
          </a:bodyPr>
          <a:lstStyle/>
          <a:p>
            <a:r>
              <a:rPr lang="en-US" sz="1050">
                <a:solidFill>
                  <a:srgbClr val="0F172A"/>
                </a:solidFill>
                <a:latin typeface="Segoe UI" panose="020B0502040204020203" pitchFamily="34" charset="0"/>
              </a:rPr>
              <a:t>POST /token-api/1.0.0/oauth2/token  -  OAuth2 client_credentials grant, 1-hour access tokens</a:t>
            </a:r>
            <a:endParaRPr lang="en-GB" sz="1050">
              <a:solidFill>
                <a:srgbClr val="0F172A"/>
              </a:solidFill>
              <a:latin typeface="Segoe UI" panose="020B0502040204020203" pitchFamily="34" charset="0"/>
            </a:endParaRPr>
          </a:p>
        </p:txBody>
      </p:sp>
      <p:sp>
        <p:nvSpPr>
          <p:cNvPr id="28" name="Rectangle 27">
            <a:extLst>
              <a:ext uri="{FF2B5EF4-FFF2-40B4-BE49-F238E27FC236}">
                <a16:creationId xmlns:a16="http://schemas.microsoft.com/office/drawing/2014/main" id="{8BCC78B9-284D-1B71-3ED9-57938B121FEC}"/>
              </a:ext>
            </a:extLst>
          </p:cNvPr>
          <p:cNvSpPr/>
          <p:nvPr/>
        </p:nvSpPr>
        <p:spPr>
          <a:xfrm>
            <a:off x="609600" y="4902200"/>
            <a:ext cx="10972800" cy="660400"/>
          </a:xfrm>
          <a:prstGeom prst="rect">
            <a:avLst/>
          </a:prstGeom>
          <a:solidFill>
            <a:srgbClr val="F8FA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Rectangle 28">
            <a:extLst>
              <a:ext uri="{FF2B5EF4-FFF2-40B4-BE49-F238E27FC236}">
                <a16:creationId xmlns:a16="http://schemas.microsoft.com/office/drawing/2014/main" id="{094D069C-0405-6207-4FE6-6A12B200A95A}"/>
              </a:ext>
            </a:extLst>
          </p:cNvPr>
          <p:cNvSpPr/>
          <p:nvPr/>
        </p:nvSpPr>
        <p:spPr>
          <a:xfrm>
            <a:off x="609600" y="4902200"/>
            <a:ext cx="76200" cy="660400"/>
          </a:xfrm>
          <a:prstGeom prst="rect">
            <a:avLst/>
          </a:prstGeom>
          <a:solidFill>
            <a:srgbClr val="4F46E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TextBox 29">
            <a:extLst>
              <a:ext uri="{FF2B5EF4-FFF2-40B4-BE49-F238E27FC236}">
                <a16:creationId xmlns:a16="http://schemas.microsoft.com/office/drawing/2014/main" id="{29CFF4A8-18EE-21A1-642F-564B749EB2C0}"/>
              </a:ext>
            </a:extLst>
          </p:cNvPr>
          <p:cNvSpPr txBox="1"/>
          <p:nvPr/>
        </p:nvSpPr>
        <p:spPr>
          <a:xfrm>
            <a:off x="889000" y="5118100"/>
            <a:ext cx="2159000" cy="246221"/>
          </a:xfrm>
          <a:prstGeom prst="rect">
            <a:avLst/>
          </a:prstGeom>
          <a:noFill/>
        </p:spPr>
        <p:txBody>
          <a:bodyPr vert="horz" lIns="0" rIns="0" rtlCol="0">
            <a:spAutoFit/>
          </a:bodyPr>
          <a:lstStyle/>
          <a:p>
            <a:r>
              <a:rPr lang="en-GB" sz="1000" b="1">
                <a:solidFill>
                  <a:srgbClr val="4F46E5"/>
                </a:solidFill>
                <a:latin typeface="Segoe UI" panose="020B0502040204020203" pitchFamily="34" charset="0"/>
              </a:rPr>
              <a:t>GATEWAY POLICIES</a:t>
            </a:r>
          </a:p>
        </p:txBody>
      </p:sp>
      <p:sp>
        <p:nvSpPr>
          <p:cNvPr id="31" name="TextBox 30">
            <a:extLst>
              <a:ext uri="{FF2B5EF4-FFF2-40B4-BE49-F238E27FC236}">
                <a16:creationId xmlns:a16="http://schemas.microsoft.com/office/drawing/2014/main" id="{7A064045-41E5-F2A3-1642-3C1F27DE6F33}"/>
              </a:ext>
            </a:extLst>
          </p:cNvPr>
          <p:cNvSpPr txBox="1"/>
          <p:nvPr/>
        </p:nvSpPr>
        <p:spPr>
          <a:xfrm>
            <a:off x="3175000" y="5016500"/>
            <a:ext cx="8204200" cy="253916"/>
          </a:xfrm>
          <a:prstGeom prst="rect">
            <a:avLst/>
          </a:prstGeom>
          <a:noFill/>
        </p:spPr>
        <p:txBody>
          <a:bodyPr vert="horz" wrap="square" lIns="0" rIns="0" rtlCol="0">
            <a:spAutoFit/>
          </a:bodyPr>
          <a:lstStyle/>
          <a:p>
            <a:r>
              <a:rPr lang="en-US" sz="1050">
                <a:solidFill>
                  <a:srgbClr val="0F172A"/>
                </a:solidFill>
                <a:latin typeface="Segoe UI" panose="020B0502040204020203" pitchFamily="34" charset="0"/>
              </a:rPr>
              <a:t>OAuth2 on secured resources, CORS allow-list, user-header swap policy (InjectionToken2)</a:t>
            </a:r>
            <a:endParaRPr lang="en-GB" sz="1050">
              <a:solidFill>
                <a:srgbClr val="0F172A"/>
              </a:solidFill>
              <a:latin typeface="Segoe UI" panose="020B0502040204020203" pitchFamily="34" charset="0"/>
            </a:endParaRPr>
          </a:p>
        </p:txBody>
      </p:sp>
      <p:sp>
        <p:nvSpPr>
          <p:cNvPr id="32" name="Rectangle 31">
            <a:extLst>
              <a:ext uri="{FF2B5EF4-FFF2-40B4-BE49-F238E27FC236}">
                <a16:creationId xmlns:a16="http://schemas.microsoft.com/office/drawing/2014/main" id="{70D69524-E501-B35A-B8AF-9A32EA70331C}"/>
              </a:ext>
            </a:extLst>
          </p:cNvPr>
          <p:cNvSpPr/>
          <p:nvPr/>
        </p:nvSpPr>
        <p:spPr>
          <a:xfrm>
            <a:off x="609600" y="5689600"/>
            <a:ext cx="10972800" cy="558800"/>
          </a:xfrm>
          <a:prstGeom prst="rect">
            <a:avLst/>
          </a:prstGeom>
          <a:solidFill>
            <a:srgbClr val="EEF2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TextBox 32">
            <a:extLst>
              <a:ext uri="{FF2B5EF4-FFF2-40B4-BE49-F238E27FC236}">
                <a16:creationId xmlns:a16="http://schemas.microsoft.com/office/drawing/2014/main" id="{CE259F2E-F4D7-060F-1234-5543DDE8150E}"/>
              </a:ext>
            </a:extLst>
          </p:cNvPr>
          <p:cNvSpPr txBox="1"/>
          <p:nvPr/>
        </p:nvSpPr>
        <p:spPr>
          <a:xfrm>
            <a:off x="889000" y="5829300"/>
            <a:ext cx="10464800" cy="253916"/>
          </a:xfrm>
          <a:prstGeom prst="rect">
            <a:avLst/>
          </a:prstGeom>
          <a:noFill/>
        </p:spPr>
        <p:txBody>
          <a:bodyPr vert="horz" lIns="0" rtlCol="0">
            <a:spAutoFit/>
          </a:bodyPr>
          <a:lstStyle/>
          <a:p>
            <a:r>
              <a:rPr lang="en-US" sz="1050" b="1">
                <a:solidFill>
                  <a:srgbClr val="4F46E5"/>
                </a:solidFill>
                <a:latin typeface="Segoe UI" panose="020B0502040204020203" pitchFamily="34" charset="0"/>
              </a:rPr>
              <a:t>Verified end-to-end: login, register and role checks (200 / 401 / 403) - all traffic flows ngrok -&gt; WSO2 -&gt; API, never direct</a:t>
            </a:r>
            <a:endParaRPr lang="en-GB" sz="1050" b="1">
              <a:solidFill>
                <a:srgbClr val="4F46E5"/>
              </a:solidFill>
              <a:latin typeface="Segoe UI" panose="020B0502040204020203" pitchFamily="34" charset="0"/>
            </a:endParaRPr>
          </a:p>
        </p:txBody>
      </p:sp>
    </p:spTree>
    <p:extLst>
      <p:ext uri="{BB962C8B-B14F-4D97-AF65-F5344CB8AC3E}">
        <p14:creationId xmlns:p14="http://schemas.microsoft.com/office/powerpoint/2010/main" val="15972181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A2C092F-18A7-146E-DBAC-77FDCCAA35BD}"/>
              </a:ext>
            </a:extLst>
          </p:cNvPr>
          <p:cNvSpPr/>
          <p:nvPr/>
        </p:nvSpPr>
        <p:spPr>
          <a:xfrm>
            <a:off x="609600" y="584200"/>
            <a:ext cx="88900" cy="635000"/>
          </a:xfrm>
          <a:prstGeom prst="rect">
            <a:avLst/>
          </a:prstGeom>
          <a:solidFill>
            <a:srgbClr val="4F46E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extBox 2">
            <a:extLst>
              <a:ext uri="{FF2B5EF4-FFF2-40B4-BE49-F238E27FC236}">
                <a16:creationId xmlns:a16="http://schemas.microsoft.com/office/drawing/2014/main" id="{27E86D50-CF2A-4721-BED9-6006C54F6877}"/>
              </a:ext>
            </a:extLst>
          </p:cNvPr>
          <p:cNvSpPr txBox="1"/>
          <p:nvPr/>
        </p:nvSpPr>
        <p:spPr>
          <a:xfrm>
            <a:off x="863600" y="558800"/>
            <a:ext cx="9652000" cy="261610"/>
          </a:xfrm>
          <a:prstGeom prst="rect">
            <a:avLst/>
          </a:prstGeom>
          <a:noFill/>
        </p:spPr>
        <p:txBody>
          <a:bodyPr vert="horz" rtlCol="0">
            <a:spAutoFit/>
          </a:bodyPr>
          <a:lstStyle/>
          <a:p>
            <a:r>
              <a:rPr lang="en-GB" sz="1100" b="1">
                <a:solidFill>
                  <a:srgbClr val="4F46E5"/>
                </a:solidFill>
                <a:latin typeface="Segoe UI" panose="020B0502040204020203" pitchFamily="34" charset="0"/>
              </a:rPr>
              <a:t>GATEWAY</a:t>
            </a:r>
          </a:p>
        </p:txBody>
      </p:sp>
      <p:sp>
        <p:nvSpPr>
          <p:cNvPr id="4" name="TextBox 3">
            <a:extLst>
              <a:ext uri="{FF2B5EF4-FFF2-40B4-BE49-F238E27FC236}">
                <a16:creationId xmlns:a16="http://schemas.microsoft.com/office/drawing/2014/main" id="{7F14F6D5-81BB-7139-03A2-5394EE0486AE}"/>
              </a:ext>
            </a:extLst>
          </p:cNvPr>
          <p:cNvSpPr txBox="1"/>
          <p:nvPr/>
        </p:nvSpPr>
        <p:spPr>
          <a:xfrm>
            <a:off x="863600" y="800100"/>
            <a:ext cx="10414000" cy="507831"/>
          </a:xfrm>
          <a:prstGeom prst="rect">
            <a:avLst/>
          </a:prstGeom>
          <a:noFill/>
        </p:spPr>
        <p:txBody>
          <a:bodyPr vert="horz" rtlCol="0">
            <a:spAutoFit/>
          </a:bodyPr>
          <a:lstStyle/>
          <a:p>
            <a:r>
              <a:rPr lang="en-US" sz="2700" b="1">
                <a:solidFill>
                  <a:srgbClr val="0F172A"/>
                </a:solidFill>
                <a:latin typeface="Segoe UI" panose="020B0502040204020203" pitchFamily="34" charset="0"/>
              </a:rPr>
              <a:t>Two Tokens, One Request - How Auth Travels</a:t>
            </a:r>
            <a:endParaRPr lang="en-GB" sz="2700" b="1">
              <a:solidFill>
                <a:srgbClr val="0F172A"/>
              </a:solidFill>
              <a:latin typeface="Segoe UI" panose="020B0502040204020203" pitchFamily="34" charset="0"/>
            </a:endParaRPr>
          </a:p>
        </p:txBody>
      </p:sp>
      <p:sp>
        <p:nvSpPr>
          <p:cNvPr id="5" name="Rectangle 4">
            <a:extLst>
              <a:ext uri="{FF2B5EF4-FFF2-40B4-BE49-F238E27FC236}">
                <a16:creationId xmlns:a16="http://schemas.microsoft.com/office/drawing/2014/main" id="{089D97AA-89FA-FB05-CA96-543502FF2E26}"/>
              </a:ext>
            </a:extLst>
          </p:cNvPr>
          <p:cNvSpPr/>
          <p:nvPr/>
        </p:nvSpPr>
        <p:spPr>
          <a:xfrm>
            <a:off x="609600" y="1549400"/>
            <a:ext cx="10972800" cy="19050"/>
          </a:xfrm>
          <a:prstGeom prst="rect">
            <a:avLst/>
          </a:prstGeom>
          <a:solidFill>
            <a:srgbClr val="E2E8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TextBox 8">
            <a:extLst>
              <a:ext uri="{FF2B5EF4-FFF2-40B4-BE49-F238E27FC236}">
                <a16:creationId xmlns:a16="http://schemas.microsoft.com/office/drawing/2014/main" id="{5E34A82B-013D-753D-C30F-FAD35802C31B}"/>
              </a:ext>
            </a:extLst>
          </p:cNvPr>
          <p:cNvSpPr txBox="1"/>
          <p:nvPr/>
        </p:nvSpPr>
        <p:spPr>
          <a:xfrm>
            <a:off x="10312400" y="6527800"/>
            <a:ext cx="1270000" cy="230832"/>
          </a:xfrm>
          <a:prstGeom prst="rect">
            <a:avLst/>
          </a:prstGeom>
          <a:noFill/>
        </p:spPr>
        <p:txBody>
          <a:bodyPr vert="horz" rtlCol="0">
            <a:spAutoFit/>
          </a:bodyPr>
          <a:lstStyle/>
          <a:p>
            <a:pPr algn="r"/>
            <a:r>
              <a:rPr lang="en-GB" sz="900">
                <a:solidFill>
                  <a:srgbClr val="94A3B8"/>
                </a:solidFill>
                <a:latin typeface="Segoe UI" panose="020B0502040204020203" pitchFamily="34" charset="0"/>
              </a:rPr>
              <a:t>14 / 20</a:t>
            </a:r>
          </a:p>
        </p:txBody>
      </p:sp>
      <p:sp>
        <p:nvSpPr>
          <p:cNvPr id="6" name="Rectangle 5">
            <a:extLst>
              <a:ext uri="{FF2B5EF4-FFF2-40B4-BE49-F238E27FC236}">
                <a16:creationId xmlns:a16="http://schemas.microsoft.com/office/drawing/2014/main" id="{247CE554-DC5B-E322-6DCE-F9F12C427032}"/>
              </a:ext>
            </a:extLst>
          </p:cNvPr>
          <p:cNvSpPr/>
          <p:nvPr/>
        </p:nvSpPr>
        <p:spPr>
          <a:xfrm>
            <a:off x="609600" y="1905000"/>
            <a:ext cx="5461000" cy="3302000"/>
          </a:xfrm>
          <a:prstGeom prst="rect">
            <a:avLst/>
          </a:prstGeom>
          <a:solidFill>
            <a:srgbClr val="0F17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TextBox 9">
            <a:extLst>
              <a:ext uri="{FF2B5EF4-FFF2-40B4-BE49-F238E27FC236}">
                <a16:creationId xmlns:a16="http://schemas.microsoft.com/office/drawing/2014/main" id="{5F96D13C-F2B7-521D-7093-60F862A1D115}"/>
              </a:ext>
            </a:extLst>
          </p:cNvPr>
          <p:cNvSpPr txBox="1"/>
          <p:nvPr/>
        </p:nvSpPr>
        <p:spPr>
          <a:xfrm>
            <a:off x="863600" y="2133600"/>
            <a:ext cx="4978400" cy="1400383"/>
          </a:xfrm>
          <a:prstGeom prst="rect">
            <a:avLst/>
          </a:prstGeom>
          <a:noFill/>
        </p:spPr>
        <p:txBody>
          <a:bodyPr vert="horz" wrap="square" lIns="0" tIns="0" rIns="0" rtlCol="0">
            <a:spAutoFit/>
          </a:bodyPr>
          <a:lstStyle/>
          <a:p>
            <a:r>
              <a:rPr lang="en-GB" sz="1100" b="1">
                <a:solidFill>
                  <a:srgbClr val="E2E8F0"/>
                </a:solidFill>
                <a:latin typeface="Consolas" panose="020B0609020204030204" pitchFamily="49" charset="0"/>
              </a:rPr>
              <a:t>POST /api/1.0.0/api/requests</a:t>
            </a:r>
          </a:p>
          <a:p>
            <a:endParaRPr lang="en-GB" sz="1100" b="1">
              <a:solidFill>
                <a:srgbClr val="E2E8F0"/>
              </a:solidFill>
              <a:latin typeface="Consolas" panose="020B0609020204030204" pitchFamily="49" charset="0"/>
            </a:endParaRPr>
          </a:p>
          <a:p>
            <a:r>
              <a:rPr lang="en-GB" sz="1100" b="1">
                <a:solidFill>
                  <a:srgbClr val="A5B4FC"/>
                </a:solidFill>
                <a:latin typeface="Consolas" panose="020B0609020204030204" pitchFamily="49" charset="0"/>
              </a:rPr>
              <a:t>Authorization: Bearer eyJraWQi...   &lt;- WSO2 token</a:t>
            </a:r>
          </a:p>
          <a:p>
            <a:r>
              <a:rPr lang="en-GB" sz="1100" b="1">
                <a:solidFill>
                  <a:srgbClr val="A5B4FC"/>
                </a:solidFill>
                <a:latin typeface="Consolas" panose="020B0609020204030204" pitchFamily="49" charset="0"/>
              </a:rPr>
              <a:t>user:         Bearer eyJhbGci...   &lt;- backend JWT</a:t>
            </a:r>
          </a:p>
          <a:p>
            <a:endParaRPr lang="en-GB" sz="1100" b="1">
              <a:solidFill>
                <a:srgbClr val="E2E8F0"/>
              </a:solidFill>
              <a:latin typeface="Consolas" panose="020B0609020204030204" pitchFamily="49" charset="0"/>
            </a:endParaRPr>
          </a:p>
          <a:p>
            <a:r>
              <a:rPr lang="en-GB" sz="1100" b="1">
                <a:solidFill>
                  <a:srgbClr val="94A3B8"/>
                </a:solidFill>
                <a:latin typeface="Consolas" panose="020B0609020204030204" pitchFamily="49" charset="0"/>
              </a:rPr>
              <a:t>ngrok-skip-browser-warning: true</a:t>
            </a:r>
          </a:p>
          <a:p>
            <a:endParaRPr lang="en-GB" sz="1100" b="1">
              <a:solidFill>
                <a:srgbClr val="E2E8F0"/>
              </a:solidFill>
              <a:latin typeface="Consolas" panose="020B0609020204030204" pitchFamily="49" charset="0"/>
            </a:endParaRPr>
          </a:p>
          <a:p>
            <a:r>
              <a:rPr lang="en-GB" sz="1100" b="1">
                <a:solidFill>
                  <a:srgbClr val="34D399"/>
                </a:solidFill>
                <a:latin typeface="Consolas" panose="020B0609020204030204" pitchFamily="49" charset="0"/>
              </a:rPr>
              <a:t>HTTP/1.1 200 OK  (401 / 403 on failure)</a:t>
            </a:r>
          </a:p>
        </p:txBody>
      </p:sp>
      <p:sp>
        <p:nvSpPr>
          <p:cNvPr id="11" name="TextBox 10">
            <a:extLst>
              <a:ext uri="{FF2B5EF4-FFF2-40B4-BE49-F238E27FC236}">
                <a16:creationId xmlns:a16="http://schemas.microsoft.com/office/drawing/2014/main" id="{C2D334DA-BD25-1896-3F11-4BB50D2821D7}"/>
              </a:ext>
            </a:extLst>
          </p:cNvPr>
          <p:cNvSpPr txBox="1"/>
          <p:nvPr/>
        </p:nvSpPr>
        <p:spPr>
          <a:xfrm>
            <a:off x="6477000" y="1905000"/>
            <a:ext cx="381000" cy="323165"/>
          </a:xfrm>
          <a:prstGeom prst="rect">
            <a:avLst/>
          </a:prstGeom>
          <a:noFill/>
        </p:spPr>
        <p:txBody>
          <a:bodyPr vert="horz" lIns="0" rtlCol="0">
            <a:spAutoFit/>
          </a:bodyPr>
          <a:lstStyle/>
          <a:p>
            <a:r>
              <a:rPr lang="en-GB" sz="1500" b="1">
                <a:solidFill>
                  <a:srgbClr val="4F46E5"/>
                </a:solidFill>
                <a:latin typeface="Segoe UI" panose="020B0502040204020203" pitchFamily="34" charset="0"/>
              </a:rPr>
              <a:t>1.</a:t>
            </a:r>
          </a:p>
        </p:txBody>
      </p:sp>
      <p:sp>
        <p:nvSpPr>
          <p:cNvPr id="12" name="TextBox 11">
            <a:extLst>
              <a:ext uri="{FF2B5EF4-FFF2-40B4-BE49-F238E27FC236}">
                <a16:creationId xmlns:a16="http://schemas.microsoft.com/office/drawing/2014/main" id="{023DF494-FBAF-8763-D27D-2A3A5C2B024A}"/>
              </a:ext>
            </a:extLst>
          </p:cNvPr>
          <p:cNvSpPr txBox="1"/>
          <p:nvPr/>
        </p:nvSpPr>
        <p:spPr>
          <a:xfrm>
            <a:off x="6921500" y="1930400"/>
            <a:ext cx="4660900" cy="430887"/>
          </a:xfrm>
          <a:prstGeom prst="rect">
            <a:avLst/>
          </a:prstGeom>
          <a:noFill/>
        </p:spPr>
        <p:txBody>
          <a:bodyPr vert="horz" wrap="square" lIns="0" rIns="0" rtlCol="0">
            <a:spAutoFit/>
          </a:bodyPr>
          <a:lstStyle/>
          <a:p>
            <a:r>
              <a:rPr lang="en-US" sz="1100">
                <a:solidFill>
                  <a:srgbClr val="0F172A"/>
                </a:solidFill>
                <a:latin typeface="Segoe UI" panose="020B0502040204020203" pitchFamily="34" charset="0"/>
              </a:rPr>
              <a:t>A client_credentials POST fetches a WSO2 access token - cached in memory, refreshed before expiry</a:t>
            </a:r>
            <a:endParaRPr lang="en-GB" sz="1100">
              <a:solidFill>
                <a:srgbClr val="0F172A"/>
              </a:solidFill>
              <a:latin typeface="Segoe UI" panose="020B0502040204020203" pitchFamily="34" charset="0"/>
            </a:endParaRPr>
          </a:p>
        </p:txBody>
      </p:sp>
      <p:sp>
        <p:nvSpPr>
          <p:cNvPr id="13" name="TextBox 12">
            <a:extLst>
              <a:ext uri="{FF2B5EF4-FFF2-40B4-BE49-F238E27FC236}">
                <a16:creationId xmlns:a16="http://schemas.microsoft.com/office/drawing/2014/main" id="{799DECE4-D63C-F447-A46B-53CCA5D2E8B3}"/>
              </a:ext>
            </a:extLst>
          </p:cNvPr>
          <p:cNvSpPr txBox="1"/>
          <p:nvPr/>
        </p:nvSpPr>
        <p:spPr>
          <a:xfrm>
            <a:off x="6477000" y="2870200"/>
            <a:ext cx="381000" cy="323165"/>
          </a:xfrm>
          <a:prstGeom prst="rect">
            <a:avLst/>
          </a:prstGeom>
          <a:noFill/>
        </p:spPr>
        <p:txBody>
          <a:bodyPr vert="horz" lIns="0" rtlCol="0">
            <a:spAutoFit/>
          </a:bodyPr>
          <a:lstStyle/>
          <a:p>
            <a:r>
              <a:rPr lang="en-GB" sz="1500" b="1">
                <a:solidFill>
                  <a:srgbClr val="4F46E5"/>
                </a:solidFill>
                <a:latin typeface="Segoe UI" panose="020B0502040204020203" pitchFamily="34" charset="0"/>
              </a:rPr>
              <a:t>2.</a:t>
            </a:r>
          </a:p>
        </p:txBody>
      </p:sp>
      <p:sp>
        <p:nvSpPr>
          <p:cNvPr id="14" name="TextBox 13">
            <a:extLst>
              <a:ext uri="{FF2B5EF4-FFF2-40B4-BE49-F238E27FC236}">
                <a16:creationId xmlns:a16="http://schemas.microsoft.com/office/drawing/2014/main" id="{4310EFB1-12C5-FE11-BB66-016A23A46107}"/>
              </a:ext>
            </a:extLst>
          </p:cNvPr>
          <p:cNvSpPr txBox="1"/>
          <p:nvPr/>
        </p:nvSpPr>
        <p:spPr>
          <a:xfrm>
            <a:off x="6921500" y="2895600"/>
            <a:ext cx="4660900" cy="430887"/>
          </a:xfrm>
          <a:prstGeom prst="rect">
            <a:avLst/>
          </a:prstGeom>
          <a:noFill/>
        </p:spPr>
        <p:txBody>
          <a:bodyPr vert="horz" wrap="square" lIns="0" rIns="0" rtlCol="0">
            <a:spAutoFit/>
          </a:bodyPr>
          <a:lstStyle/>
          <a:p>
            <a:r>
              <a:rPr lang="en-US" sz="1100">
                <a:solidFill>
                  <a:srgbClr val="0F172A"/>
                </a:solidFill>
                <a:latin typeface="Segoe UI" panose="020B0502040204020203" pitchFamily="34" charset="0"/>
              </a:rPr>
              <a:t>Every request carries the WSO2 token in Authorization and the backend JWT in user</a:t>
            </a:r>
            <a:endParaRPr lang="en-GB" sz="1100">
              <a:solidFill>
                <a:srgbClr val="0F172A"/>
              </a:solidFill>
              <a:latin typeface="Segoe UI" panose="020B0502040204020203" pitchFamily="34" charset="0"/>
            </a:endParaRPr>
          </a:p>
        </p:txBody>
      </p:sp>
      <p:sp>
        <p:nvSpPr>
          <p:cNvPr id="15" name="TextBox 14">
            <a:extLst>
              <a:ext uri="{FF2B5EF4-FFF2-40B4-BE49-F238E27FC236}">
                <a16:creationId xmlns:a16="http://schemas.microsoft.com/office/drawing/2014/main" id="{61C6A8EC-F058-809B-02A9-1E75EEEFF99D}"/>
              </a:ext>
            </a:extLst>
          </p:cNvPr>
          <p:cNvSpPr txBox="1"/>
          <p:nvPr/>
        </p:nvSpPr>
        <p:spPr>
          <a:xfrm>
            <a:off x="6477000" y="3835400"/>
            <a:ext cx="381000" cy="323165"/>
          </a:xfrm>
          <a:prstGeom prst="rect">
            <a:avLst/>
          </a:prstGeom>
          <a:noFill/>
        </p:spPr>
        <p:txBody>
          <a:bodyPr vert="horz" lIns="0" rtlCol="0">
            <a:spAutoFit/>
          </a:bodyPr>
          <a:lstStyle/>
          <a:p>
            <a:r>
              <a:rPr lang="en-GB" sz="1500" b="1">
                <a:solidFill>
                  <a:srgbClr val="4F46E5"/>
                </a:solidFill>
                <a:latin typeface="Segoe UI" panose="020B0502040204020203" pitchFamily="34" charset="0"/>
              </a:rPr>
              <a:t>3.</a:t>
            </a:r>
          </a:p>
        </p:txBody>
      </p:sp>
      <p:sp>
        <p:nvSpPr>
          <p:cNvPr id="16" name="TextBox 15">
            <a:extLst>
              <a:ext uri="{FF2B5EF4-FFF2-40B4-BE49-F238E27FC236}">
                <a16:creationId xmlns:a16="http://schemas.microsoft.com/office/drawing/2014/main" id="{9DFA7092-DC86-5460-E2CF-BC1D46ECAF9E}"/>
              </a:ext>
            </a:extLst>
          </p:cNvPr>
          <p:cNvSpPr txBox="1"/>
          <p:nvPr/>
        </p:nvSpPr>
        <p:spPr>
          <a:xfrm>
            <a:off x="6921500" y="3860800"/>
            <a:ext cx="4660900" cy="430887"/>
          </a:xfrm>
          <a:prstGeom prst="rect">
            <a:avLst/>
          </a:prstGeom>
          <a:noFill/>
        </p:spPr>
        <p:txBody>
          <a:bodyPr vert="horz" wrap="square" lIns="0" rIns="0" rtlCol="0">
            <a:spAutoFit/>
          </a:bodyPr>
          <a:lstStyle/>
          <a:p>
            <a:r>
              <a:rPr lang="en-US" sz="1100">
                <a:solidFill>
                  <a:srgbClr val="0F172A"/>
                </a:solidFill>
                <a:latin typeface="Segoe UI" panose="020B0502040204020203" pitchFamily="34" charset="0"/>
              </a:rPr>
              <a:t>WSO2 validates the gateway token; the InjectionToken2 policy swaps user -&gt; Authorization toward the API</a:t>
            </a:r>
            <a:endParaRPr lang="en-GB" sz="1100">
              <a:solidFill>
                <a:srgbClr val="0F172A"/>
              </a:solidFill>
              <a:latin typeface="Segoe UI" panose="020B0502040204020203" pitchFamily="34" charset="0"/>
            </a:endParaRPr>
          </a:p>
        </p:txBody>
      </p:sp>
      <p:sp>
        <p:nvSpPr>
          <p:cNvPr id="17" name="TextBox 16">
            <a:extLst>
              <a:ext uri="{FF2B5EF4-FFF2-40B4-BE49-F238E27FC236}">
                <a16:creationId xmlns:a16="http://schemas.microsoft.com/office/drawing/2014/main" id="{58BFFDB5-4270-A4CE-5B49-73F9E21DE16C}"/>
              </a:ext>
            </a:extLst>
          </p:cNvPr>
          <p:cNvSpPr txBox="1"/>
          <p:nvPr/>
        </p:nvSpPr>
        <p:spPr>
          <a:xfrm>
            <a:off x="6477000" y="4800600"/>
            <a:ext cx="381000" cy="323165"/>
          </a:xfrm>
          <a:prstGeom prst="rect">
            <a:avLst/>
          </a:prstGeom>
          <a:noFill/>
        </p:spPr>
        <p:txBody>
          <a:bodyPr vert="horz" lIns="0" rtlCol="0">
            <a:spAutoFit/>
          </a:bodyPr>
          <a:lstStyle/>
          <a:p>
            <a:r>
              <a:rPr lang="en-GB" sz="1500" b="1">
                <a:solidFill>
                  <a:srgbClr val="4F46E5"/>
                </a:solidFill>
                <a:latin typeface="Segoe UI" panose="020B0502040204020203" pitchFamily="34" charset="0"/>
              </a:rPr>
              <a:t>4.</a:t>
            </a:r>
          </a:p>
        </p:txBody>
      </p:sp>
      <p:sp>
        <p:nvSpPr>
          <p:cNvPr id="18" name="TextBox 17">
            <a:extLst>
              <a:ext uri="{FF2B5EF4-FFF2-40B4-BE49-F238E27FC236}">
                <a16:creationId xmlns:a16="http://schemas.microsoft.com/office/drawing/2014/main" id="{B8A92D6F-A431-672E-7006-DB7606B8F779}"/>
              </a:ext>
            </a:extLst>
          </p:cNvPr>
          <p:cNvSpPr txBox="1"/>
          <p:nvPr/>
        </p:nvSpPr>
        <p:spPr>
          <a:xfrm>
            <a:off x="6921500" y="4826000"/>
            <a:ext cx="4660900" cy="430887"/>
          </a:xfrm>
          <a:prstGeom prst="rect">
            <a:avLst/>
          </a:prstGeom>
          <a:noFill/>
        </p:spPr>
        <p:txBody>
          <a:bodyPr vert="horz" wrap="square" lIns="0" rIns="0" rtlCol="0">
            <a:spAutoFit/>
          </a:bodyPr>
          <a:lstStyle/>
          <a:p>
            <a:r>
              <a:rPr lang="en-US" sz="1100">
                <a:solidFill>
                  <a:srgbClr val="0F172A"/>
                </a:solidFill>
                <a:latin typeface="Segoe UI" panose="020B0502040204020203" pitchFamily="34" charset="0"/>
              </a:rPr>
              <a:t>The backend enforces [Authorize] + roles; 401 / 403 surface as friendly in-app errors</a:t>
            </a:r>
            <a:endParaRPr lang="en-GB" sz="1100">
              <a:solidFill>
                <a:srgbClr val="0F172A"/>
              </a:solidFill>
              <a:latin typeface="Segoe UI" panose="020B0502040204020203" pitchFamily="34" charset="0"/>
            </a:endParaRPr>
          </a:p>
        </p:txBody>
      </p:sp>
    </p:spTree>
    <p:extLst>
      <p:ext uri="{BB962C8B-B14F-4D97-AF65-F5344CB8AC3E}">
        <p14:creationId xmlns:p14="http://schemas.microsoft.com/office/powerpoint/2010/main" val="6712184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A2C092F-18A7-146E-DBAC-77FDCCAA35BD}"/>
              </a:ext>
            </a:extLst>
          </p:cNvPr>
          <p:cNvSpPr/>
          <p:nvPr/>
        </p:nvSpPr>
        <p:spPr>
          <a:xfrm>
            <a:off x="609600" y="584200"/>
            <a:ext cx="88900" cy="635000"/>
          </a:xfrm>
          <a:prstGeom prst="rect">
            <a:avLst/>
          </a:prstGeom>
          <a:solidFill>
            <a:srgbClr val="4F46E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extBox 2">
            <a:extLst>
              <a:ext uri="{FF2B5EF4-FFF2-40B4-BE49-F238E27FC236}">
                <a16:creationId xmlns:a16="http://schemas.microsoft.com/office/drawing/2014/main" id="{27E86D50-CF2A-4721-BED9-6006C54F6877}"/>
              </a:ext>
            </a:extLst>
          </p:cNvPr>
          <p:cNvSpPr txBox="1"/>
          <p:nvPr/>
        </p:nvSpPr>
        <p:spPr>
          <a:xfrm>
            <a:off x="863600" y="558800"/>
            <a:ext cx="9652000" cy="261610"/>
          </a:xfrm>
          <a:prstGeom prst="rect">
            <a:avLst/>
          </a:prstGeom>
          <a:noFill/>
        </p:spPr>
        <p:txBody>
          <a:bodyPr vert="horz" rtlCol="0">
            <a:spAutoFit/>
          </a:bodyPr>
          <a:lstStyle/>
          <a:p>
            <a:r>
              <a:rPr lang="en-GB" sz="1100" b="1">
                <a:solidFill>
                  <a:srgbClr val="4F46E5"/>
                </a:solidFill>
                <a:latin typeface="Segoe UI" panose="020B0502040204020203" pitchFamily="34" charset="0"/>
              </a:rPr>
              <a:t>GATEWAY</a:t>
            </a:r>
          </a:p>
        </p:txBody>
      </p:sp>
      <p:sp>
        <p:nvSpPr>
          <p:cNvPr id="4" name="TextBox 3">
            <a:extLst>
              <a:ext uri="{FF2B5EF4-FFF2-40B4-BE49-F238E27FC236}">
                <a16:creationId xmlns:a16="http://schemas.microsoft.com/office/drawing/2014/main" id="{7F14F6D5-81BB-7139-03A2-5394EE0486AE}"/>
              </a:ext>
            </a:extLst>
          </p:cNvPr>
          <p:cNvSpPr txBox="1"/>
          <p:nvPr/>
        </p:nvSpPr>
        <p:spPr>
          <a:xfrm>
            <a:off x="863600" y="800100"/>
            <a:ext cx="10414000" cy="507831"/>
          </a:xfrm>
          <a:prstGeom prst="rect">
            <a:avLst/>
          </a:prstGeom>
          <a:noFill/>
        </p:spPr>
        <p:txBody>
          <a:bodyPr vert="horz" rtlCol="0">
            <a:spAutoFit/>
          </a:bodyPr>
          <a:lstStyle/>
          <a:p>
            <a:r>
              <a:rPr lang="en-US" sz="2700" b="1">
                <a:solidFill>
                  <a:srgbClr val="0F172A"/>
                </a:solidFill>
                <a:latin typeface="Segoe UI" panose="020B0502040204020203" pitchFamily="34" charset="0"/>
              </a:rPr>
              <a:t>Inside API Manager - Resources &amp; Token Policy</a:t>
            </a:r>
            <a:endParaRPr lang="en-GB" sz="2700" b="1">
              <a:solidFill>
                <a:srgbClr val="0F172A"/>
              </a:solidFill>
              <a:latin typeface="Segoe UI" panose="020B0502040204020203" pitchFamily="34" charset="0"/>
            </a:endParaRPr>
          </a:p>
        </p:txBody>
      </p:sp>
      <p:sp>
        <p:nvSpPr>
          <p:cNvPr id="5" name="Rectangle 4">
            <a:extLst>
              <a:ext uri="{FF2B5EF4-FFF2-40B4-BE49-F238E27FC236}">
                <a16:creationId xmlns:a16="http://schemas.microsoft.com/office/drawing/2014/main" id="{089D97AA-89FA-FB05-CA96-543502FF2E26}"/>
              </a:ext>
            </a:extLst>
          </p:cNvPr>
          <p:cNvSpPr/>
          <p:nvPr/>
        </p:nvSpPr>
        <p:spPr>
          <a:xfrm>
            <a:off x="609600" y="1549400"/>
            <a:ext cx="10972800" cy="19050"/>
          </a:xfrm>
          <a:prstGeom prst="rect">
            <a:avLst/>
          </a:prstGeom>
          <a:solidFill>
            <a:srgbClr val="E2E8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TextBox 8">
            <a:extLst>
              <a:ext uri="{FF2B5EF4-FFF2-40B4-BE49-F238E27FC236}">
                <a16:creationId xmlns:a16="http://schemas.microsoft.com/office/drawing/2014/main" id="{5E34A82B-013D-753D-C30F-FAD35802C31B}"/>
              </a:ext>
            </a:extLst>
          </p:cNvPr>
          <p:cNvSpPr txBox="1"/>
          <p:nvPr/>
        </p:nvSpPr>
        <p:spPr>
          <a:xfrm>
            <a:off x="10312400" y="6527800"/>
            <a:ext cx="1270000" cy="230832"/>
          </a:xfrm>
          <a:prstGeom prst="rect">
            <a:avLst/>
          </a:prstGeom>
          <a:noFill/>
        </p:spPr>
        <p:txBody>
          <a:bodyPr vert="horz" rtlCol="0">
            <a:spAutoFit/>
          </a:bodyPr>
          <a:lstStyle/>
          <a:p>
            <a:pPr algn="r"/>
            <a:r>
              <a:rPr lang="en-GB" sz="900">
                <a:solidFill>
                  <a:srgbClr val="94A3B8"/>
                </a:solidFill>
                <a:latin typeface="Segoe UI" panose="020B0502040204020203" pitchFamily="34" charset="0"/>
              </a:rPr>
              <a:t>15 / 20</a:t>
            </a:r>
          </a:p>
        </p:txBody>
      </p:sp>
      <p:sp>
        <p:nvSpPr>
          <p:cNvPr id="6" name="TextBox 5">
            <a:extLst>
              <a:ext uri="{FF2B5EF4-FFF2-40B4-BE49-F238E27FC236}">
                <a16:creationId xmlns:a16="http://schemas.microsoft.com/office/drawing/2014/main" id="{3DF8E2D7-D3A7-C7A1-264C-B1CE0618FD1D}"/>
              </a:ext>
            </a:extLst>
          </p:cNvPr>
          <p:cNvSpPr txBox="1"/>
          <p:nvPr/>
        </p:nvSpPr>
        <p:spPr>
          <a:xfrm>
            <a:off x="609600" y="1752600"/>
            <a:ext cx="5080000" cy="261610"/>
          </a:xfrm>
          <a:prstGeom prst="rect">
            <a:avLst/>
          </a:prstGeom>
          <a:noFill/>
        </p:spPr>
        <p:txBody>
          <a:bodyPr vert="horz" lIns="0" rtlCol="0">
            <a:spAutoFit/>
          </a:bodyPr>
          <a:lstStyle/>
          <a:p>
            <a:r>
              <a:rPr lang="en-GB" sz="1100" b="1">
                <a:solidFill>
                  <a:srgbClr val="4F46E5"/>
                </a:solidFill>
                <a:latin typeface="Segoe UI" panose="020B0502040204020203" pitchFamily="34" charset="0"/>
              </a:rPr>
              <a:t>RESOURCES IN API MANAGER</a:t>
            </a:r>
          </a:p>
        </p:txBody>
      </p:sp>
      <p:sp>
        <p:nvSpPr>
          <p:cNvPr id="10" name="TextBox 9">
            <a:extLst>
              <a:ext uri="{FF2B5EF4-FFF2-40B4-BE49-F238E27FC236}">
                <a16:creationId xmlns:a16="http://schemas.microsoft.com/office/drawing/2014/main" id="{CA27FDF8-55C4-DB90-C19E-AF4585386723}"/>
              </a:ext>
            </a:extLst>
          </p:cNvPr>
          <p:cNvSpPr txBox="1"/>
          <p:nvPr/>
        </p:nvSpPr>
        <p:spPr>
          <a:xfrm>
            <a:off x="609600" y="2032000"/>
            <a:ext cx="5334000" cy="238527"/>
          </a:xfrm>
          <a:prstGeom prst="rect">
            <a:avLst/>
          </a:prstGeom>
          <a:noFill/>
        </p:spPr>
        <p:txBody>
          <a:bodyPr vert="horz" wrap="square" lIns="0" rtlCol="0">
            <a:spAutoFit/>
          </a:bodyPr>
          <a:lstStyle/>
          <a:p>
            <a:r>
              <a:rPr lang="en-US" sz="950">
                <a:solidFill>
                  <a:srgbClr val="94A3B8"/>
                </a:solidFill>
                <a:latin typeface="Segoe UI" panose="020B0502040204020203" pitchFamily="34" charset="0"/>
              </a:rPr>
              <a:t>REST resources mirrored from the backend contract - exposed through one managed gateway.</a:t>
            </a:r>
            <a:endParaRPr lang="en-GB" sz="950">
              <a:solidFill>
                <a:srgbClr val="94A3B8"/>
              </a:solidFill>
              <a:latin typeface="Segoe UI" panose="020B0502040204020203" pitchFamily="34" charset="0"/>
            </a:endParaRPr>
          </a:p>
        </p:txBody>
      </p:sp>
      <p:sp>
        <p:nvSpPr>
          <p:cNvPr id="11" name="Rectangle 10">
            <a:extLst>
              <a:ext uri="{FF2B5EF4-FFF2-40B4-BE49-F238E27FC236}">
                <a16:creationId xmlns:a16="http://schemas.microsoft.com/office/drawing/2014/main" id="{69463E47-42DF-9CED-32A1-0737D81B4619}"/>
              </a:ext>
            </a:extLst>
          </p:cNvPr>
          <p:cNvSpPr/>
          <p:nvPr/>
        </p:nvSpPr>
        <p:spPr>
          <a:xfrm>
            <a:off x="609600" y="2489200"/>
            <a:ext cx="5359400" cy="635000"/>
          </a:xfrm>
          <a:prstGeom prst="rect">
            <a:avLst/>
          </a:prstGeom>
          <a:solidFill>
            <a:srgbClr val="F8FA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Rectangle 11">
            <a:extLst>
              <a:ext uri="{FF2B5EF4-FFF2-40B4-BE49-F238E27FC236}">
                <a16:creationId xmlns:a16="http://schemas.microsoft.com/office/drawing/2014/main" id="{6A195501-E962-A541-3CA8-9111B8DC5A36}"/>
              </a:ext>
            </a:extLst>
          </p:cNvPr>
          <p:cNvSpPr/>
          <p:nvPr/>
        </p:nvSpPr>
        <p:spPr>
          <a:xfrm>
            <a:off x="609600" y="2489200"/>
            <a:ext cx="63500" cy="635000"/>
          </a:xfrm>
          <a:prstGeom prst="rect">
            <a:avLst/>
          </a:prstGeom>
          <a:solidFill>
            <a:srgbClr val="4F46E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Box 12">
            <a:extLst>
              <a:ext uri="{FF2B5EF4-FFF2-40B4-BE49-F238E27FC236}">
                <a16:creationId xmlns:a16="http://schemas.microsoft.com/office/drawing/2014/main" id="{73904400-91CE-0612-8B57-01B025B60384}"/>
              </a:ext>
            </a:extLst>
          </p:cNvPr>
          <p:cNvSpPr txBox="1"/>
          <p:nvPr/>
        </p:nvSpPr>
        <p:spPr>
          <a:xfrm>
            <a:off x="838200" y="2578100"/>
            <a:ext cx="4978400" cy="384721"/>
          </a:xfrm>
          <a:prstGeom prst="rect">
            <a:avLst/>
          </a:prstGeom>
          <a:noFill/>
        </p:spPr>
        <p:txBody>
          <a:bodyPr vert="horz" lIns="0" rIns="0" rtlCol="0">
            <a:spAutoFit/>
          </a:bodyPr>
          <a:lstStyle/>
          <a:p>
            <a:r>
              <a:rPr lang="en-US" sz="1050" b="1">
                <a:solidFill>
                  <a:srgbClr val="0F172A"/>
                </a:solidFill>
                <a:latin typeface="Segoe UI" panose="020B0502040204020203" pitchFamily="34" charset="0"/>
              </a:rPr>
              <a:t>Authentication</a:t>
            </a:r>
          </a:p>
          <a:p>
            <a:r>
              <a:rPr lang="en-US" sz="850">
                <a:solidFill>
                  <a:srgbClr val="94A3B8"/>
                </a:solidFill>
                <a:latin typeface="Consolas" panose="020B0609020204030204" pitchFamily="49" charset="0"/>
              </a:rPr>
              <a:t>POST /api/auth/login - register - forgot/reset</a:t>
            </a:r>
            <a:endParaRPr lang="en-GB" sz="850">
              <a:solidFill>
                <a:srgbClr val="94A3B8"/>
              </a:solidFill>
              <a:latin typeface="Consolas" panose="020B0609020204030204" pitchFamily="49" charset="0"/>
            </a:endParaRPr>
          </a:p>
        </p:txBody>
      </p:sp>
      <p:sp>
        <p:nvSpPr>
          <p:cNvPr id="14" name="Rectangle 13">
            <a:extLst>
              <a:ext uri="{FF2B5EF4-FFF2-40B4-BE49-F238E27FC236}">
                <a16:creationId xmlns:a16="http://schemas.microsoft.com/office/drawing/2014/main" id="{05913C14-5713-7FCE-CDDE-599EDA953E2A}"/>
              </a:ext>
            </a:extLst>
          </p:cNvPr>
          <p:cNvSpPr/>
          <p:nvPr/>
        </p:nvSpPr>
        <p:spPr>
          <a:xfrm>
            <a:off x="609600" y="3200400"/>
            <a:ext cx="5359400" cy="635000"/>
          </a:xfrm>
          <a:prstGeom prst="rect">
            <a:avLst/>
          </a:prstGeom>
          <a:solidFill>
            <a:srgbClr val="F8FA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Rectangle 14">
            <a:extLst>
              <a:ext uri="{FF2B5EF4-FFF2-40B4-BE49-F238E27FC236}">
                <a16:creationId xmlns:a16="http://schemas.microsoft.com/office/drawing/2014/main" id="{D8E9A100-2503-13E6-04CA-D8C48F0475D4}"/>
              </a:ext>
            </a:extLst>
          </p:cNvPr>
          <p:cNvSpPr/>
          <p:nvPr/>
        </p:nvSpPr>
        <p:spPr>
          <a:xfrm>
            <a:off x="609600" y="3200400"/>
            <a:ext cx="63500" cy="635000"/>
          </a:xfrm>
          <a:prstGeom prst="rect">
            <a:avLst/>
          </a:prstGeom>
          <a:solidFill>
            <a:srgbClr val="4F46E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TextBox 15">
            <a:extLst>
              <a:ext uri="{FF2B5EF4-FFF2-40B4-BE49-F238E27FC236}">
                <a16:creationId xmlns:a16="http://schemas.microsoft.com/office/drawing/2014/main" id="{1EFFAA53-6C25-8C3F-BA80-C005100C2BED}"/>
              </a:ext>
            </a:extLst>
          </p:cNvPr>
          <p:cNvSpPr txBox="1"/>
          <p:nvPr/>
        </p:nvSpPr>
        <p:spPr>
          <a:xfrm>
            <a:off x="838200" y="3289300"/>
            <a:ext cx="4978400" cy="384721"/>
          </a:xfrm>
          <a:prstGeom prst="rect">
            <a:avLst/>
          </a:prstGeom>
          <a:noFill/>
        </p:spPr>
        <p:txBody>
          <a:bodyPr vert="horz" lIns="0" rIns="0" rtlCol="0">
            <a:spAutoFit/>
          </a:bodyPr>
          <a:lstStyle/>
          <a:p>
            <a:r>
              <a:rPr lang="en-US" sz="1050" b="1">
                <a:solidFill>
                  <a:srgbClr val="0F172A"/>
                </a:solidFill>
                <a:latin typeface="Segoe UI" panose="020B0502040204020203" pitchFamily="34" charset="0"/>
              </a:rPr>
              <a:t>Books</a:t>
            </a:r>
          </a:p>
          <a:p>
            <a:r>
              <a:rPr lang="en-US" sz="850">
                <a:solidFill>
                  <a:srgbClr val="94A3B8"/>
                </a:solidFill>
                <a:latin typeface="Consolas" panose="020B0609020204030204" pitchFamily="49" charset="0"/>
              </a:rPr>
              <a:t>GET /api/books - GET /api/books/:id</a:t>
            </a:r>
            <a:endParaRPr lang="en-GB" sz="850">
              <a:solidFill>
                <a:srgbClr val="94A3B8"/>
              </a:solidFill>
              <a:latin typeface="Consolas" panose="020B0609020204030204" pitchFamily="49" charset="0"/>
            </a:endParaRPr>
          </a:p>
        </p:txBody>
      </p:sp>
      <p:sp>
        <p:nvSpPr>
          <p:cNvPr id="17" name="Rectangle 16">
            <a:extLst>
              <a:ext uri="{FF2B5EF4-FFF2-40B4-BE49-F238E27FC236}">
                <a16:creationId xmlns:a16="http://schemas.microsoft.com/office/drawing/2014/main" id="{A2904051-3D4A-5F45-F630-8109FC074832}"/>
              </a:ext>
            </a:extLst>
          </p:cNvPr>
          <p:cNvSpPr/>
          <p:nvPr/>
        </p:nvSpPr>
        <p:spPr>
          <a:xfrm>
            <a:off x="609600" y="3911600"/>
            <a:ext cx="5359400" cy="635000"/>
          </a:xfrm>
          <a:prstGeom prst="rect">
            <a:avLst/>
          </a:prstGeom>
          <a:solidFill>
            <a:srgbClr val="F8FA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Rectangle 17">
            <a:extLst>
              <a:ext uri="{FF2B5EF4-FFF2-40B4-BE49-F238E27FC236}">
                <a16:creationId xmlns:a16="http://schemas.microsoft.com/office/drawing/2014/main" id="{B2643BFE-882E-CCC3-75C2-0E4F3F5AE7F4}"/>
              </a:ext>
            </a:extLst>
          </p:cNvPr>
          <p:cNvSpPr/>
          <p:nvPr/>
        </p:nvSpPr>
        <p:spPr>
          <a:xfrm>
            <a:off x="609600" y="3911600"/>
            <a:ext cx="63500" cy="635000"/>
          </a:xfrm>
          <a:prstGeom prst="rect">
            <a:avLst/>
          </a:prstGeom>
          <a:solidFill>
            <a:srgbClr val="4F46E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TextBox 18">
            <a:extLst>
              <a:ext uri="{FF2B5EF4-FFF2-40B4-BE49-F238E27FC236}">
                <a16:creationId xmlns:a16="http://schemas.microsoft.com/office/drawing/2014/main" id="{9F6BFE35-8B3F-2B83-5ACB-403AEF32AA98}"/>
              </a:ext>
            </a:extLst>
          </p:cNvPr>
          <p:cNvSpPr txBox="1"/>
          <p:nvPr/>
        </p:nvSpPr>
        <p:spPr>
          <a:xfrm>
            <a:off x="838200" y="4000500"/>
            <a:ext cx="4978400" cy="384721"/>
          </a:xfrm>
          <a:prstGeom prst="rect">
            <a:avLst/>
          </a:prstGeom>
          <a:noFill/>
        </p:spPr>
        <p:txBody>
          <a:bodyPr vert="horz" lIns="0" rIns="0" rtlCol="0">
            <a:spAutoFit/>
          </a:bodyPr>
          <a:lstStyle/>
          <a:p>
            <a:r>
              <a:rPr lang="en-US" sz="1050" b="1">
                <a:solidFill>
                  <a:srgbClr val="0F172A"/>
                </a:solidFill>
                <a:latin typeface="Segoe UI" panose="020B0502040204020203" pitchFamily="34" charset="0"/>
              </a:rPr>
              <a:t>Borrowing requests</a:t>
            </a:r>
          </a:p>
          <a:p>
            <a:r>
              <a:rPr lang="en-US" sz="850">
                <a:solidFill>
                  <a:srgbClr val="94A3B8"/>
                </a:solidFill>
                <a:latin typeface="Consolas" panose="020B0609020204030204" pitchFamily="49" charset="0"/>
              </a:rPr>
              <a:t>POST /api/borrow - GET /api/requests/my</a:t>
            </a:r>
            <a:endParaRPr lang="en-GB" sz="850">
              <a:solidFill>
                <a:srgbClr val="94A3B8"/>
              </a:solidFill>
              <a:latin typeface="Consolas" panose="020B0609020204030204" pitchFamily="49" charset="0"/>
            </a:endParaRPr>
          </a:p>
        </p:txBody>
      </p:sp>
      <p:sp>
        <p:nvSpPr>
          <p:cNvPr id="20" name="Rectangle 19">
            <a:extLst>
              <a:ext uri="{FF2B5EF4-FFF2-40B4-BE49-F238E27FC236}">
                <a16:creationId xmlns:a16="http://schemas.microsoft.com/office/drawing/2014/main" id="{FDE29C81-46EF-131B-45CE-EE9544AFCB33}"/>
              </a:ext>
            </a:extLst>
          </p:cNvPr>
          <p:cNvSpPr/>
          <p:nvPr/>
        </p:nvSpPr>
        <p:spPr>
          <a:xfrm>
            <a:off x="609600" y="4622800"/>
            <a:ext cx="5359400" cy="635000"/>
          </a:xfrm>
          <a:prstGeom prst="rect">
            <a:avLst/>
          </a:prstGeom>
          <a:solidFill>
            <a:srgbClr val="F8FA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Rectangle 20">
            <a:extLst>
              <a:ext uri="{FF2B5EF4-FFF2-40B4-BE49-F238E27FC236}">
                <a16:creationId xmlns:a16="http://schemas.microsoft.com/office/drawing/2014/main" id="{A5D4CF45-F847-A3B5-88B3-974CA2373C0D}"/>
              </a:ext>
            </a:extLst>
          </p:cNvPr>
          <p:cNvSpPr/>
          <p:nvPr/>
        </p:nvSpPr>
        <p:spPr>
          <a:xfrm>
            <a:off x="609600" y="4622800"/>
            <a:ext cx="63500" cy="635000"/>
          </a:xfrm>
          <a:prstGeom prst="rect">
            <a:avLst/>
          </a:prstGeom>
          <a:solidFill>
            <a:srgbClr val="4F46E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TextBox 21">
            <a:extLst>
              <a:ext uri="{FF2B5EF4-FFF2-40B4-BE49-F238E27FC236}">
                <a16:creationId xmlns:a16="http://schemas.microsoft.com/office/drawing/2014/main" id="{510BA669-94ED-6468-70E8-04795E441A8A}"/>
              </a:ext>
            </a:extLst>
          </p:cNvPr>
          <p:cNvSpPr txBox="1"/>
          <p:nvPr/>
        </p:nvSpPr>
        <p:spPr>
          <a:xfrm>
            <a:off x="838200" y="4711700"/>
            <a:ext cx="4978400" cy="384721"/>
          </a:xfrm>
          <a:prstGeom prst="rect">
            <a:avLst/>
          </a:prstGeom>
          <a:noFill/>
        </p:spPr>
        <p:txBody>
          <a:bodyPr vert="horz" lIns="0" rIns="0" rtlCol="0">
            <a:spAutoFit/>
          </a:bodyPr>
          <a:lstStyle/>
          <a:p>
            <a:r>
              <a:rPr lang="en-US" sz="1050" b="1">
                <a:solidFill>
                  <a:srgbClr val="0F172A"/>
                </a:solidFill>
                <a:latin typeface="Segoe UI" panose="020B0502040204020203" pitchFamily="34" charset="0"/>
              </a:rPr>
              <a:t>Admin actions</a:t>
            </a:r>
          </a:p>
          <a:p>
            <a:r>
              <a:rPr lang="en-US" sz="850">
                <a:solidFill>
                  <a:srgbClr val="94A3B8"/>
                </a:solidFill>
                <a:latin typeface="Consolas" panose="020B0609020204030204" pitchFamily="49" charset="0"/>
              </a:rPr>
              <a:t>PUT /api/requests/:id/approve - deny</a:t>
            </a:r>
            <a:endParaRPr lang="en-GB" sz="850">
              <a:solidFill>
                <a:srgbClr val="94A3B8"/>
              </a:solidFill>
              <a:latin typeface="Consolas" panose="020B0609020204030204" pitchFamily="49" charset="0"/>
            </a:endParaRPr>
          </a:p>
        </p:txBody>
      </p:sp>
      <p:sp>
        <p:nvSpPr>
          <p:cNvPr id="23" name="Rectangle 22">
            <a:extLst>
              <a:ext uri="{FF2B5EF4-FFF2-40B4-BE49-F238E27FC236}">
                <a16:creationId xmlns:a16="http://schemas.microsoft.com/office/drawing/2014/main" id="{566FBA4E-5621-4407-2764-547FAE117711}"/>
              </a:ext>
            </a:extLst>
          </p:cNvPr>
          <p:cNvSpPr/>
          <p:nvPr/>
        </p:nvSpPr>
        <p:spPr>
          <a:xfrm>
            <a:off x="609600" y="5334000"/>
            <a:ext cx="5359400" cy="635000"/>
          </a:xfrm>
          <a:prstGeom prst="rect">
            <a:avLst/>
          </a:prstGeom>
          <a:solidFill>
            <a:srgbClr val="F8FA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Rectangle 23">
            <a:extLst>
              <a:ext uri="{FF2B5EF4-FFF2-40B4-BE49-F238E27FC236}">
                <a16:creationId xmlns:a16="http://schemas.microsoft.com/office/drawing/2014/main" id="{0C8F47F4-21A8-8CF9-8F56-8A11E16B6A04}"/>
              </a:ext>
            </a:extLst>
          </p:cNvPr>
          <p:cNvSpPr/>
          <p:nvPr/>
        </p:nvSpPr>
        <p:spPr>
          <a:xfrm>
            <a:off x="609600" y="5334000"/>
            <a:ext cx="63500" cy="635000"/>
          </a:xfrm>
          <a:prstGeom prst="rect">
            <a:avLst/>
          </a:prstGeom>
          <a:solidFill>
            <a:srgbClr val="4F46E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TextBox 24">
            <a:extLst>
              <a:ext uri="{FF2B5EF4-FFF2-40B4-BE49-F238E27FC236}">
                <a16:creationId xmlns:a16="http://schemas.microsoft.com/office/drawing/2014/main" id="{E1A5C31B-52C4-4467-9CBA-977681C79890}"/>
              </a:ext>
            </a:extLst>
          </p:cNvPr>
          <p:cNvSpPr txBox="1"/>
          <p:nvPr/>
        </p:nvSpPr>
        <p:spPr>
          <a:xfrm>
            <a:off x="838200" y="5422900"/>
            <a:ext cx="4978400" cy="384721"/>
          </a:xfrm>
          <a:prstGeom prst="rect">
            <a:avLst/>
          </a:prstGeom>
          <a:noFill/>
        </p:spPr>
        <p:txBody>
          <a:bodyPr vert="horz" lIns="0" rIns="0" rtlCol="0">
            <a:spAutoFit/>
          </a:bodyPr>
          <a:lstStyle/>
          <a:p>
            <a:r>
              <a:rPr lang="en-US" sz="1050" b="1">
                <a:solidFill>
                  <a:srgbClr val="0F172A"/>
                </a:solidFill>
                <a:latin typeface="Segoe UI" panose="020B0502040204020203" pitchFamily="34" charset="0"/>
              </a:rPr>
              <a:t>Notifications</a:t>
            </a:r>
          </a:p>
          <a:p>
            <a:r>
              <a:rPr lang="en-US" sz="850">
                <a:solidFill>
                  <a:srgbClr val="94A3B8"/>
                </a:solidFill>
                <a:latin typeface="Consolas" panose="020B0609020204030204" pitchFamily="49" charset="0"/>
              </a:rPr>
              <a:t>GET /api/notifications - unread count</a:t>
            </a:r>
            <a:endParaRPr lang="en-GB" sz="850">
              <a:solidFill>
                <a:srgbClr val="94A3B8"/>
              </a:solidFill>
              <a:latin typeface="Consolas" panose="020B0609020204030204" pitchFamily="49" charset="0"/>
            </a:endParaRPr>
          </a:p>
        </p:txBody>
      </p:sp>
      <p:sp>
        <p:nvSpPr>
          <p:cNvPr id="26" name="TextBox 25">
            <a:extLst>
              <a:ext uri="{FF2B5EF4-FFF2-40B4-BE49-F238E27FC236}">
                <a16:creationId xmlns:a16="http://schemas.microsoft.com/office/drawing/2014/main" id="{ED555960-2355-78D5-E2BB-5BD7DF8F562F}"/>
              </a:ext>
            </a:extLst>
          </p:cNvPr>
          <p:cNvSpPr txBox="1"/>
          <p:nvPr/>
        </p:nvSpPr>
        <p:spPr>
          <a:xfrm>
            <a:off x="6324600" y="1752600"/>
            <a:ext cx="5080000" cy="261610"/>
          </a:xfrm>
          <a:prstGeom prst="rect">
            <a:avLst/>
          </a:prstGeom>
          <a:noFill/>
        </p:spPr>
        <p:txBody>
          <a:bodyPr vert="horz" lIns="0" rtlCol="0">
            <a:spAutoFit/>
          </a:bodyPr>
          <a:lstStyle/>
          <a:p>
            <a:r>
              <a:rPr lang="en-US" sz="1100" b="1">
                <a:solidFill>
                  <a:srgbClr val="4F46E5"/>
                </a:solidFill>
                <a:latin typeface="Segoe UI" panose="020B0502040204020203" pitchFamily="34" charset="0"/>
              </a:rPr>
              <a:t>TOKEN POLICY AT THE GATEWAY</a:t>
            </a:r>
            <a:endParaRPr lang="en-GB" sz="1100" b="1">
              <a:solidFill>
                <a:srgbClr val="4F46E5"/>
              </a:solidFill>
              <a:latin typeface="Segoe UI" panose="020B0502040204020203" pitchFamily="34" charset="0"/>
            </a:endParaRPr>
          </a:p>
        </p:txBody>
      </p:sp>
      <p:sp>
        <p:nvSpPr>
          <p:cNvPr id="27" name="Rectangle 26">
            <a:extLst>
              <a:ext uri="{FF2B5EF4-FFF2-40B4-BE49-F238E27FC236}">
                <a16:creationId xmlns:a16="http://schemas.microsoft.com/office/drawing/2014/main" id="{336A068E-A87A-08B6-DCE9-4828142E183C}"/>
              </a:ext>
            </a:extLst>
          </p:cNvPr>
          <p:cNvSpPr/>
          <p:nvPr/>
        </p:nvSpPr>
        <p:spPr>
          <a:xfrm>
            <a:off x="6324600" y="2133600"/>
            <a:ext cx="5257800" cy="1625600"/>
          </a:xfrm>
          <a:prstGeom prst="rect">
            <a:avLst/>
          </a:prstGeom>
          <a:solidFill>
            <a:srgbClr val="EEF2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TextBox 27">
            <a:extLst>
              <a:ext uri="{FF2B5EF4-FFF2-40B4-BE49-F238E27FC236}">
                <a16:creationId xmlns:a16="http://schemas.microsoft.com/office/drawing/2014/main" id="{5B908B78-80B2-87CF-491F-FC3FB5EF1509}"/>
              </a:ext>
            </a:extLst>
          </p:cNvPr>
          <p:cNvSpPr txBox="1"/>
          <p:nvPr/>
        </p:nvSpPr>
        <p:spPr>
          <a:xfrm>
            <a:off x="6578600" y="2286000"/>
            <a:ext cx="4749800" cy="253916"/>
          </a:xfrm>
          <a:prstGeom prst="rect">
            <a:avLst/>
          </a:prstGeom>
          <a:noFill/>
        </p:spPr>
        <p:txBody>
          <a:bodyPr vert="horz" lIns="0" rtlCol="0">
            <a:spAutoFit/>
          </a:bodyPr>
          <a:lstStyle/>
          <a:p>
            <a:r>
              <a:rPr lang="en-GB" sz="1050" b="1">
                <a:solidFill>
                  <a:srgbClr val="4F46E5"/>
                </a:solidFill>
                <a:latin typeface="Segoe UI" panose="020B0502040204020203" pitchFamily="34" charset="0"/>
              </a:rPr>
              <a:t>INTEGRATION TOKEN</a:t>
            </a:r>
          </a:p>
        </p:txBody>
      </p:sp>
      <p:sp>
        <p:nvSpPr>
          <p:cNvPr id="29" name="TextBox 28">
            <a:extLst>
              <a:ext uri="{FF2B5EF4-FFF2-40B4-BE49-F238E27FC236}">
                <a16:creationId xmlns:a16="http://schemas.microsoft.com/office/drawing/2014/main" id="{A25FAD03-67AE-19D7-5395-7BB579108673}"/>
              </a:ext>
            </a:extLst>
          </p:cNvPr>
          <p:cNvSpPr txBox="1"/>
          <p:nvPr/>
        </p:nvSpPr>
        <p:spPr>
          <a:xfrm>
            <a:off x="6578600" y="2590800"/>
            <a:ext cx="4749800" cy="530915"/>
          </a:xfrm>
          <a:prstGeom prst="rect">
            <a:avLst/>
          </a:prstGeom>
          <a:noFill/>
        </p:spPr>
        <p:txBody>
          <a:bodyPr vert="horz" wrap="square" lIns="0" rtlCol="0">
            <a:spAutoFit/>
          </a:bodyPr>
          <a:lstStyle/>
          <a:p>
            <a:r>
              <a:rPr lang="en-US" sz="950">
                <a:solidFill>
                  <a:srgbClr val="0F172A"/>
                </a:solidFill>
                <a:latin typeface="Segoe UI" panose="020B0502040204020203" pitchFamily="34" charset="0"/>
              </a:rPr>
              <a:t>Controls client access through WSO2. Issued via the client_credentials grant and sent as Authorization: Bearer on every request - validated at the gateway before anything reaches the API.</a:t>
            </a:r>
            <a:endParaRPr lang="en-GB" sz="950">
              <a:solidFill>
                <a:srgbClr val="0F172A"/>
              </a:solidFill>
              <a:latin typeface="Segoe UI" panose="020B0502040204020203" pitchFamily="34" charset="0"/>
            </a:endParaRPr>
          </a:p>
        </p:txBody>
      </p:sp>
      <p:sp>
        <p:nvSpPr>
          <p:cNvPr id="30" name="Rectangle 29">
            <a:extLst>
              <a:ext uri="{FF2B5EF4-FFF2-40B4-BE49-F238E27FC236}">
                <a16:creationId xmlns:a16="http://schemas.microsoft.com/office/drawing/2014/main" id="{124A5F99-6390-CD76-46FF-32D2AB643D9E}"/>
              </a:ext>
            </a:extLst>
          </p:cNvPr>
          <p:cNvSpPr/>
          <p:nvPr/>
        </p:nvSpPr>
        <p:spPr>
          <a:xfrm>
            <a:off x="6324600" y="3886200"/>
            <a:ext cx="5257800" cy="1625600"/>
          </a:xfrm>
          <a:prstGeom prst="rect">
            <a:avLst/>
          </a:prstGeom>
          <a:solidFill>
            <a:srgbClr val="EEF2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TextBox 30">
            <a:extLst>
              <a:ext uri="{FF2B5EF4-FFF2-40B4-BE49-F238E27FC236}">
                <a16:creationId xmlns:a16="http://schemas.microsoft.com/office/drawing/2014/main" id="{BFFE4D17-19F9-61D0-4E0F-946EAB1DF669}"/>
              </a:ext>
            </a:extLst>
          </p:cNvPr>
          <p:cNvSpPr txBox="1"/>
          <p:nvPr/>
        </p:nvSpPr>
        <p:spPr>
          <a:xfrm>
            <a:off x="6578600" y="4038600"/>
            <a:ext cx="4749800" cy="253916"/>
          </a:xfrm>
          <a:prstGeom prst="rect">
            <a:avLst/>
          </a:prstGeom>
          <a:noFill/>
        </p:spPr>
        <p:txBody>
          <a:bodyPr vert="horz" lIns="0" rtlCol="0">
            <a:spAutoFit/>
          </a:bodyPr>
          <a:lstStyle/>
          <a:p>
            <a:r>
              <a:rPr lang="en-GB" sz="1050" b="1">
                <a:solidFill>
                  <a:srgbClr val="4F46E5"/>
                </a:solidFill>
                <a:latin typeface="Segoe UI" panose="020B0502040204020203" pitchFamily="34" charset="0"/>
              </a:rPr>
              <a:t>BACKEND TOKEN</a:t>
            </a:r>
          </a:p>
        </p:txBody>
      </p:sp>
      <p:sp>
        <p:nvSpPr>
          <p:cNvPr id="32" name="TextBox 31">
            <a:extLst>
              <a:ext uri="{FF2B5EF4-FFF2-40B4-BE49-F238E27FC236}">
                <a16:creationId xmlns:a16="http://schemas.microsoft.com/office/drawing/2014/main" id="{D7125AA2-35DA-E4F9-9C59-43797CFD4AC9}"/>
              </a:ext>
            </a:extLst>
          </p:cNvPr>
          <p:cNvSpPr txBox="1"/>
          <p:nvPr/>
        </p:nvSpPr>
        <p:spPr>
          <a:xfrm>
            <a:off x="6578600" y="4343400"/>
            <a:ext cx="4749800" cy="530915"/>
          </a:xfrm>
          <a:prstGeom prst="rect">
            <a:avLst/>
          </a:prstGeom>
          <a:noFill/>
        </p:spPr>
        <p:txBody>
          <a:bodyPr vert="horz" wrap="square" lIns="0" rtlCol="0">
            <a:spAutoFit/>
          </a:bodyPr>
          <a:lstStyle/>
          <a:p>
            <a:r>
              <a:rPr lang="en-US" sz="950">
                <a:solidFill>
                  <a:srgbClr val="0F172A"/>
                </a:solidFill>
                <a:latin typeface="Segoe UI" panose="020B0502040204020203" pitchFamily="34" charset="0"/>
              </a:rPr>
              <a:t>Secures communication toward the .NET API. The backend JWT travels in the user header, and a gateway policy swaps it into Authorization on the way to the backend - no backend code changes.</a:t>
            </a:r>
            <a:endParaRPr lang="en-GB" sz="950">
              <a:solidFill>
                <a:srgbClr val="0F172A"/>
              </a:solidFill>
              <a:latin typeface="Segoe UI" panose="020B0502040204020203" pitchFamily="34" charset="0"/>
            </a:endParaRPr>
          </a:p>
        </p:txBody>
      </p:sp>
      <p:sp>
        <p:nvSpPr>
          <p:cNvPr id="33" name="Rectangle 32">
            <a:extLst>
              <a:ext uri="{FF2B5EF4-FFF2-40B4-BE49-F238E27FC236}">
                <a16:creationId xmlns:a16="http://schemas.microsoft.com/office/drawing/2014/main" id="{A0AB65E5-C697-ECE2-493F-233F404C790F}"/>
              </a:ext>
            </a:extLst>
          </p:cNvPr>
          <p:cNvSpPr/>
          <p:nvPr/>
        </p:nvSpPr>
        <p:spPr>
          <a:xfrm>
            <a:off x="6324600" y="5689600"/>
            <a:ext cx="5257800" cy="584200"/>
          </a:xfrm>
          <a:prstGeom prst="rect">
            <a:avLst/>
          </a:prstGeom>
          <a:solidFill>
            <a:srgbClr val="F8FA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TextBox 33">
            <a:extLst>
              <a:ext uri="{FF2B5EF4-FFF2-40B4-BE49-F238E27FC236}">
                <a16:creationId xmlns:a16="http://schemas.microsoft.com/office/drawing/2014/main" id="{7D7EE3EA-1593-2520-6D90-F085805A0DC7}"/>
              </a:ext>
            </a:extLst>
          </p:cNvPr>
          <p:cNvSpPr txBox="1"/>
          <p:nvPr/>
        </p:nvSpPr>
        <p:spPr>
          <a:xfrm>
            <a:off x="6578600" y="5842000"/>
            <a:ext cx="4749800" cy="246221"/>
          </a:xfrm>
          <a:prstGeom prst="rect">
            <a:avLst/>
          </a:prstGeom>
          <a:noFill/>
        </p:spPr>
        <p:txBody>
          <a:bodyPr vert="horz" lIns="0" rtlCol="0">
            <a:spAutoFit/>
          </a:bodyPr>
          <a:lstStyle/>
          <a:p>
            <a:r>
              <a:rPr lang="en-US" sz="1000" b="1">
                <a:solidFill>
                  <a:srgbClr val="4F46E5"/>
                </a:solidFill>
                <a:latin typeface="Segoe UI" panose="020B0502040204020203" pitchFamily="34" charset="0"/>
              </a:rPr>
              <a:t>Policies standardize handling at the gateway - the backend stays untouched.</a:t>
            </a:r>
            <a:endParaRPr lang="en-GB" sz="1000" b="1">
              <a:solidFill>
                <a:srgbClr val="4F46E5"/>
              </a:solidFill>
              <a:latin typeface="Segoe UI" panose="020B0502040204020203" pitchFamily="34" charset="0"/>
            </a:endParaRPr>
          </a:p>
        </p:txBody>
      </p:sp>
    </p:spTree>
    <p:extLst>
      <p:ext uri="{BB962C8B-B14F-4D97-AF65-F5344CB8AC3E}">
        <p14:creationId xmlns:p14="http://schemas.microsoft.com/office/powerpoint/2010/main" val="34406712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746B9E5-6CCD-378F-1780-0169FEEF3572}"/>
              </a:ext>
            </a:extLst>
          </p:cNvPr>
          <p:cNvSpPr/>
          <p:nvPr/>
        </p:nvSpPr>
        <p:spPr>
          <a:xfrm>
            <a:off x="609600" y="584200"/>
            <a:ext cx="88900" cy="635000"/>
          </a:xfrm>
          <a:prstGeom prst="rect">
            <a:avLst/>
          </a:prstGeom>
          <a:solidFill>
            <a:srgbClr val="4F46E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extBox 2">
            <a:extLst>
              <a:ext uri="{FF2B5EF4-FFF2-40B4-BE49-F238E27FC236}">
                <a16:creationId xmlns:a16="http://schemas.microsoft.com/office/drawing/2014/main" id="{E2C031E2-DDF6-7B4F-410E-20777A07BBB8}"/>
              </a:ext>
            </a:extLst>
          </p:cNvPr>
          <p:cNvSpPr txBox="1"/>
          <p:nvPr/>
        </p:nvSpPr>
        <p:spPr>
          <a:xfrm>
            <a:off x="863600" y="558800"/>
            <a:ext cx="9652000" cy="261610"/>
          </a:xfrm>
          <a:prstGeom prst="rect">
            <a:avLst/>
          </a:prstGeom>
          <a:noFill/>
        </p:spPr>
        <p:txBody>
          <a:bodyPr vert="horz" rtlCol="0">
            <a:spAutoFit/>
          </a:bodyPr>
          <a:lstStyle/>
          <a:p>
            <a:r>
              <a:rPr lang="en-GB" sz="1100" b="1">
                <a:solidFill>
                  <a:srgbClr val="4F46E5"/>
                </a:solidFill>
                <a:latin typeface="Segoe UI" panose="020B0502040204020203" pitchFamily="34" charset="0"/>
              </a:rPr>
              <a:t>MAIN WORKFLOW</a:t>
            </a:r>
          </a:p>
        </p:txBody>
      </p:sp>
      <p:sp>
        <p:nvSpPr>
          <p:cNvPr id="4" name="TextBox 3">
            <a:extLst>
              <a:ext uri="{FF2B5EF4-FFF2-40B4-BE49-F238E27FC236}">
                <a16:creationId xmlns:a16="http://schemas.microsoft.com/office/drawing/2014/main" id="{2A2A17DF-ADF0-2516-054F-C0648F93CFB2}"/>
              </a:ext>
            </a:extLst>
          </p:cNvPr>
          <p:cNvSpPr txBox="1"/>
          <p:nvPr/>
        </p:nvSpPr>
        <p:spPr>
          <a:xfrm>
            <a:off x="863600" y="800100"/>
            <a:ext cx="10414000" cy="507831"/>
          </a:xfrm>
          <a:prstGeom prst="rect">
            <a:avLst/>
          </a:prstGeom>
          <a:noFill/>
        </p:spPr>
        <p:txBody>
          <a:bodyPr vert="horz" rtlCol="0">
            <a:spAutoFit/>
          </a:bodyPr>
          <a:lstStyle/>
          <a:p>
            <a:r>
              <a:rPr lang="en-US" sz="2700" b="1">
                <a:solidFill>
                  <a:srgbClr val="0F172A"/>
                </a:solidFill>
                <a:latin typeface="Segoe UI" panose="020B0502040204020203" pitchFamily="34" charset="0"/>
              </a:rPr>
              <a:t>Borrowing a Book - End to End</a:t>
            </a:r>
            <a:endParaRPr lang="en-GB" sz="2700" b="1">
              <a:solidFill>
                <a:srgbClr val="0F172A"/>
              </a:solidFill>
              <a:latin typeface="Segoe UI" panose="020B0502040204020203" pitchFamily="34" charset="0"/>
            </a:endParaRPr>
          </a:p>
        </p:txBody>
      </p:sp>
      <p:sp>
        <p:nvSpPr>
          <p:cNvPr id="5" name="Rectangle 4">
            <a:extLst>
              <a:ext uri="{FF2B5EF4-FFF2-40B4-BE49-F238E27FC236}">
                <a16:creationId xmlns:a16="http://schemas.microsoft.com/office/drawing/2014/main" id="{047162EC-3284-F951-D131-B293265C0A1C}"/>
              </a:ext>
            </a:extLst>
          </p:cNvPr>
          <p:cNvSpPr/>
          <p:nvPr/>
        </p:nvSpPr>
        <p:spPr>
          <a:xfrm>
            <a:off x="609600" y="1549400"/>
            <a:ext cx="10972800" cy="19050"/>
          </a:xfrm>
          <a:prstGeom prst="rect">
            <a:avLst/>
          </a:prstGeom>
          <a:solidFill>
            <a:srgbClr val="E2E8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7" name="Picture 6">
            <a:extLst>
              <a:ext uri="{FF2B5EF4-FFF2-40B4-BE49-F238E27FC236}">
                <a16:creationId xmlns:a16="http://schemas.microsoft.com/office/drawing/2014/main" id="{59C8650B-37BE-E8C9-39EC-B7866DA1BA86}"/>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09600" y="1778000"/>
            <a:ext cx="10972800" cy="5600700"/>
          </a:xfrm>
          <a:prstGeom prst="rect">
            <a:avLst/>
          </a:prstGeom>
        </p:spPr>
      </p:pic>
      <p:sp>
        <p:nvSpPr>
          <p:cNvPr id="9" name="TextBox 8">
            <a:extLst>
              <a:ext uri="{FF2B5EF4-FFF2-40B4-BE49-F238E27FC236}">
                <a16:creationId xmlns:a16="http://schemas.microsoft.com/office/drawing/2014/main" id="{CEFA33DE-2EE4-4EAB-2378-8C3004684A5E}"/>
              </a:ext>
            </a:extLst>
          </p:cNvPr>
          <p:cNvSpPr txBox="1"/>
          <p:nvPr/>
        </p:nvSpPr>
        <p:spPr>
          <a:xfrm>
            <a:off x="10312400" y="6527800"/>
            <a:ext cx="1270000" cy="230832"/>
          </a:xfrm>
          <a:prstGeom prst="rect">
            <a:avLst/>
          </a:prstGeom>
          <a:noFill/>
        </p:spPr>
        <p:txBody>
          <a:bodyPr vert="horz" rtlCol="0">
            <a:spAutoFit/>
          </a:bodyPr>
          <a:lstStyle/>
          <a:p>
            <a:pPr algn="r"/>
            <a:r>
              <a:rPr lang="en-GB" sz="900">
                <a:solidFill>
                  <a:srgbClr val="94A3B8"/>
                </a:solidFill>
                <a:latin typeface="Segoe UI" panose="020B0502040204020203" pitchFamily="34" charset="0"/>
              </a:rPr>
              <a:t>16 / 20</a:t>
            </a:r>
          </a:p>
        </p:txBody>
      </p:sp>
    </p:spTree>
    <p:extLst>
      <p:ext uri="{BB962C8B-B14F-4D97-AF65-F5344CB8AC3E}">
        <p14:creationId xmlns:p14="http://schemas.microsoft.com/office/powerpoint/2010/main" val="29042434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47559D2-7B62-9980-16B5-4D36CCC7FAAA}"/>
              </a:ext>
            </a:extLst>
          </p:cNvPr>
          <p:cNvSpPr/>
          <p:nvPr/>
        </p:nvSpPr>
        <p:spPr>
          <a:xfrm>
            <a:off x="609600" y="584200"/>
            <a:ext cx="88900" cy="635000"/>
          </a:xfrm>
          <a:prstGeom prst="rect">
            <a:avLst/>
          </a:prstGeom>
          <a:solidFill>
            <a:srgbClr val="4F46E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extBox 2">
            <a:extLst>
              <a:ext uri="{FF2B5EF4-FFF2-40B4-BE49-F238E27FC236}">
                <a16:creationId xmlns:a16="http://schemas.microsoft.com/office/drawing/2014/main" id="{9F7843CE-BEC7-ED7E-174A-7FBAC2328390}"/>
              </a:ext>
            </a:extLst>
          </p:cNvPr>
          <p:cNvSpPr txBox="1"/>
          <p:nvPr/>
        </p:nvSpPr>
        <p:spPr>
          <a:xfrm>
            <a:off x="863600" y="558800"/>
            <a:ext cx="9652000" cy="261610"/>
          </a:xfrm>
          <a:prstGeom prst="rect">
            <a:avLst/>
          </a:prstGeom>
          <a:noFill/>
        </p:spPr>
        <p:txBody>
          <a:bodyPr vert="horz" rtlCol="0">
            <a:spAutoFit/>
          </a:bodyPr>
          <a:lstStyle/>
          <a:p>
            <a:r>
              <a:rPr lang="en-GB" sz="1100" b="1">
                <a:solidFill>
                  <a:srgbClr val="4F46E5"/>
                </a:solidFill>
                <a:latin typeface="Segoe UI" panose="020B0502040204020203" pitchFamily="34" charset="0"/>
              </a:rPr>
              <a:t>USER EXPERIENCE</a:t>
            </a:r>
          </a:p>
        </p:txBody>
      </p:sp>
      <p:sp>
        <p:nvSpPr>
          <p:cNvPr id="4" name="TextBox 3">
            <a:extLst>
              <a:ext uri="{FF2B5EF4-FFF2-40B4-BE49-F238E27FC236}">
                <a16:creationId xmlns:a16="http://schemas.microsoft.com/office/drawing/2014/main" id="{5FF1F336-2D7E-F7B0-EB9D-0CCB96D92421}"/>
              </a:ext>
            </a:extLst>
          </p:cNvPr>
          <p:cNvSpPr txBox="1"/>
          <p:nvPr/>
        </p:nvSpPr>
        <p:spPr>
          <a:xfrm>
            <a:off x="863600" y="800100"/>
            <a:ext cx="10414000" cy="507831"/>
          </a:xfrm>
          <a:prstGeom prst="rect">
            <a:avLst/>
          </a:prstGeom>
          <a:noFill/>
        </p:spPr>
        <p:txBody>
          <a:bodyPr vert="horz" rtlCol="0">
            <a:spAutoFit/>
          </a:bodyPr>
          <a:lstStyle/>
          <a:p>
            <a:r>
              <a:rPr lang="en-GB" sz="2700" b="1">
                <a:solidFill>
                  <a:srgbClr val="0F172A"/>
                </a:solidFill>
                <a:latin typeface="Segoe UI" panose="020B0502040204020203" pitchFamily="34" charset="0"/>
              </a:rPr>
              <a:t>Key Screens - User Journey</a:t>
            </a:r>
          </a:p>
        </p:txBody>
      </p:sp>
      <p:sp>
        <p:nvSpPr>
          <p:cNvPr id="5" name="Rectangle 4">
            <a:extLst>
              <a:ext uri="{FF2B5EF4-FFF2-40B4-BE49-F238E27FC236}">
                <a16:creationId xmlns:a16="http://schemas.microsoft.com/office/drawing/2014/main" id="{8B143CBD-C8A6-4989-8A14-7E19741D2912}"/>
              </a:ext>
            </a:extLst>
          </p:cNvPr>
          <p:cNvSpPr/>
          <p:nvPr/>
        </p:nvSpPr>
        <p:spPr>
          <a:xfrm>
            <a:off x="609600" y="1549400"/>
            <a:ext cx="10972800" cy="19050"/>
          </a:xfrm>
          <a:prstGeom prst="rect">
            <a:avLst/>
          </a:prstGeom>
          <a:solidFill>
            <a:srgbClr val="E2E8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7" name="Picture 6">
            <a:extLst>
              <a:ext uri="{FF2B5EF4-FFF2-40B4-BE49-F238E27FC236}">
                <a16:creationId xmlns:a16="http://schemas.microsoft.com/office/drawing/2014/main" id="{B8D9253C-D81C-0F24-DB30-6FD0A8A2209A}"/>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09600" y="1879600"/>
            <a:ext cx="3556000" cy="2006600"/>
          </a:xfrm>
          <a:prstGeom prst="rect">
            <a:avLst/>
          </a:prstGeom>
        </p:spPr>
      </p:pic>
      <p:sp>
        <p:nvSpPr>
          <p:cNvPr id="8" name="TextBox 7">
            <a:extLst>
              <a:ext uri="{FF2B5EF4-FFF2-40B4-BE49-F238E27FC236}">
                <a16:creationId xmlns:a16="http://schemas.microsoft.com/office/drawing/2014/main" id="{1F7E1A60-A210-C1BC-2452-E874B9996F6B}"/>
              </a:ext>
            </a:extLst>
          </p:cNvPr>
          <p:cNvSpPr txBox="1"/>
          <p:nvPr/>
        </p:nvSpPr>
        <p:spPr>
          <a:xfrm>
            <a:off x="609600" y="3962400"/>
            <a:ext cx="3556000" cy="400110"/>
          </a:xfrm>
          <a:prstGeom prst="rect">
            <a:avLst/>
          </a:prstGeom>
          <a:noFill/>
        </p:spPr>
        <p:txBody>
          <a:bodyPr vert="horz" rtlCol="0">
            <a:spAutoFit/>
          </a:bodyPr>
          <a:lstStyle/>
          <a:p>
            <a:r>
              <a:rPr lang="en-US" sz="1000">
                <a:solidFill>
                  <a:srgbClr val="475569"/>
                </a:solidFill>
                <a:latin typeface="Segoe UI" panose="020B0502040204020203" pitchFamily="34" charset="0"/>
              </a:rPr>
              <a:t>Catalog - live search, sort by title/author/date, availability filter, deep-linkable filters</a:t>
            </a:r>
            <a:endParaRPr lang="en-GB" sz="1000">
              <a:solidFill>
                <a:srgbClr val="475569"/>
              </a:solidFill>
              <a:latin typeface="Segoe UI" panose="020B0502040204020203" pitchFamily="34" charset="0"/>
            </a:endParaRPr>
          </a:p>
        </p:txBody>
      </p:sp>
      <p:pic>
        <p:nvPicPr>
          <p:cNvPr id="10" name="Picture 9">
            <a:extLst>
              <a:ext uri="{FF2B5EF4-FFF2-40B4-BE49-F238E27FC236}">
                <a16:creationId xmlns:a16="http://schemas.microsoft.com/office/drawing/2014/main" id="{7266C00D-7819-7C42-C579-3C054509513F}"/>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4318000" y="1879600"/>
            <a:ext cx="3556000" cy="2006600"/>
          </a:xfrm>
          <a:prstGeom prst="rect">
            <a:avLst/>
          </a:prstGeom>
        </p:spPr>
      </p:pic>
      <p:sp>
        <p:nvSpPr>
          <p:cNvPr id="11" name="TextBox 10">
            <a:extLst>
              <a:ext uri="{FF2B5EF4-FFF2-40B4-BE49-F238E27FC236}">
                <a16:creationId xmlns:a16="http://schemas.microsoft.com/office/drawing/2014/main" id="{17F210CE-92D1-8A04-8DA6-5F5DC740E4B1}"/>
              </a:ext>
            </a:extLst>
          </p:cNvPr>
          <p:cNvSpPr txBox="1"/>
          <p:nvPr/>
        </p:nvSpPr>
        <p:spPr>
          <a:xfrm>
            <a:off x="4318000" y="3962400"/>
            <a:ext cx="3556000" cy="400110"/>
          </a:xfrm>
          <a:prstGeom prst="rect">
            <a:avLst/>
          </a:prstGeom>
          <a:noFill/>
        </p:spPr>
        <p:txBody>
          <a:bodyPr vert="horz" rtlCol="0">
            <a:spAutoFit/>
          </a:bodyPr>
          <a:lstStyle/>
          <a:p>
            <a:r>
              <a:rPr lang="en-US" sz="1000">
                <a:solidFill>
                  <a:srgbClr val="475569"/>
                </a:solidFill>
                <a:latin typeface="Segoe UI" panose="020B0502040204020203" pitchFamily="34" charset="0"/>
              </a:rPr>
              <a:t>Book details - copies, ISBN, availability and the 1-30 day borrow form</a:t>
            </a:r>
            <a:endParaRPr lang="en-GB" sz="1000">
              <a:solidFill>
                <a:srgbClr val="475569"/>
              </a:solidFill>
              <a:latin typeface="Segoe UI" panose="020B0502040204020203" pitchFamily="34" charset="0"/>
            </a:endParaRPr>
          </a:p>
        </p:txBody>
      </p:sp>
      <p:pic>
        <p:nvPicPr>
          <p:cNvPr id="13" name="Picture 12">
            <a:extLst>
              <a:ext uri="{FF2B5EF4-FFF2-40B4-BE49-F238E27FC236}">
                <a16:creationId xmlns:a16="http://schemas.microsoft.com/office/drawing/2014/main" id="{93C3D18B-17B0-907A-635F-05F3A681A278}"/>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8026400" y="1879600"/>
            <a:ext cx="3556000" cy="2006600"/>
          </a:xfrm>
          <a:prstGeom prst="rect">
            <a:avLst/>
          </a:prstGeom>
        </p:spPr>
      </p:pic>
      <p:sp>
        <p:nvSpPr>
          <p:cNvPr id="14" name="TextBox 13">
            <a:extLst>
              <a:ext uri="{FF2B5EF4-FFF2-40B4-BE49-F238E27FC236}">
                <a16:creationId xmlns:a16="http://schemas.microsoft.com/office/drawing/2014/main" id="{D4A3C43D-D67B-50CA-B1B0-C8245216976C}"/>
              </a:ext>
            </a:extLst>
          </p:cNvPr>
          <p:cNvSpPr txBox="1"/>
          <p:nvPr/>
        </p:nvSpPr>
        <p:spPr>
          <a:xfrm>
            <a:off x="8026400" y="3962400"/>
            <a:ext cx="3556000" cy="400110"/>
          </a:xfrm>
          <a:prstGeom prst="rect">
            <a:avLst/>
          </a:prstGeom>
          <a:noFill/>
        </p:spPr>
        <p:txBody>
          <a:bodyPr vert="horz" rtlCol="0">
            <a:spAutoFit/>
          </a:bodyPr>
          <a:lstStyle/>
          <a:p>
            <a:r>
              <a:rPr lang="en-US" sz="1000">
                <a:solidFill>
                  <a:srgbClr val="475569"/>
                </a:solidFill>
                <a:latin typeface="Segoe UI" panose="020B0502040204020203" pitchFamily="34" charset="0"/>
              </a:rPr>
              <a:t>My Requests - history with status badges and Cairo timestamps</a:t>
            </a:r>
            <a:endParaRPr lang="en-GB" sz="1000">
              <a:solidFill>
                <a:srgbClr val="475569"/>
              </a:solidFill>
              <a:latin typeface="Segoe UI" panose="020B0502040204020203" pitchFamily="34" charset="0"/>
            </a:endParaRPr>
          </a:p>
        </p:txBody>
      </p:sp>
      <p:sp>
        <p:nvSpPr>
          <p:cNvPr id="15" name="Rectangle 14">
            <a:extLst>
              <a:ext uri="{FF2B5EF4-FFF2-40B4-BE49-F238E27FC236}">
                <a16:creationId xmlns:a16="http://schemas.microsoft.com/office/drawing/2014/main" id="{52576B87-D00C-152E-1E09-AA8E0C657D0B}"/>
              </a:ext>
            </a:extLst>
          </p:cNvPr>
          <p:cNvSpPr/>
          <p:nvPr/>
        </p:nvSpPr>
        <p:spPr>
          <a:xfrm>
            <a:off x="609600" y="4826000"/>
            <a:ext cx="10972800" cy="1473200"/>
          </a:xfrm>
          <a:prstGeom prst="rect">
            <a:avLst/>
          </a:prstGeom>
          <a:solidFill>
            <a:srgbClr val="EEF2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TextBox 15">
            <a:extLst>
              <a:ext uri="{FF2B5EF4-FFF2-40B4-BE49-F238E27FC236}">
                <a16:creationId xmlns:a16="http://schemas.microsoft.com/office/drawing/2014/main" id="{1277F0F5-D899-C778-4268-43F90D4D4AD7}"/>
              </a:ext>
            </a:extLst>
          </p:cNvPr>
          <p:cNvSpPr txBox="1"/>
          <p:nvPr/>
        </p:nvSpPr>
        <p:spPr>
          <a:xfrm>
            <a:off x="812800" y="4978400"/>
            <a:ext cx="10541000" cy="646331"/>
          </a:xfrm>
          <a:prstGeom prst="rect">
            <a:avLst/>
          </a:prstGeom>
          <a:noFill/>
        </p:spPr>
        <p:txBody>
          <a:bodyPr vert="horz" rtlCol="0">
            <a:spAutoFit/>
          </a:bodyPr>
          <a:lstStyle/>
          <a:p>
            <a:r>
              <a:rPr lang="en-US" sz="1200">
                <a:solidFill>
                  <a:srgbClr val="3730A3"/>
                </a:solidFill>
                <a:latin typeface="Segoe UI" panose="020B0502040204020203" pitchFamily="34" charset="0"/>
              </a:rPr>
              <a:t>Registration and password reset are fully implemented: signing up issues a session immediately, and a forgotten password is recovered with a single-use emailed token that expires after 30 minutes. Users can also delete their account - it requires the current password and removes all their data in one transaction.</a:t>
            </a:r>
            <a:endParaRPr lang="en-GB" sz="1200">
              <a:solidFill>
                <a:srgbClr val="3730A3"/>
              </a:solidFill>
              <a:latin typeface="Segoe UI" panose="020B0502040204020203" pitchFamily="34" charset="0"/>
            </a:endParaRPr>
          </a:p>
        </p:txBody>
      </p:sp>
      <p:sp>
        <p:nvSpPr>
          <p:cNvPr id="18" name="TextBox 17">
            <a:extLst>
              <a:ext uri="{FF2B5EF4-FFF2-40B4-BE49-F238E27FC236}">
                <a16:creationId xmlns:a16="http://schemas.microsoft.com/office/drawing/2014/main" id="{B7BCD4A6-9C87-3655-68F6-434FBFC72A7B}"/>
              </a:ext>
            </a:extLst>
          </p:cNvPr>
          <p:cNvSpPr txBox="1"/>
          <p:nvPr/>
        </p:nvSpPr>
        <p:spPr>
          <a:xfrm>
            <a:off x="10312400" y="6527800"/>
            <a:ext cx="1270000" cy="230832"/>
          </a:xfrm>
          <a:prstGeom prst="rect">
            <a:avLst/>
          </a:prstGeom>
          <a:noFill/>
        </p:spPr>
        <p:txBody>
          <a:bodyPr vert="horz" rtlCol="0">
            <a:spAutoFit/>
          </a:bodyPr>
          <a:lstStyle/>
          <a:p>
            <a:pPr algn="r"/>
            <a:r>
              <a:rPr lang="en-GB" sz="900">
                <a:solidFill>
                  <a:srgbClr val="94A3B8"/>
                </a:solidFill>
                <a:latin typeface="Segoe UI" panose="020B0502040204020203" pitchFamily="34" charset="0"/>
              </a:rPr>
              <a:t>17 / 20</a:t>
            </a:r>
          </a:p>
        </p:txBody>
      </p:sp>
    </p:spTree>
    <p:extLst>
      <p:ext uri="{BB962C8B-B14F-4D97-AF65-F5344CB8AC3E}">
        <p14:creationId xmlns:p14="http://schemas.microsoft.com/office/powerpoint/2010/main" val="14334846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8DFB783-ACDE-944B-EF9D-0E7BDB43E5A5}"/>
              </a:ext>
            </a:extLst>
          </p:cNvPr>
          <p:cNvSpPr/>
          <p:nvPr/>
        </p:nvSpPr>
        <p:spPr>
          <a:xfrm>
            <a:off x="609600" y="584200"/>
            <a:ext cx="88900" cy="635000"/>
          </a:xfrm>
          <a:prstGeom prst="rect">
            <a:avLst/>
          </a:prstGeom>
          <a:solidFill>
            <a:srgbClr val="4F46E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extBox 2">
            <a:extLst>
              <a:ext uri="{FF2B5EF4-FFF2-40B4-BE49-F238E27FC236}">
                <a16:creationId xmlns:a16="http://schemas.microsoft.com/office/drawing/2014/main" id="{01556F3F-CA19-6B37-AC9B-910CC605BECB}"/>
              </a:ext>
            </a:extLst>
          </p:cNvPr>
          <p:cNvSpPr txBox="1"/>
          <p:nvPr/>
        </p:nvSpPr>
        <p:spPr>
          <a:xfrm>
            <a:off x="863600" y="558800"/>
            <a:ext cx="9652000" cy="261610"/>
          </a:xfrm>
          <a:prstGeom prst="rect">
            <a:avLst/>
          </a:prstGeom>
          <a:noFill/>
        </p:spPr>
        <p:txBody>
          <a:bodyPr vert="horz" rtlCol="0">
            <a:spAutoFit/>
          </a:bodyPr>
          <a:lstStyle/>
          <a:p>
            <a:r>
              <a:rPr lang="en-GB" sz="1100" b="1">
                <a:solidFill>
                  <a:srgbClr val="4F46E5"/>
                </a:solidFill>
                <a:latin typeface="Segoe UI" panose="020B0502040204020203" pitchFamily="34" charset="0"/>
              </a:rPr>
              <a:t>ADMIN EXPERIENCE</a:t>
            </a:r>
          </a:p>
        </p:txBody>
      </p:sp>
      <p:sp>
        <p:nvSpPr>
          <p:cNvPr id="4" name="TextBox 3">
            <a:extLst>
              <a:ext uri="{FF2B5EF4-FFF2-40B4-BE49-F238E27FC236}">
                <a16:creationId xmlns:a16="http://schemas.microsoft.com/office/drawing/2014/main" id="{C150FF7A-405E-785B-F330-1224B5D458DD}"/>
              </a:ext>
            </a:extLst>
          </p:cNvPr>
          <p:cNvSpPr txBox="1"/>
          <p:nvPr/>
        </p:nvSpPr>
        <p:spPr>
          <a:xfrm>
            <a:off x="863600" y="800100"/>
            <a:ext cx="10414000" cy="507831"/>
          </a:xfrm>
          <a:prstGeom prst="rect">
            <a:avLst/>
          </a:prstGeom>
          <a:noFill/>
        </p:spPr>
        <p:txBody>
          <a:bodyPr vert="horz" rtlCol="0">
            <a:spAutoFit/>
          </a:bodyPr>
          <a:lstStyle/>
          <a:p>
            <a:r>
              <a:rPr lang="en-GB" sz="2700" b="1">
                <a:solidFill>
                  <a:srgbClr val="0F172A"/>
                </a:solidFill>
                <a:latin typeface="Segoe UI" panose="020B0502040204020203" pitchFamily="34" charset="0"/>
              </a:rPr>
              <a:t>Key Screens - Review &amp; Notifications</a:t>
            </a:r>
          </a:p>
        </p:txBody>
      </p:sp>
      <p:sp>
        <p:nvSpPr>
          <p:cNvPr id="5" name="Rectangle 4">
            <a:extLst>
              <a:ext uri="{FF2B5EF4-FFF2-40B4-BE49-F238E27FC236}">
                <a16:creationId xmlns:a16="http://schemas.microsoft.com/office/drawing/2014/main" id="{130D2D9B-2967-7D30-AAB2-77E1A195CDC1}"/>
              </a:ext>
            </a:extLst>
          </p:cNvPr>
          <p:cNvSpPr/>
          <p:nvPr/>
        </p:nvSpPr>
        <p:spPr>
          <a:xfrm>
            <a:off x="609600" y="1549400"/>
            <a:ext cx="10972800" cy="19050"/>
          </a:xfrm>
          <a:prstGeom prst="rect">
            <a:avLst/>
          </a:prstGeom>
          <a:solidFill>
            <a:srgbClr val="E2E8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7" name="Picture 6">
            <a:extLst>
              <a:ext uri="{FF2B5EF4-FFF2-40B4-BE49-F238E27FC236}">
                <a16:creationId xmlns:a16="http://schemas.microsoft.com/office/drawing/2014/main" id="{6DBFEEBA-05BB-4891-588E-F91A7B854C8F}"/>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09600" y="1879600"/>
            <a:ext cx="5334000" cy="2997200"/>
          </a:xfrm>
          <a:prstGeom prst="rect">
            <a:avLst/>
          </a:prstGeom>
        </p:spPr>
      </p:pic>
      <p:sp>
        <p:nvSpPr>
          <p:cNvPr id="8" name="TextBox 7">
            <a:extLst>
              <a:ext uri="{FF2B5EF4-FFF2-40B4-BE49-F238E27FC236}">
                <a16:creationId xmlns:a16="http://schemas.microsoft.com/office/drawing/2014/main" id="{633C5459-C917-00A0-2D84-C2F42640A881}"/>
              </a:ext>
            </a:extLst>
          </p:cNvPr>
          <p:cNvSpPr txBox="1"/>
          <p:nvPr/>
        </p:nvSpPr>
        <p:spPr>
          <a:xfrm>
            <a:off x="609600" y="4978400"/>
            <a:ext cx="5334000" cy="415498"/>
          </a:xfrm>
          <a:prstGeom prst="rect">
            <a:avLst/>
          </a:prstGeom>
          <a:noFill/>
        </p:spPr>
        <p:txBody>
          <a:bodyPr vert="horz" rtlCol="0">
            <a:spAutoFit/>
          </a:bodyPr>
          <a:lstStyle/>
          <a:p>
            <a:r>
              <a:rPr lang="en-US" sz="1050">
                <a:solidFill>
                  <a:srgbClr val="475569"/>
                </a:solidFill>
                <a:latin typeface="Segoe UI" panose="020B0502040204020203" pitchFamily="34" charset="0"/>
              </a:rPr>
              <a:t>Review queue - approve or deny; denial requires a written reason; 409 conflicts refetch live state</a:t>
            </a:r>
            <a:endParaRPr lang="en-GB" sz="1050">
              <a:solidFill>
                <a:srgbClr val="475569"/>
              </a:solidFill>
              <a:latin typeface="Segoe UI" panose="020B0502040204020203" pitchFamily="34" charset="0"/>
            </a:endParaRPr>
          </a:p>
        </p:txBody>
      </p:sp>
      <p:pic>
        <p:nvPicPr>
          <p:cNvPr id="10" name="Picture 9">
            <a:extLst>
              <a:ext uri="{FF2B5EF4-FFF2-40B4-BE49-F238E27FC236}">
                <a16:creationId xmlns:a16="http://schemas.microsoft.com/office/drawing/2014/main" id="{CB777940-DDB2-9887-57F1-25669C66A221}"/>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6248400" y="1879600"/>
            <a:ext cx="5334000" cy="2997200"/>
          </a:xfrm>
          <a:prstGeom prst="rect">
            <a:avLst/>
          </a:prstGeom>
        </p:spPr>
      </p:pic>
      <p:sp>
        <p:nvSpPr>
          <p:cNvPr id="11" name="TextBox 10">
            <a:extLst>
              <a:ext uri="{FF2B5EF4-FFF2-40B4-BE49-F238E27FC236}">
                <a16:creationId xmlns:a16="http://schemas.microsoft.com/office/drawing/2014/main" id="{FD1848AF-AE0E-8753-AE2D-D7FFDE3687FE}"/>
              </a:ext>
            </a:extLst>
          </p:cNvPr>
          <p:cNvSpPr txBox="1"/>
          <p:nvPr/>
        </p:nvSpPr>
        <p:spPr>
          <a:xfrm>
            <a:off x="6248400" y="4978400"/>
            <a:ext cx="5334000" cy="415498"/>
          </a:xfrm>
          <a:prstGeom prst="rect">
            <a:avLst/>
          </a:prstGeom>
          <a:noFill/>
        </p:spPr>
        <p:txBody>
          <a:bodyPr vert="horz" rtlCol="0">
            <a:spAutoFit/>
          </a:bodyPr>
          <a:lstStyle/>
          <a:p>
            <a:r>
              <a:rPr lang="en-US" sz="1050">
                <a:solidFill>
                  <a:srgbClr val="475569"/>
                </a:solidFill>
                <a:latin typeface="Segoe UI" panose="020B0502040204020203" pitchFamily="34" charset="0"/>
              </a:rPr>
              <a:t>Notification inbox - real-time SignalR pushes merged with REST history, unread badge in the header</a:t>
            </a:r>
            <a:endParaRPr lang="en-GB" sz="1050">
              <a:solidFill>
                <a:srgbClr val="475569"/>
              </a:solidFill>
              <a:latin typeface="Segoe UI" panose="020B0502040204020203" pitchFamily="34" charset="0"/>
            </a:endParaRPr>
          </a:p>
        </p:txBody>
      </p:sp>
      <p:sp>
        <p:nvSpPr>
          <p:cNvPr id="13" name="TextBox 12">
            <a:extLst>
              <a:ext uri="{FF2B5EF4-FFF2-40B4-BE49-F238E27FC236}">
                <a16:creationId xmlns:a16="http://schemas.microsoft.com/office/drawing/2014/main" id="{DCC05EEC-D3B7-7368-CF2E-1031F1E1153E}"/>
              </a:ext>
            </a:extLst>
          </p:cNvPr>
          <p:cNvSpPr txBox="1"/>
          <p:nvPr/>
        </p:nvSpPr>
        <p:spPr>
          <a:xfrm>
            <a:off x="10312400" y="6527800"/>
            <a:ext cx="1270000" cy="230832"/>
          </a:xfrm>
          <a:prstGeom prst="rect">
            <a:avLst/>
          </a:prstGeom>
          <a:noFill/>
        </p:spPr>
        <p:txBody>
          <a:bodyPr vert="horz" rtlCol="0">
            <a:spAutoFit/>
          </a:bodyPr>
          <a:lstStyle/>
          <a:p>
            <a:pPr algn="r"/>
            <a:r>
              <a:rPr lang="en-GB" sz="900">
                <a:solidFill>
                  <a:srgbClr val="94A3B8"/>
                </a:solidFill>
                <a:latin typeface="Segoe UI" panose="020B0502040204020203" pitchFamily="34" charset="0"/>
              </a:rPr>
              <a:t>18 / 20</a:t>
            </a:r>
          </a:p>
        </p:txBody>
      </p:sp>
    </p:spTree>
    <p:extLst>
      <p:ext uri="{BB962C8B-B14F-4D97-AF65-F5344CB8AC3E}">
        <p14:creationId xmlns:p14="http://schemas.microsoft.com/office/powerpoint/2010/main" val="24460575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2853645-C24E-C2DF-6F35-912DF7B75DF6}"/>
              </a:ext>
            </a:extLst>
          </p:cNvPr>
          <p:cNvSpPr/>
          <p:nvPr/>
        </p:nvSpPr>
        <p:spPr>
          <a:xfrm>
            <a:off x="609600" y="584200"/>
            <a:ext cx="88900" cy="635000"/>
          </a:xfrm>
          <a:prstGeom prst="rect">
            <a:avLst/>
          </a:prstGeom>
          <a:solidFill>
            <a:srgbClr val="4F46E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extBox 2">
            <a:extLst>
              <a:ext uri="{FF2B5EF4-FFF2-40B4-BE49-F238E27FC236}">
                <a16:creationId xmlns:a16="http://schemas.microsoft.com/office/drawing/2014/main" id="{0975D0F0-45D5-D433-68A2-6DCC4ECDF3E2}"/>
              </a:ext>
            </a:extLst>
          </p:cNvPr>
          <p:cNvSpPr txBox="1"/>
          <p:nvPr/>
        </p:nvSpPr>
        <p:spPr>
          <a:xfrm>
            <a:off x="863600" y="558800"/>
            <a:ext cx="9652000" cy="261610"/>
          </a:xfrm>
          <a:prstGeom prst="rect">
            <a:avLst/>
          </a:prstGeom>
          <a:noFill/>
        </p:spPr>
        <p:txBody>
          <a:bodyPr vert="horz" rtlCol="0">
            <a:spAutoFit/>
          </a:bodyPr>
          <a:lstStyle/>
          <a:p>
            <a:r>
              <a:rPr lang="en-GB" sz="1100" b="1">
                <a:solidFill>
                  <a:srgbClr val="4F46E5"/>
                </a:solidFill>
                <a:latin typeface="Segoe UI" panose="020B0502040204020203" pitchFamily="34" charset="0"/>
              </a:rPr>
              <a:t>QUALITY</a:t>
            </a:r>
          </a:p>
        </p:txBody>
      </p:sp>
      <p:sp>
        <p:nvSpPr>
          <p:cNvPr id="4" name="TextBox 3">
            <a:extLst>
              <a:ext uri="{FF2B5EF4-FFF2-40B4-BE49-F238E27FC236}">
                <a16:creationId xmlns:a16="http://schemas.microsoft.com/office/drawing/2014/main" id="{EE78D25A-0E89-B464-33E6-6967952A1282}"/>
              </a:ext>
            </a:extLst>
          </p:cNvPr>
          <p:cNvSpPr txBox="1"/>
          <p:nvPr/>
        </p:nvSpPr>
        <p:spPr>
          <a:xfrm>
            <a:off x="863600" y="800100"/>
            <a:ext cx="10414000" cy="507831"/>
          </a:xfrm>
          <a:prstGeom prst="rect">
            <a:avLst/>
          </a:prstGeom>
          <a:noFill/>
        </p:spPr>
        <p:txBody>
          <a:bodyPr vert="horz" rtlCol="0">
            <a:spAutoFit/>
          </a:bodyPr>
          <a:lstStyle/>
          <a:p>
            <a:r>
              <a:rPr lang="en-GB" sz="2700" b="1">
                <a:solidFill>
                  <a:srgbClr val="0F172A"/>
                </a:solidFill>
                <a:latin typeface="Segoe UI" panose="020B0502040204020203" pitchFamily="34" charset="0"/>
              </a:rPr>
              <a:t>Security &amp; Validation</a:t>
            </a:r>
          </a:p>
        </p:txBody>
      </p:sp>
      <p:sp>
        <p:nvSpPr>
          <p:cNvPr id="5" name="Rectangle 4">
            <a:extLst>
              <a:ext uri="{FF2B5EF4-FFF2-40B4-BE49-F238E27FC236}">
                <a16:creationId xmlns:a16="http://schemas.microsoft.com/office/drawing/2014/main" id="{336A184C-BB3B-040C-B6CF-E1A747D559EA}"/>
              </a:ext>
            </a:extLst>
          </p:cNvPr>
          <p:cNvSpPr/>
          <p:nvPr/>
        </p:nvSpPr>
        <p:spPr>
          <a:xfrm>
            <a:off x="609600" y="1549400"/>
            <a:ext cx="10972800" cy="19050"/>
          </a:xfrm>
          <a:prstGeom prst="rect">
            <a:avLst/>
          </a:prstGeom>
          <a:solidFill>
            <a:srgbClr val="E2E8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34C3D71A-2C74-A9C4-3537-E014BE7FAA3B}"/>
              </a:ext>
            </a:extLst>
          </p:cNvPr>
          <p:cNvSpPr/>
          <p:nvPr/>
        </p:nvSpPr>
        <p:spPr>
          <a:xfrm>
            <a:off x="609600" y="1879600"/>
            <a:ext cx="5384800" cy="4318000"/>
          </a:xfrm>
          <a:prstGeom prst="rect">
            <a:avLst/>
          </a:prstGeom>
          <a:solidFill>
            <a:srgbClr val="FFFFFF"/>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28F774CD-3D09-3458-BF2B-0EE95765B565}"/>
              </a:ext>
            </a:extLst>
          </p:cNvPr>
          <p:cNvSpPr/>
          <p:nvPr/>
        </p:nvSpPr>
        <p:spPr>
          <a:xfrm>
            <a:off x="609600" y="1879600"/>
            <a:ext cx="5384800" cy="50800"/>
          </a:xfrm>
          <a:prstGeom prst="rect">
            <a:avLst/>
          </a:prstGeom>
          <a:solidFill>
            <a:srgbClr val="4F46E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Box 7">
            <a:extLst>
              <a:ext uri="{FF2B5EF4-FFF2-40B4-BE49-F238E27FC236}">
                <a16:creationId xmlns:a16="http://schemas.microsoft.com/office/drawing/2014/main" id="{2C855A3B-297B-C4C9-F943-79DAE31B4A11}"/>
              </a:ext>
            </a:extLst>
          </p:cNvPr>
          <p:cNvSpPr txBox="1"/>
          <p:nvPr/>
        </p:nvSpPr>
        <p:spPr>
          <a:xfrm>
            <a:off x="812800" y="2032000"/>
            <a:ext cx="4978400" cy="307777"/>
          </a:xfrm>
          <a:prstGeom prst="rect">
            <a:avLst/>
          </a:prstGeom>
          <a:noFill/>
        </p:spPr>
        <p:txBody>
          <a:bodyPr vert="horz" rtlCol="0">
            <a:spAutoFit/>
          </a:bodyPr>
          <a:lstStyle/>
          <a:p>
            <a:r>
              <a:rPr lang="en-GB" sz="1400" b="1">
                <a:solidFill>
                  <a:srgbClr val="0F172A"/>
                </a:solidFill>
                <a:latin typeface="Segoe UI" panose="020B0502040204020203" pitchFamily="34" charset="0"/>
              </a:rPr>
              <a:t>Security</a:t>
            </a:r>
          </a:p>
        </p:txBody>
      </p:sp>
      <p:sp>
        <p:nvSpPr>
          <p:cNvPr id="9" name="TextBox 8">
            <a:extLst>
              <a:ext uri="{FF2B5EF4-FFF2-40B4-BE49-F238E27FC236}">
                <a16:creationId xmlns:a16="http://schemas.microsoft.com/office/drawing/2014/main" id="{68C5202D-4756-FAFD-B4F3-89B49DCFD109}"/>
              </a:ext>
            </a:extLst>
          </p:cNvPr>
          <p:cNvSpPr txBox="1"/>
          <p:nvPr/>
        </p:nvSpPr>
        <p:spPr>
          <a:xfrm>
            <a:off x="812800" y="2413000"/>
            <a:ext cx="5003800" cy="1200329"/>
          </a:xfrm>
          <a:prstGeom prst="rect">
            <a:avLst/>
          </a:prstGeom>
          <a:noFill/>
        </p:spPr>
        <p:txBody>
          <a:bodyPr vert="horz" rtlCol="0">
            <a:spAutoFit/>
          </a:bodyPr>
          <a:lstStyle/>
          <a:p>
            <a:pPr indent="-171450">
              <a:buChar char="•"/>
            </a:pPr>
            <a:r>
              <a:rPr lang="en-GB" sz="1200">
                <a:solidFill>
                  <a:srgbClr val="475569"/>
                </a:solidFill>
                <a:latin typeface="Segoe UI" panose="020B0502040204020203" pitchFamily="34" charset="0"/>
              </a:rPr>
              <a:t>PBKDF2-SHA256 hashing - 100k iterations, per-user salt</a:t>
            </a:r>
          </a:p>
          <a:p>
            <a:pPr indent="-171450">
              <a:buChar char="•"/>
            </a:pPr>
            <a:r>
              <a:rPr lang="en-GB" sz="1200">
                <a:solidFill>
                  <a:srgbClr val="475569"/>
                </a:solidFill>
                <a:latin typeface="Segoe UI" panose="020B0502040204020203" pitchFamily="34" charset="0"/>
              </a:rPr>
              <a:t>JWT HMAC-SHA256, 120-min expiry, issuer/audience checks</a:t>
            </a:r>
          </a:p>
          <a:p>
            <a:pPr indent="-171450">
              <a:buChar char="•"/>
            </a:pPr>
            <a:r>
              <a:rPr lang="en-GB" sz="1200">
                <a:solidFill>
                  <a:srgbClr val="475569"/>
                </a:solidFill>
                <a:latin typeface="Segoe UI" panose="020B0502040204020203" pitchFamily="34" charset="0"/>
              </a:rPr>
              <a:t>Role claims + [Authorize(Roles=...)] on every endpoint</a:t>
            </a:r>
          </a:p>
          <a:p>
            <a:pPr indent="-171450">
              <a:buChar char="•"/>
            </a:pPr>
            <a:r>
              <a:rPr lang="en-GB" sz="1200">
                <a:solidFill>
                  <a:srgbClr val="475569"/>
                </a:solidFill>
                <a:latin typeface="Segoe UI" panose="020B0502040204020203" pitchFamily="34" charset="0"/>
              </a:rPr>
              <a:t>Reset tokens: SHA-256 stored, single-use, 30-min expiry</a:t>
            </a:r>
          </a:p>
          <a:p>
            <a:pPr indent="-171450">
              <a:buChar char="•"/>
            </a:pPr>
            <a:r>
              <a:rPr lang="en-GB" sz="1200">
                <a:solidFill>
                  <a:srgbClr val="475569"/>
                </a:solidFill>
                <a:latin typeface="Segoe UI" panose="020B0502040204020203" pitchFamily="34" charset="0"/>
              </a:rPr>
              <a:t>Anti-enumeration: generic login / forgot-password replies</a:t>
            </a:r>
          </a:p>
          <a:p>
            <a:pPr indent="-171450">
              <a:buChar char="•"/>
            </a:pPr>
            <a:r>
              <a:rPr lang="en-GB" sz="1200">
                <a:solidFill>
                  <a:srgbClr val="475569"/>
                </a:solidFill>
                <a:latin typeface="Segoe UI" panose="020B0502040204020203" pitchFamily="34" charset="0"/>
              </a:rPr>
              <a:t>Secrets from configuration - never committed to Git</a:t>
            </a:r>
          </a:p>
        </p:txBody>
      </p:sp>
      <p:sp>
        <p:nvSpPr>
          <p:cNvPr id="10" name="Rectangle 9">
            <a:extLst>
              <a:ext uri="{FF2B5EF4-FFF2-40B4-BE49-F238E27FC236}">
                <a16:creationId xmlns:a16="http://schemas.microsoft.com/office/drawing/2014/main" id="{CCBED8DF-B725-148D-6323-867771831585}"/>
              </a:ext>
            </a:extLst>
          </p:cNvPr>
          <p:cNvSpPr/>
          <p:nvPr/>
        </p:nvSpPr>
        <p:spPr>
          <a:xfrm>
            <a:off x="6248400" y="1879600"/>
            <a:ext cx="5334000" cy="4318000"/>
          </a:xfrm>
          <a:prstGeom prst="rect">
            <a:avLst/>
          </a:prstGeom>
          <a:solidFill>
            <a:srgbClr val="FFFFFF"/>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a:extLst>
              <a:ext uri="{FF2B5EF4-FFF2-40B4-BE49-F238E27FC236}">
                <a16:creationId xmlns:a16="http://schemas.microsoft.com/office/drawing/2014/main" id="{CD2B9BCF-33FB-2A10-BD7B-A8BE7ECD9378}"/>
              </a:ext>
            </a:extLst>
          </p:cNvPr>
          <p:cNvSpPr/>
          <p:nvPr/>
        </p:nvSpPr>
        <p:spPr>
          <a:xfrm>
            <a:off x="6248400" y="1879600"/>
            <a:ext cx="5334000" cy="50800"/>
          </a:xfrm>
          <a:prstGeom prst="rect">
            <a:avLst/>
          </a:prstGeom>
          <a:solidFill>
            <a:srgbClr val="15803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Box 11">
            <a:extLst>
              <a:ext uri="{FF2B5EF4-FFF2-40B4-BE49-F238E27FC236}">
                <a16:creationId xmlns:a16="http://schemas.microsoft.com/office/drawing/2014/main" id="{D0B9416E-D7BA-8B41-51EE-D3909B716556}"/>
              </a:ext>
            </a:extLst>
          </p:cNvPr>
          <p:cNvSpPr txBox="1"/>
          <p:nvPr/>
        </p:nvSpPr>
        <p:spPr>
          <a:xfrm>
            <a:off x="6451600" y="2032000"/>
            <a:ext cx="4927600" cy="307777"/>
          </a:xfrm>
          <a:prstGeom prst="rect">
            <a:avLst/>
          </a:prstGeom>
          <a:noFill/>
        </p:spPr>
        <p:txBody>
          <a:bodyPr vert="horz" rtlCol="0">
            <a:spAutoFit/>
          </a:bodyPr>
          <a:lstStyle/>
          <a:p>
            <a:r>
              <a:rPr lang="en-GB" sz="1400" b="1">
                <a:solidFill>
                  <a:srgbClr val="0F172A"/>
                </a:solidFill>
                <a:latin typeface="Segoe UI" panose="020B0502040204020203" pitchFamily="34" charset="0"/>
              </a:rPr>
              <a:t>Validation</a:t>
            </a:r>
          </a:p>
        </p:txBody>
      </p:sp>
      <p:sp>
        <p:nvSpPr>
          <p:cNvPr id="13" name="TextBox 12">
            <a:extLst>
              <a:ext uri="{FF2B5EF4-FFF2-40B4-BE49-F238E27FC236}">
                <a16:creationId xmlns:a16="http://schemas.microsoft.com/office/drawing/2014/main" id="{3510ED73-157C-005D-2B26-0D3F774C5334}"/>
              </a:ext>
            </a:extLst>
          </p:cNvPr>
          <p:cNvSpPr txBox="1"/>
          <p:nvPr/>
        </p:nvSpPr>
        <p:spPr>
          <a:xfrm>
            <a:off x="6451600" y="2413000"/>
            <a:ext cx="4953000" cy="1200329"/>
          </a:xfrm>
          <a:prstGeom prst="rect">
            <a:avLst/>
          </a:prstGeom>
          <a:noFill/>
        </p:spPr>
        <p:txBody>
          <a:bodyPr vert="horz" rtlCol="0">
            <a:spAutoFit/>
          </a:bodyPr>
          <a:lstStyle/>
          <a:p>
            <a:pPr indent="-171450">
              <a:buChar char="•"/>
            </a:pPr>
            <a:r>
              <a:rPr lang="en-GB" sz="1200">
                <a:solidFill>
                  <a:srgbClr val="475569"/>
                </a:solidFill>
                <a:latin typeface="Segoe UI" panose="020B0502040204020203" pitchFamily="34" charset="0"/>
              </a:rPr>
              <a:t>Server: DataAnnotations gate on every request DTO</a:t>
            </a:r>
          </a:p>
          <a:p>
            <a:pPr indent="-171450">
              <a:buChar char="•"/>
            </a:pPr>
            <a:r>
              <a:rPr lang="en-GB" sz="1200">
                <a:solidFill>
                  <a:srgbClr val="475569"/>
                </a:solidFill>
                <a:latin typeface="Segoe UI" panose="020B0502040204020203" pitchFamily="34" charset="0"/>
              </a:rPr>
              <a:t>Server: 1-30 day period, deny reason 3+ chars</a:t>
            </a:r>
          </a:p>
          <a:p>
            <a:pPr indent="-171450">
              <a:buChar char="•"/>
            </a:pPr>
            <a:r>
              <a:rPr lang="en-GB" sz="1200">
                <a:solidFill>
                  <a:srgbClr val="475569"/>
                </a:solidFill>
                <a:latin typeface="Segoe UI" panose="020B0502040204020203" pitchFamily="34" charset="0"/>
              </a:rPr>
              <a:t>Server: unique email = 409 CONFLICT</a:t>
            </a:r>
          </a:p>
          <a:p>
            <a:pPr indent="-171450">
              <a:buChar char="•"/>
            </a:pPr>
            <a:r>
              <a:rPr lang="en-GB" sz="1200">
                <a:solidFill>
                  <a:srgbClr val="475569"/>
                </a:solidFill>
                <a:latin typeface="Segoe UI" panose="020B0502040204020203" pitchFamily="34" charset="0"/>
              </a:rPr>
              <a:t>Client: reactive forms mirror the same rules</a:t>
            </a:r>
          </a:p>
          <a:p>
            <a:pPr indent="-171450">
              <a:buChar char="•"/>
            </a:pPr>
            <a:r>
              <a:rPr lang="en-GB" sz="1200">
                <a:solidFill>
                  <a:srgbClr val="475569"/>
                </a:solidFill>
                <a:latin typeface="Segoe UI" panose="020B0502040204020203" pitchFamily="34" charset="0"/>
              </a:rPr>
              <a:t>Client: normalized AppError = friendly inline messages</a:t>
            </a:r>
          </a:p>
          <a:p>
            <a:pPr indent="-171450">
              <a:buChar char="•"/>
            </a:pPr>
            <a:r>
              <a:rPr lang="en-GB" sz="1200">
                <a:solidFill>
                  <a:srgbClr val="475569"/>
                </a:solidFill>
                <a:latin typeface="Segoe UI" panose="020B0502040204020203" pitchFamily="34" charset="0"/>
              </a:rPr>
              <a:t>Uniform error envelope: code, message, details, traceId</a:t>
            </a:r>
          </a:p>
        </p:txBody>
      </p:sp>
      <p:sp>
        <p:nvSpPr>
          <p:cNvPr id="15" name="TextBox 14">
            <a:extLst>
              <a:ext uri="{FF2B5EF4-FFF2-40B4-BE49-F238E27FC236}">
                <a16:creationId xmlns:a16="http://schemas.microsoft.com/office/drawing/2014/main" id="{8B217C9F-6237-CA14-75E3-C0009315310B}"/>
              </a:ext>
            </a:extLst>
          </p:cNvPr>
          <p:cNvSpPr txBox="1"/>
          <p:nvPr/>
        </p:nvSpPr>
        <p:spPr>
          <a:xfrm>
            <a:off x="10312400" y="6527800"/>
            <a:ext cx="1270000" cy="230832"/>
          </a:xfrm>
          <a:prstGeom prst="rect">
            <a:avLst/>
          </a:prstGeom>
          <a:noFill/>
        </p:spPr>
        <p:txBody>
          <a:bodyPr vert="horz" rtlCol="0">
            <a:spAutoFit/>
          </a:bodyPr>
          <a:lstStyle/>
          <a:p>
            <a:pPr algn="r"/>
            <a:r>
              <a:rPr lang="en-GB" sz="900">
                <a:solidFill>
                  <a:srgbClr val="94A3B8"/>
                </a:solidFill>
                <a:latin typeface="Segoe UI" panose="020B0502040204020203" pitchFamily="34" charset="0"/>
              </a:rPr>
              <a:t>19 / 20</a:t>
            </a:r>
          </a:p>
        </p:txBody>
      </p:sp>
    </p:spTree>
    <p:extLst>
      <p:ext uri="{BB962C8B-B14F-4D97-AF65-F5344CB8AC3E}">
        <p14:creationId xmlns:p14="http://schemas.microsoft.com/office/powerpoint/2010/main" val="1653665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1F68AC1-590F-60F7-08C9-683135745548}"/>
              </a:ext>
            </a:extLst>
          </p:cNvPr>
          <p:cNvSpPr/>
          <p:nvPr/>
        </p:nvSpPr>
        <p:spPr>
          <a:xfrm>
            <a:off x="609600" y="584200"/>
            <a:ext cx="88900" cy="635000"/>
          </a:xfrm>
          <a:prstGeom prst="rect">
            <a:avLst/>
          </a:prstGeom>
          <a:solidFill>
            <a:srgbClr val="4F46E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extBox 2">
            <a:extLst>
              <a:ext uri="{FF2B5EF4-FFF2-40B4-BE49-F238E27FC236}">
                <a16:creationId xmlns:a16="http://schemas.microsoft.com/office/drawing/2014/main" id="{12847B87-1E54-47D1-9D50-DC6B4F3FAA58}"/>
              </a:ext>
            </a:extLst>
          </p:cNvPr>
          <p:cNvSpPr txBox="1"/>
          <p:nvPr/>
        </p:nvSpPr>
        <p:spPr>
          <a:xfrm>
            <a:off x="863600" y="558800"/>
            <a:ext cx="9652000" cy="261610"/>
          </a:xfrm>
          <a:prstGeom prst="rect">
            <a:avLst/>
          </a:prstGeom>
          <a:noFill/>
        </p:spPr>
        <p:txBody>
          <a:bodyPr vert="horz" rtlCol="0">
            <a:spAutoFit/>
          </a:bodyPr>
          <a:lstStyle/>
          <a:p>
            <a:r>
              <a:rPr lang="en-GB" sz="1100" b="1">
                <a:solidFill>
                  <a:srgbClr val="4F46E5"/>
                </a:solidFill>
                <a:latin typeface="Segoe UI" panose="020B0502040204020203" pitchFamily="34" charset="0"/>
              </a:rPr>
              <a:t>CLOSING</a:t>
            </a:r>
          </a:p>
        </p:txBody>
      </p:sp>
      <p:sp>
        <p:nvSpPr>
          <p:cNvPr id="4" name="TextBox 3">
            <a:extLst>
              <a:ext uri="{FF2B5EF4-FFF2-40B4-BE49-F238E27FC236}">
                <a16:creationId xmlns:a16="http://schemas.microsoft.com/office/drawing/2014/main" id="{860D4E3D-4783-45BD-074A-0B00CF68953C}"/>
              </a:ext>
            </a:extLst>
          </p:cNvPr>
          <p:cNvSpPr txBox="1"/>
          <p:nvPr/>
        </p:nvSpPr>
        <p:spPr>
          <a:xfrm>
            <a:off x="863600" y="800100"/>
            <a:ext cx="10414000" cy="507831"/>
          </a:xfrm>
          <a:prstGeom prst="rect">
            <a:avLst/>
          </a:prstGeom>
          <a:noFill/>
        </p:spPr>
        <p:txBody>
          <a:bodyPr vert="horz" rtlCol="0">
            <a:spAutoFit/>
          </a:bodyPr>
          <a:lstStyle/>
          <a:p>
            <a:r>
              <a:rPr lang="en-GB" sz="2700" b="1">
                <a:solidFill>
                  <a:srgbClr val="0F172A"/>
                </a:solidFill>
                <a:latin typeface="Segoe UI" panose="020B0502040204020203" pitchFamily="34" charset="0"/>
              </a:rPr>
              <a:t>Testing, Future Work &amp; Conclusion</a:t>
            </a:r>
          </a:p>
        </p:txBody>
      </p:sp>
      <p:sp>
        <p:nvSpPr>
          <p:cNvPr id="5" name="Rectangle 4">
            <a:extLst>
              <a:ext uri="{FF2B5EF4-FFF2-40B4-BE49-F238E27FC236}">
                <a16:creationId xmlns:a16="http://schemas.microsoft.com/office/drawing/2014/main" id="{00089198-3E80-35F9-C442-C69B58ADD794}"/>
              </a:ext>
            </a:extLst>
          </p:cNvPr>
          <p:cNvSpPr/>
          <p:nvPr/>
        </p:nvSpPr>
        <p:spPr>
          <a:xfrm>
            <a:off x="609600" y="1549400"/>
            <a:ext cx="10972800" cy="19050"/>
          </a:xfrm>
          <a:prstGeom prst="rect">
            <a:avLst/>
          </a:prstGeom>
          <a:solidFill>
            <a:srgbClr val="E2E8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51973C84-8E81-F0DD-4283-953DECF684D1}"/>
              </a:ext>
            </a:extLst>
          </p:cNvPr>
          <p:cNvSpPr/>
          <p:nvPr/>
        </p:nvSpPr>
        <p:spPr>
          <a:xfrm>
            <a:off x="609600" y="1879600"/>
            <a:ext cx="3505200" cy="3886200"/>
          </a:xfrm>
          <a:prstGeom prst="rect">
            <a:avLst/>
          </a:prstGeom>
          <a:solidFill>
            <a:srgbClr val="FFFFFF"/>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EEB6EE4D-358C-3714-89EA-FB9256E724E4}"/>
              </a:ext>
            </a:extLst>
          </p:cNvPr>
          <p:cNvSpPr/>
          <p:nvPr/>
        </p:nvSpPr>
        <p:spPr>
          <a:xfrm>
            <a:off x="609600" y="1879600"/>
            <a:ext cx="3505200" cy="50800"/>
          </a:xfrm>
          <a:prstGeom prst="rect">
            <a:avLst/>
          </a:prstGeom>
          <a:solidFill>
            <a:srgbClr val="4F46E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Box 7">
            <a:extLst>
              <a:ext uri="{FF2B5EF4-FFF2-40B4-BE49-F238E27FC236}">
                <a16:creationId xmlns:a16="http://schemas.microsoft.com/office/drawing/2014/main" id="{002504A3-BC0C-1A63-5282-8CB15ED9679D}"/>
              </a:ext>
            </a:extLst>
          </p:cNvPr>
          <p:cNvSpPr txBox="1"/>
          <p:nvPr/>
        </p:nvSpPr>
        <p:spPr>
          <a:xfrm>
            <a:off x="812800" y="2032000"/>
            <a:ext cx="3098800" cy="307777"/>
          </a:xfrm>
          <a:prstGeom prst="rect">
            <a:avLst/>
          </a:prstGeom>
          <a:noFill/>
        </p:spPr>
        <p:txBody>
          <a:bodyPr vert="horz" rtlCol="0">
            <a:spAutoFit/>
          </a:bodyPr>
          <a:lstStyle/>
          <a:p>
            <a:r>
              <a:rPr lang="en-GB" sz="1400" b="1">
                <a:solidFill>
                  <a:srgbClr val="0F172A"/>
                </a:solidFill>
                <a:latin typeface="Segoe UI" panose="020B0502040204020203" pitchFamily="34" charset="0"/>
              </a:rPr>
              <a:t>Testing</a:t>
            </a:r>
          </a:p>
        </p:txBody>
      </p:sp>
      <p:sp>
        <p:nvSpPr>
          <p:cNvPr id="9" name="TextBox 8">
            <a:extLst>
              <a:ext uri="{FF2B5EF4-FFF2-40B4-BE49-F238E27FC236}">
                <a16:creationId xmlns:a16="http://schemas.microsoft.com/office/drawing/2014/main" id="{943261E8-D463-E5B1-262E-A31E1E620DCD}"/>
              </a:ext>
            </a:extLst>
          </p:cNvPr>
          <p:cNvSpPr txBox="1"/>
          <p:nvPr/>
        </p:nvSpPr>
        <p:spPr>
          <a:xfrm>
            <a:off x="812800" y="2413000"/>
            <a:ext cx="3124200" cy="1154162"/>
          </a:xfrm>
          <a:prstGeom prst="rect">
            <a:avLst/>
          </a:prstGeom>
          <a:noFill/>
        </p:spPr>
        <p:txBody>
          <a:bodyPr vert="horz" rtlCol="0">
            <a:spAutoFit/>
          </a:bodyPr>
          <a:lstStyle/>
          <a:p>
            <a:pPr indent="-171450">
              <a:buChar char="•"/>
            </a:pPr>
            <a:r>
              <a:rPr lang="en-US" sz="1150">
                <a:solidFill>
                  <a:srgbClr val="475569"/>
                </a:solidFill>
                <a:latin typeface="Segoe UI" panose="020B0502040204020203" pitchFamily="34" charset="0"/>
              </a:rPr>
              <a:t>Backend unit tests (MSTest + Moq):</a:t>
            </a:r>
          </a:p>
          <a:p>
            <a:pPr indent="-171450">
              <a:buChar char="•"/>
            </a:pPr>
            <a:r>
              <a:rPr lang="en-US" sz="1150">
                <a:solidFill>
                  <a:srgbClr val="475569"/>
                </a:solidFill>
                <a:latin typeface="Segoe UI" panose="020B0502040204020203" pitchFamily="34" charset="0"/>
              </a:rPr>
              <a:t>BorrowingService create rules</a:t>
            </a:r>
          </a:p>
          <a:p>
            <a:pPr indent="-171450">
              <a:buChar char="•"/>
            </a:pPr>
            <a:r>
              <a:rPr lang="en-US" sz="1150">
                <a:solidFill>
                  <a:srgbClr val="475569"/>
                </a:solidFill>
                <a:latin typeface="Segoe UI" panose="020B0502040204020203" pitchFamily="34" charset="0"/>
              </a:rPr>
              <a:t>BorrowingService approve/deny</a:t>
            </a:r>
          </a:p>
          <a:p>
            <a:pPr indent="-171450">
              <a:buChar char="•"/>
            </a:pPr>
            <a:r>
              <a:rPr lang="en-US" sz="1150">
                <a:solidFill>
                  <a:srgbClr val="475569"/>
                </a:solidFill>
                <a:latin typeface="Segoe UI" panose="020B0502040204020203" pitchFamily="34" charset="0"/>
              </a:rPr>
              <a:t>NotificationService behavior</a:t>
            </a:r>
          </a:p>
          <a:p>
            <a:pPr indent="-171450">
              <a:buChar char="•"/>
            </a:pPr>
            <a:r>
              <a:rPr lang="en-US" sz="1150">
                <a:solidFill>
                  <a:srgbClr val="475569"/>
                </a:solidFill>
                <a:latin typeface="Segoe UI" panose="020B0502040204020203" pitchFamily="34" charset="0"/>
              </a:rPr>
              <a:t>Frontend: Vitest component tests</a:t>
            </a:r>
          </a:p>
          <a:p>
            <a:pPr indent="-171450">
              <a:buChar char="•"/>
            </a:pPr>
            <a:r>
              <a:rPr lang="en-US" sz="1150">
                <a:solidFill>
                  <a:srgbClr val="475569"/>
                </a:solidFill>
                <a:latin typeface="Segoe UI" panose="020B0502040204020203" pitchFamily="34" charset="0"/>
              </a:rPr>
              <a:t>Flows verified end-to-end in a browser</a:t>
            </a:r>
            <a:endParaRPr lang="en-GB" sz="1150">
              <a:solidFill>
                <a:srgbClr val="475569"/>
              </a:solidFill>
              <a:latin typeface="Segoe UI" panose="020B0502040204020203" pitchFamily="34" charset="0"/>
            </a:endParaRPr>
          </a:p>
        </p:txBody>
      </p:sp>
      <p:sp>
        <p:nvSpPr>
          <p:cNvPr id="10" name="Rectangle 9">
            <a:extLst>
              <a:ext uri="{FF2B5EF4-FFF2-40B4-BE49-F238E27FC236}">
                <a16:creationId xmlns:a16="http://schemas.microsoft.com/office/drawing/2014/main" id="{B5642B22-41A9-C46D-3358-9D8B00DF94A0}"/>
              </a:ext>
            </a:extLst>
          </p:cNvPr>
          <p:cNvSpPr/>
          <p:nvPr/>
        </p:nvSpPr>
        <p:spPr>
          <a:xfrm>
            <a:off x="4267200" y="1879600"/>
            <a:ext cx="3505200" cy="3886200"/>
          </a:xfrm>
          <a:prstGeom prst="rect">
            <a:avLst/>
          </a:prstGeom>
          <a:solidFill>
            <a:srgbClr val="FFFFFF"/>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a:extLst>
              <a:ext uri="{FF2B5EF4-FFF2-40B4-BE49-F238E27FC236}">
                <a16:creationId xmlns:a16="http://schemas.microsoft.com/office/drawing/2014/main" id="{A8870879-B5C8-505D-A6B2-ED23E51C9A5A}"/>
              </a:ext>
            </a:extLst>
          </p:cNvPr>
          <p:cNvSpPr/>
          <p:nvPr/>
        </p:nvSpPr>
        <p:spPr>
          <a:xfrm>
            <a:off x="4267200" y="1879600"/>
            <a:ext cx="3505200" cy="50800"/>
          </a:xfrm>
          <a:prstGeom prst="rect">
            <a:avLst/>
          </a:prstGeom>
          <a:solidFill>
            <a:srgbClr val="B4530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Box 11">
            <a:extLst>
              <a:ext uri="{FF2B5EF4-FFF2-40B4-BE49-F238E27FC236}">
                <a16:creationId xmlns:a16="http://schemas.microsoft.com/office/drawing/2014/main" id="{83C88379-8D82-91B8-85DF-1B0965604B34}"/>
              </a:ext>
            </a:extLst>
          </p:cNvPr>
          <p:cNvSpPr txBox="1"/>
          <p:nvPr/>
        </p:nvSpPr>
        <p:spPr>
          <a:xfrm>
            <a:off x="4470400" y="2032000"/>
            <a:ext cx="3098800" cy="307777"/>
          </a:xfrm>
          <a:prstGeom prst="rect">
            <a:avLst/>
          </a:prstGeom>
          <a:noFill/>
        </p:spPr>
        <p:txBody>
          <a:bodyPr vert="horz" rtlCol="0">
            <a:spAutoFit/>
          </a:bodyPr>
          <a:lstStyle/>
          <a:p>
            <a:r>
              <a:rPr lang="en-GB" sz="1400" b="1">
                <a:solidFill>
                  <a:srgbClr val="0F172A"/>
                </a:solidFill>
                <a:latin typeface="Segoe UI" panose="020B0502040204020203" pitchFamily="34" charset="0"/>
              </a:rPr>
              <a:t>Future work</a:t>
            </a:r>
          </a:p>
        </p:txBody>
      </p:sp>
      <p:sp>
        <p:nvSpPr>
          <p:cNvPr id="13" name="TextBox 12">
            <a:extLst>
              <a:ext uri="{FF2B5EF4-FFF2-40B4-BE49-F238E27FC236}">
                <a16:creationId xmlns:a16="http://schemas.microsoft.com/office/drawing/2014/main" id="{CCC6A013-1DF5-5F62-A41D-0EFA24EE5BD9}"/>
              </a:ext>
            </a:extLst>
          </p:cNvPr>
          <p:cNvSpPr txBox="1"/>
          <p:nvPr/>
        </p:nvSpPr>
        <p:spPr>
          <a:xfrm>
            <a:off x="4470400" y="2413000"/>
            <a:ext cx="3124200" cy="1154162"/>
          </a:xfrm>
          <a:prstGeom prst="rect">
            <a:avLst/>
          </a:prstGeom>
          <a:noFill/>
        </p:spPr>
        <p:txBody>
          <a:bodyPr vert="horz" rtlCol="0">
            <a:spAutoFit/>
          </a:bodyPr>
          <a:lstStyle/>
          <a:p>
            <a:pPr indent="-171450">
              <a:buChar char="•"/>
            </a:pPr>
            <a:r>
              <a:rPr lang="en-US" sz="1150">
                <a:solidFill>
                  <a:srgbClr val="475569"/>
                </a:solidFill>
                <a:latin typeface="Segoe UI" panose="020B0502040204020203" pitchFamily="34" charset="0"/>
              </a:rPr>
              <a:t>Admin CRUD for books</a:t>
            </a:r>
          </a:p>
          <a:p>
            <a:pPr indent="-171450">
              <a:buChar char="•"/>
            </a:pPr>
            <a:r>
              <a:rPr lang="en-US" sz="1150">
                <a:solidFill>
                  <a:srgbClr val="475569"/>
                </a:solidFill>
                <a:latin typeface="Segoe UI" panose="020B0502040204020203" pitchFamily="34" charset="0"/>
              </a:rPr>
              <a:t>Refresh tokens / sliding sessions</a:t>
            </a:r>
          </a:p>
          <a:p>
            <a:pPr indent="-171450">
              <a:buChar char="•"/>
            </a:pPr>
            <a:r>
              <a:rPr lang="en-US" sz="1150">
                <a:solidFill>
                  <a:srgbClr val="475569"/>
                </a:solidFill>
                <a:latin typeface="Segoe UI" panose="020B0502040204020203" pitchFamily="34" charset="0"/>
              </a:rPr>
              <a:t>Dedicated return-workflow endpoint</a:t>
            </a:r>
          </a:p>
          <a:p>
            <a:pPr indent="-171450">
              <a:buChar char="•"/>
            </a:pPr>
            <a:r>
              <a:rPr lang="en-US" sz="1150">
                <a:solidFill>
                  <a:srgbClr val="475569"/>
                </a:solidFill>
                <a:latin typeface="Segoe UI" panose="020B0502040204020203" pitchFamily="34" charset="0"/>
              </a:rPr>
              <a:t>Email notifications for all events</a:t>
            </a:r>
          </a:p>
          <a:p>
            <a:pPr indent="-171450">
              <a:buChar char="•"/>
            </a:pPr>
            <a:r>
              <a:rPr lang="en-US" sz="1150">
                <a:solidFill>
                  <a:srgbClr val="475569"/>
                </a:solidFill>
                <a:latin typeface="Segoe UI" panose="020B0502040204020203" pitchFamily="34" charset="0"/>
              </a:rPr>
              <a:t>Playwright E2E suite</a:t>
            </a:r>
          </a:p>
          <a:p>
            <a:pPr indent="-171450">
              <a:buChar char="•"/>
            </a:pPr>
            <a:r>
              <a:rPr lang="en-US" sz="1150">
                <a:solidFill>
                  <a:srgbClr val="475569"/>
                </a:solidFill>
                <a:latin typeface="Segoe UI" panose="020B0502040204020203" pitchFamily="34" charset="0"/>
              </a:rPr>
              <a:t>Docker Compose for the full stack</a:t>
            </a:r>
            <a:endParaRPr lang="en-GB" sz="1150">
              <a:solidFill>
                <a:srgbClr val="475569"/>
              </a:solidFill>
              <a:latin typeface="Segoe UI" panose="020B0502040204020203" pitchFamily="34" charset="0"/>
            </a:endParaRPr>
          </a:p>
        </p:txBody>
      </p:sp>
      <p:sp>
        <p:nvSpPr>
          <p:cNvPr id="14" name="Rectangle 13">
            <a:extLst>
              <a:ext uri="{FF2B5EF4-FFF2-40B4-BE49-F238E27FC236}">
                <a16:creationId xmlns:a16="http://schemas.microsoft.com/office/drawing/2014/main" id="{F11FC5B6-17CC-C00D-530E-2656AD582D6B}"/>
              </a:ext>
            </a:extLst>
          </p:cNvPr>
          <p:cNvSpPr/>
          <p:nvPr/>
        </p:nvSpPr>
        <p:spPr>
          <a:xfrm>
            <a:off x="7924800" y="1879600"/>
            <a:ext cx="3657600" cy="3886200"/>
          </a:xfrm>
          <a:prstGeom prst="rect">
            <a:avLst/>
          </a:prstGeom>
          <a:solidFill>
            <a:srgbClr val="4F46E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TextBox 14">
            <a:extLst>
              <a:ext uri="{FF2B5EF4-FFF2-40B4-BE49-F238E27FC236}">
                <a16:creationId xmlns:a16="http://schemas.microsoft.com/office/drawing/2014/main" id="{3689B5FD-852C-EE14-DEEA-961909B2E4A2}"/>
              </a:ext>
            </a:extLst>
          </p:cNvPr>
          <p:cNvSpPr txBox="1"/>
          <p:nvPr/>
        </p:nvSpPr>
        <p:spPr>
          <a:xfrm>
            <a:off x="8178800" y="2133600"/>
            <a:ext cx="3149600" cy="338554"/>
          </a:xfrm>
          <a:prstGeom prst="rect">
            <a:avLst/>
          </a:prstGeom>
          <a:noFill/>
        </p:spPr>
        <p:txBody>
          <a:bodyPr vert="horz" rtlCol="0">
            <a:spAutoFit/>
          </a:bodyPr>
          <a:lstStyle/>
          <a:p>
            <a:r>
              <a:rPr lang="en-GB" sz="1600" b="1">
                <a:solidFill>
                  <a:srgbClr val="FFFFFF"/>
                </a:solidFill>
                <a:latin typeface="Segoe UI" panose="020B0502040204020203" pitchFamily="34" charset="0"/>
              </a:rPr>
              <a:t>Conclusion</a:t>
            </a:r>
          </a:p>
        </p:txBody>
      </p:sp>
      <p:sp>
        <p:nvSpPr>
          <p:cNvPr id="16" name="TextBox 15">
            <a:extLst>
              <a:ext uri="{FF2B5EF4-FFF2-40B4-BE49-F238E27FC236}">
                <a16:creationId xmlns:a16="http://schemas.microsoft.com/office/drawing/2014/main" id="{BC9A46CD-F1A1-6D23-3F8E-E6DD2B657F82}"/>
              </a:ext>
            </a:extLst>
          </p:cNvPr>
          <p:cNvSpPr txBox="1"/>
          <p:nvPr/>
        </p:nvSpPr>
        <p:spPr>
          <a:xfrm>
            <a:off x="8178800" y="2667000"/>
            <a:ext cx="3149600" cy="1384995"/>
          </a:xfrm>
          <a:prstGeom prst="rect">
            <a:avLst/>
          </a:prstGeom>
          <a:noFill/>
        </p:spPr>
        <p:txBody>
          <a:bodyPr vert="horz" rtlCol="0">
            <a:spAutoFit/>
          </a:bodyPr>
          <a:lstStyle/>
          <a:p>
            <a:r>
              <a:rPr lang="en-US" sz="1200">
                <a:solidFill>
                  <a:srgbClr val="E0E7FF"/>
                </a:solidFill>
                <a:latin typeface="Segoe UI" panose="020B0502040204020203" pitchFamily="34" charset="0"/>
              </a:rPr>
              <a:t>A production-style, contract-driven system: layered .NET API, modern Angular SPA, asynchronous messaging, real-time notifications and hardened security - all verified working end-to-end.
Thank you - questions welcome!</a:t>
            </a:r>
            <a:endParaRPr lang="en-GB" sz="1200">
              <a:solidFill>
                <a:srgbClr val="E0E7FF"/>
              </a:solidFill>
              <a:latin typeface="Segoe UI" panose="020B0502040204020203" pitchFamily="34" charset="0"/>
            </a:endParaRPr>
          </a:p>
        </p:txBody>
      </p:sp>
      <p:sp>
        <p:nvSpPr>
          <p:cNvPr id="18" name="TextBox 17">
            <a:extLst>
              <a:ext uri="{FF2B5EF4-FFF2-40B4-BE49-F238E27FC236}">
                <a16:creationId xmlns:a16="http://schemas.microsoft.com/office/drawing/2014/main" id="{D855C1AE-0391-C737-016E-5A217A4A9850}"/>
              </a:ext>
            </a:extLst>
          </p:cNvPr>
          <p:cNvSpPr txBox="1"/>
          <p:nvPr/>
        </p:nvSpPr>
        <p:spPr>
          <a:xfrm>
            <a:off x="10312400" y="6527800"/>
            <a:ext cx="1270000" cy="230832"/>
          </a:xfrm>
          <a:prstGeom prst="rect">
            <a:avLst/>
          </a:prstGeom>
          <a:noFill/>
        </p:spPr>
        <p:txBody>
          <a:bodyPr vert="horz" rtlCol="0">
            <a:spAutoFit/>
          </a:bodyPr>
          <a:lstStyle/>
          <a:p>
            <a:pPr algn="r"/>
            <a:r>
              <a:rPr lang="en-GB" sz="900">
                <a:solidFill>
                  <a:srgbClr val="94A3B8"/>
                </a:solidFill>
                <a:latin typeface="Segoe UI" panose="020B0502040204020203" pitchFamily="34" charset="0"/>
              </a:rPr>
              <a:t>20 / 20</a:t>
            </a:r>
          </a:p>
        </p:txBody>
      </p:sp>
    </p:spTree>
    <p:extLst>
      <p:ext uri="{BB962C8B-B14F-4D97-AF65-F5344CB8AC3E}">
        <p14:creationId xmlns:p14="http://schemas.microsoft.com/office/powerpoint/2010/main" val="103336106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142</TotalTime>
  <Words>2666</Words>
  <Application>Microsoft Office PowerPoint</Application>
  <PresentationFormat>Widescreen</PresentationFormat>
  <Paragraphs>270</Paragraphs>
  <Slides>20</Slides>
  <Notes>20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Aptos</vt:lpstr>
      <vt:lpstr>Aptos Display</vt:lpstr>
      <vt:lpstr>Arial</vt:lpstr>
      <vt:lpstr>Consolas</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Karim Amr</dc:creator>
  <cp:lastModifiedBy>Karim Amr</cp:lastModifiedBy>
  <cp:revision>9</cp:revision>
  <dcterms:created xsi:type="dcterms:W3CDTF">2026-08-31T08:09:07Z</dcterms:created>
  <dcterms:modified xsi:type="dcterms:W3CDTF">2026-08-31T11:14:50Z</dcterms:modified>
</cp:coreProperties>
</file>